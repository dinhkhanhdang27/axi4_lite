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10"/>
  </p:normalViewPr>
  <p:slideViewPr>
    <p:cSldViewPr snapToGrid="0" snapToObjects="1">
      <p:cViewPr>
        <p:scale>
          <a:sx n="73" d="100"/>
          <a:sy n="73" d="100"/>
        </p:scale>
        <p:origin x="332" y="-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135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V4d3BxkaQVnDD1xcuyKgPHmK/aaf26c3248f94b2bb107d2d639d3b92f/mnt/data/uit_unzip/ppt/media/image2.png"/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9052560" y="914400"/>
            <a:ext cx="2057400" cy="1298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96012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AXI4-LITE INTRODUCTION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768096" y="16276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simple control interface in Arm’s AMBA 4 family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68096" y="3799768"/>
            <a:ext cx="695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362455" y="3772336"/>
            <a:ext cx="25306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Origin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191255" y="3772336"/>
            <a:ext cx="65797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of the AMBA specifications developed and published by Arm.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68096" y="4476424"/>
            <a:ext cx="695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362455" y="4448992"/>
            <a:ext cx="25306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Release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191255" y="4448992"/>
            <a:ext cx="65797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AXI4-Lite appeared in AMBA 4 Phase One, announced in March 2010.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68096" y="5153080"/>
            <a:ext cx="695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362455" y="5125648"/>
            <a:ext cx="25306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Purpose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191255" y="5125648"/>
            <a:ext cx="65797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Connects a CPU/host to control and status registers inside an IP block.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658368" y="6291072"/>
            <a:ext cx="1088136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 July 2026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Copyrights 2026 UIT. All Rights Reserved.</a:t>
            </a:r>
            <a:endParaRPr lang="en-US" sz="800" dirty="0"/>
          </a:p>
        </p:txBody>
      </p:sp>
      <p:sp>
        <p:nvSpPr>
          <p:cNvPr id="19" name="TextBox 18"/>
          <p:cNvSpPr txBox="1"/>
          <p:nvPr/>
        </p:nvSpPr>
        <p:spPr>
          <a:xfrm>
            <a:off x="658368" y="2075687"/>
            <a:ext cx="5937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/>
              <a:t>Repared by: Phạm Chí Đạt – Đinh Khánh Đăng</a:t>
            </a:r>
            <a:endParaRPr lang="en-US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V4d3BxkaQVnDD1xcuyKgPHmK/aaf26c3248f94b2bb107d2d639d3b92f/mnt/data/uit_unzip/ppt/media/image2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972800" y="512064"/>
            <a:ext cx="457200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56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AXI4-Lite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0104120" y="2560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2/11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685800"/>
            <a:ext cx="93726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AMBA to AXI4-Lite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6291072"/>
            <a:ext cx="1088136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1920240"/>
            <a:ext cx="411480" cy="411480"/>
          </a:xfrm>
          <a:prstGeom prst="ellipse">
            <a:avLst/>
          </a:prstGeom>
          <a:solidFill>
            <a:srgbClr val="245AA5"/>
          </a:solidFill>
          <a:ln w="12700">
            <a:solidFill>
              <a:srgbClr val="245AA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71600" y="2125980"/>
            <a:ext cx="1993392" cy="0"/>
          </a:xfrm>
          <a:prstGeom prst="line">
            <a:avLst/>
          </a:prstGeom>
          <a:noFill/>
          <a:ln w="15240">
            <a:solidFill>
              <a:srgbClr val="245A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AMBA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94360" y="2971800"/>
            <a:ext cx="205740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Advanced Microcontroller Bus Architecture: a family of on-chip SoC interface protocols.</a:t>
            </a:r>
            <a:endParaRPr lang="en-US" sz="1280" dirty="0"/>
          </a:p>
        </p:txBody>
      </p:sp>
      <p:sp>
        <p:nvSpPr>
          <p:cNvPr id="14" name="Shape 11"/>
          <p:cNvSpPr/>
          <p:nvPr/>
        </p:nvSpPr>
        <p:spPr>
          <a:xfrm>
            <a:off x="3520440" y="1920240"/>
            <a:ext cx="411480" cy="411480"/>
          </a:xfrm>
          <a:prstGeom prst="ellipse">
            <a:avLst/>
          </a:prstGeom>
          <a:solidFill>
            <a:srgbClr val="245AA5"/>
          </a:solidFill>
          <a:ln w="12700">
            <a:solidFill>
              <a:srgbClr val="245AA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23360" y="2125980"/>
            <a:ext cx="1993392" cy="0"/>
          </a:xfrm>
          <a:prstGeom prst="line">
            <a:avLst/>
          </a:prstGeom>
          <a:noFill/>
          <a:ln w="15240">
            <a:solidFill>
              <a:srgbClr val="245AA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91840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246120" y="2971800"/>
            <a:ext cx="205740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AMBA 3 introduced AXI, later commonly referred to as AXI3.</a:t>
            </a:r>
            <a:endParaRPr lang="en-US" sz="1280" dirty="0"/>
          </a:p>
        </p:txBody>
      </p:sp>
      <p:sp>
        <p:nvSpPr>
          <p:cNvPr id="18" name="Shape 15"/>
          <p:cNvSpPr/>
          <p:nvPr/>
        </p:nvSpPr>
        <p:spPr>
          <a:xfrm>
            <a:off x="6172200" y="1920240"/>
            <a:ext cx="411480" cy="411480"/>
          </a:xfrm>
          <a:prstGeom prst="ellipse">
            <a:avLst/>
          </a:prstGeom>
          <a:solidFill>
            <a:srgbClr val="245AA5"/>
          </a:solidFill>
          <a:ln w="12700">
            <a:solidFill>
              <a:srgbClr val="245AA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75120" y="2125980"/>
            <a:ext cx="1993392" cy="0"/>
          </a:xfrm>
          <a:prstGeom prst="line">
            <a:avLst/>
          </a:prstGeom>
          <a:noFill/>
          <a:ln w="15240">
            <a:solidFill>
              <a:srgbClr val="245AA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 2010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897880" y="2971800"/>
            <a:ext cx="205740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Arm announced AMBA 4 Phase One, including AXI4, AXI4-Lite, and AXI4-Stream.</a:t>
            </a:r>
            <a:endParaRPr lang="en-US" sz="1280" dirty="0"/>
          </a:p>
        </p:txBody>
      </p:sp>
      <p:sp>
        <p:nvSpPr>
          <p:cNvPr id="22" name="Shape 19"/>
          <p:cNvSpPr/>
          <p:nvPr/>
        </p:nvSpPr>
        <p:spPr>
          <a:xfrm>
            <a:off x="8823960" y="1920240"/>
            <a:ext cx="411480" cy="411480"/>
          </a:xfrm>
          <a:prstGeom prst="ellipse">
            <a:avLst/>
          </a:prstGeom>
          <a:solidFill>
            <a:srgbClr val="245AA5"/>
          </a:solidFill>
          <a:ln w="12700">
            <a:solidFill>
              <a:srgbClr val="245AA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95360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AXI4-Lite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549640" y="2971800"/>
            <a:ext cx="205740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lightweight AXI4 branch for control registers, reducing protocol and wiring complexity.</a:t>
            </a:r>
            <a:endParaRPr lang="en-US" sz="1280" dirty="0"/>
          </a:p>
        </p:txBody>
      </p:sp>
      <p:sp>
        <p:nvSpPr>
          <p:cNvPr id="25" name="Text 22"/>
          <p:cNvSpPr/>
          <p:nvPr/>
        </p:nvSpPr>
        <p:spPr>
          <a:xfrm>
            <a:off x="960120" y="4736592"/>
            <a:ext cx="93268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53E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idea: AXI4-Lite is not a high-throughput data bus. It is the standard “control path” used by software to configure IP, read status, and control operation.</a:t>
            </a:r>
            <a:endParaRPr lang="en-US" sz="1550" dirty="0"/>
          </a:p>
        </p:txBody>
      </p:sp>
      <p:sp>
        <p:nvSpPr>
          <p:cNvPr id="26" name="Text 14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 July 2026</a:t>
            </a:r>
            <a:endParaRPr lang="en-US" sz="800" dirty="0"/>
          </a:p>
        </p:txBody>
      </p:sp>
      <p:sp>
        <p:nvSpPr>
          <p:cNvPr id="27" name="Text 15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Copyrights 2026 UIT. All Rights Reserved.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V4d3BxkaQVnDD1xcuyKgPHmK/aaf26c3248f94b2bb107d2d639d3b92f/mnt/data/uit_unzip/ppt/media/image2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972800" y="512064"/>
            <a:ext cx="457200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56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AXI4-Lite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0104120" y="2560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3/11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685800"/>
            <a:ext cx="93726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AXI4-Lite?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6291072"/>
            <a:ext cx="1088136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Simple definition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7240" y="1828800"/>
            <a:ext cx="512064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1B1B1B"/>
                </a:solidFill>
                <a:ea typeface="Times New Roman" pitchFamily="34" charset="-122"/>
                <a:cs typeface="Times New Roman" pitchFamily="34" charset="-120"/>
              </a:rPr>
              <a:t>• Memory-mapped protocol: the CPU accesses an IP block through register addresses.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1B1B1B"/>
                </a:solidFill>
                <a:ea typeface="Times New Roman" pitchFamily="34" charset="-122"/>
                <a:cs typeface="Times New Roman" pitchFamily="34" charset="-120"/>
              </a:rPr>
              <a:t>• Each transaction transfers one data beat; long bursts are not used.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1B1B1B"/>
                </a:solidFill>
                <a:ea typeface="Times New Roman" pitchFamily="34" charset="-122"/>
                <a:cs typeface="Times New Roman" pitchFamily="34" charset="-120"/>
              </a:rPr>
              <a:t>• Data is commonly 32-bit or 64-bit; WSTRB selects active write bytes.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1B1B1B"/>
                </a:solidFill>
                <a:ea typeface="Times New Roman" pitchFamily="34" charset="-122"/>
                <a:cs typeface="Times New Roman" pitchFamily="34" charset="-120"/>
              </a:rPr>
              <a:t>• Best for CONTROL, STATUS, DATA, IRQ, and configuration registers.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58368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 register map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583680" y="1828800"/>
            <a:ext cx="4206240" cy="310896"/>
          </a:xfrm>
          <a:prstGeom prst="rect">
            <a:avLst/>
          </a:prstGeom>
          <a:solidFill>
            <a:srgbClr val="F7FAFE"/>
          </a:solidFill>
          <a:ln>
            <a:solidFill>
              <a:srgbClr val="D7E3F3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0x00   CONTROL   start, reset, enable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583680" y="2249424"/>
            <a:ext cx="42062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E3F3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0x04   STATUS   done, busy, error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583680" y="2670048"/>
            <a:ext cx="4206240" cy="310896"/>
          </a:xfrm>
          <a:prstGeom prst="rect">
            <a:avLst/>
          </a:prstGeom>
          <a:solidFill>
            <a:srgbClr val="F7FAFE"/>
          </a:solidFill>
          <a:ln>
            <a:solidFill>
              <a:srgbClr val="D7E3F3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0x08   DATA_IN   input word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583680" y="3090672"/>
            <a:ext cx="42062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7E3F3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0x0C   DATA_OUT   output word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 July 2026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Copyrights 2026 UIT. All Rights Reserved.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V4d3BxkaQVnDD1xcuyKgPHmK/aaf26c3248f94b2bb107d2d639d3b92f/mnt/data/uit_unzip/ppt/media/image2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972800" y="512064"/>
            <a:ext cx="457200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56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AXI4-Lite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0104120" y="2560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4/11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685800"/>
            <a:ext cx="93726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should you use it?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6291072"/>
            <a:ext cx="1088136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65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AXI4-Lite for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8680" y="1874520"/>
            <a:ext cx="484632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1B1B1B"/>
                </a:solidFill>
                <a:ea typeface="Times New Roman" pitchFamily="34" charset="-122"/>
                <a:cs typeface="Times New Roman" pitchFamily="34" charset="-120"/>
              </a:rPr>
              <a:t>• IP/peripheral configuration registers.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1B1B1B"/>
                </a:solidFill>
                <a:ea typeface="Times New Roman" pitchFamily="34" charset="-122"/>
                <a:cs typeface="Times New Roman" pitchFamily="34" charset="-120"/>
              </a:rPr>
              <a:t>• Start/stop controls, software reset, function enable.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1B1B1B"/>
                </a:solidFill>
                <a:ea typeface="Times New Roman" pitchFamily="34" charset="-122"/>
                <a:cs typeface="Times New Roman" pitchFamily="34" charset="-120"/>
              </a:rPr>
              <a:t>• Status flags: busy, done, error, interrupt pending.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1B1B1B"/>
                </a:solidFill>
                <a:ea typeface="Times New Roman" pitchFamily="34" charset="-122"/>
                <a:cs typeface="Times New Roman" pitchFamily="34" charset="-120"/>
              </a:rPr>
              <a:t>• Small, occasional transfers without high-throughput requirements.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400800" y="1417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9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Avoid AXI4-Lite for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446520" y="1874520"/>
            <a:ext cx="457200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1B1B1B"/>
                </a:solidFill>
                <a:ea typeface="Times New Roman" pitchFamily="34" charset="-122"/>
                <a:cs typeface="Times New Roman" pitchFamily="34" charset="-120"/>
              </a:rPr>
              <a:t>• Large continuous payload transfers requiring high bandwidth.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1B1B1B"/>
                </a:solidFill>
                <a:ea typeface="Times New Roman" pitchFamily="34" charset="-122"/>
                <a:cs typeface="Times New Roman" pitchFamily="34" charset="-120"/>
              </a:rPr>
              <a:t>• Memory interfaces that need long bursts or many outstanding transactions.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1B1B1B"/>
                </a:solidFill>
                <a:ea typeface="Times New Roman" pitchFamily="34" charset="-122"/>
                <a:cs typeface="Times New Roman" pitchFamily="34" charset="-120"/>
              </a:rPr>
              <a:t>• Video, audio, packet streams, or DMA data paths.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1B1B1B"/>
                </a:solidFill>
                <a:ea typeface="Times New Roman" pitchFamily="34" charset="-122"/>
                <a:cs typeface="Times New Roman" pitchFamily="34" charset="-120"/>
              </a:rPr>
              <a:t>• Large buffers are better served by full AXI4, AXI4-Stream, or DMA.</a:t>
            </a:r>
            <a:endParaRPr lang="en-US" dirty="0"/>
          </a:p>
        </p:txBody>
      </p:sp>
      <p:sp>
        <p:nvSpPr>
          <p:cNvPr id="15" name="Text 14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 July 2026</a:t>
            </a:r>
            <a:endParaRPr lang="en-US" sz="800" dirty="0"/>
          </a:p>
        </p:txBody>
      </p:sp>
      <p:sp>
        <p:nvSpPr>
          <p:cNvPr id="16" name="Text 15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Copyrights 2026 UIT. All Rights Reserved.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V4d3BxkaQVnDD1xcuyKgPHmK/aaf26c3248f94b2bb107d2d639d3b92f/mnt/data/uit_unzip/ppt/media/image2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972800" y="512064"/>
            <a:ext cx="457200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56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AXI4-Lite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0104120" y="2560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5/11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685800"/>
            <a:ext cx="93726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VALID/READY handshake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6291072"/>
            <a:ext cx="1088136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rule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1691640"/>
            <a:ext cx="99669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transfer completes on a rising clock edge when VALID = 1 and READY = 1 on the same channel.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60120" y="2743200"/>
            <a:ext cx="2011680" cy="731520"/>
          </a:xfrm>
          <a:prstGeom prst="roundRect">
            <a:avLst/>
          </a:prstGeom>
          <a:solidFill>
            <a:srgbClr val="245AA5"/>
          </a:solidFill>
          <a:ln>
            <a:solidFill>
              <a:srgbClr val="245AA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CPU / IP sends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21040" y="2743200"/>
            <a:ext cx="2148840" cy="731520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DESTINATION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IP / CPU accepts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154680" y="2944368"/>
            <a:ext cx="4983480" cy="0"/>
          </a:xfrm>
          <a:prstGeom prst="line">
            <a:avLst/>
          </a:prstGeom>
          <a:noFill/>
          <a:ln w="27940">
            <a:solidFill>
              <a:srgbClr val="245AA5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138160" y="3310128"/>
            <a:ext cx="0" cy="0"/>
          </a:xfrm>
          <a:prstGeom prst="line">
            <a:avLst/>
          </a:prstGeom>
          <a:noFill/>
          <a:ln w="27940">
            <a:solidFill>
              <a:srgbClr val="153E75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3749040" y="25786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VALID: “I have information”</a:t>
            </a:r>
            <a:endParaRPr lang="en-US" sz="1430" dirty="0"/>
          </a:p>
        </p:txBody>
      </p:sp>
      <p:sp>
        <p:nvSpPr>
          <p:cNvPr id="17" name="Text 14"/>
          <p:cNvSpPr/>
          <p:nvPr/>
        </p:nvSpPr>
        <p:spPr>
          <a:xfrm>
            <a:off x="3794760" y="3474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53E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READY: “I can accept it”</a:t>
            </a:r>
            <a:endParaRPr lang="en-US" sz="1430" dirty="0"/>
          </a:p>
        </p:txBody>
      </p:sp>
      <p:sp>
        <p:nvSpPr>
          <p:cNvPr id="18" name="Text 15"/>
          <p:cNvSpPr/>
          <p:nvPr/>
        </p:nvSpPr>
        <p:spPr>
          <a:xfrm>
            <a:off x="1005840" y="4315968"/>
            <a:ext cx="95097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1B1B1B"/>
                </a:solidFill>
                <a:ea typeface="Times New Roman" pitchFamily="34" charset="-122"/>
                <a:cs typeface="Times New Roman" pitchFamily="34" charset="-120"/>
              </a:rPr>
              <a:t>• The source holds VALID until the handshake succeeds.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1B1B1B"/>
                </a:solidFill>
                <a:ea typeface="Times New Roman" pitchFamily="34" charset="-122"/>
                <a:cs typeface="Times New Roman" pitchFamily="34" charset="-120"/>
              </a:rPr>
              <a:t>• The destination may deassert READY to apply back-pressure.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1B1B1B"/>
                </a:solidFill>
                <a:ea typeface="Times New Roman" pitchFamily="34" charset="-122"/>
                <a:cs typeface="Times New Roman" pitchFamily="34" charset="-120"/>
              </a:rPr>
              <a:t>• If either signal is 0, address/data waits for a later cycle.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 July 2026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Copyrights 2026 UIT. All Rights Reserved.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V4d3BxkaQVnDD1xcuyKgPHmK/aaf26c3248f94b2bb107d2d639d3b92f/mnt/data/uit_unzip/ppt/media/image2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972800" y="512064"/>
            <a:ext cx="457200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56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AXI4-Lite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0104120" y="2560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6/11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685800"/>
            <a:ext cx="93726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independent AXI4-Lite channels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6291072"/>
            <a:ext cx="1088136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07108"/>
            <a:ext cx="731520" cy="475488"/>
          </a:xfrm>
          <a:prstGeom prst="roundRect">
            <a:avLst/>
          </a:prstGeom>
          <a:solidFill>
            <a:srgbClr val="245AA5"/>
          </a:solidFill>
          <a:ln>
            <a:solidFill>
              <a:srgbClr val="245AA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AW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64208" y="19888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Address</a:t>
            </a:r>
            <a:endParaRPr lang="en-US" sz="1260" dirty="0"/>
          </a:p>
        </p:txBody>
      </p:sp>
      <p:sp>
        <p:nvSpPr>
          <p:cNvPr id="12" name="Text 9"/>
          <p:cNvSpPr/>
          <p:nvPr/>
        </p:nvSpPr>
        <p:spPr>
          <a:xfrm>
            <a:off x="1664208" y="2235708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to write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3017520" y="2007108"/>
            <a:ext cx="731520" cy="475488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858768" y="19888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Data</a:t>
            </a:r>
            <a:endParaRPr lang="en-US" sz="1260" dirty="0"/>
          </a:p>
        </p:txBody>
      </p:sp>
      <p:sp>
        <p:nvSpPr>
          <p:cNvPr id="15" name="Text 12"/>
          <p:cNvSpPr/>
          <p:nvPr/>
        </p:nvSpPr>
        <p:spPr>
          <a:xfrm>
            <a:off x="3858768" y="2235708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+ WSTRB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5212080" y="2007108"/>
            <a:ext cx="731520" cy="475488"/>
          </a:xfrm>
          <a:prstGeom prst="round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053328" y="19888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Response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6053328" y="2235708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status</a:t>
            </a:r>
            <a:endParaRPr lang="en-US" sz="1090" dirty="0"/>
          </a:p>
        </p:txBody>
      </p:sp>
      <p:sp>
        <p:nvSpPr>
          <p:cNvPr id="19" name="Text 16"/>
          <p:cNvSpPr/>
          <p:nvPr/>
        </p:nvSpPr>
        <p:spPr>
          <a:xfrm>
            <a:off x="7406640" y="2007108"/>
            <a:ext cx="731520" cy="475488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247888" y="19888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Address</a:t>
            </a:r>
            <a:endParaRPr lang="en-US" sz="1260" dirty="0"/>
          </a:p>
        </p:txBody>
      </p:sp>
      <p:sp>
        <p:nvSpPr>
          <p:cNvPr id="21" name="Text 18"/>
          <p:cNvSpPr/>
          <p:nvPr/>
        </p:nvSpPr>
        <p:spPr>
          <a:xfrm>
            <a:off x="8247888" y="2235708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to read</a:t>
            </a:r>
            <a:endParaRPr lang="en-US" sz="1090" dirty="0"/>
          </a:p>
        </p:txBody>
      </p:sp>
      <p:sp>
        <p:nvSpPr>
          <p:cNvPr id="22" name="Text 19"/>
          <p:cNvSpPr/>
          <p:nvPr/>
        </p:nvSpPr>
        <p:spPr>
          <a:xfrm>
            <a:off x="9601200" y="2007108"/>
            <a:ext cx="731520" cy="475488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442448" y="19888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Data</a:t>
            </a:r>
            <a:endParaRPr lang="en-US" sz="1260" dirty="0"/>
          </a:p>
        </p:txBody>
      </p:sp>
      <p:sp>
        <p:nvSpPr>
          <p:cNvPr id="24" name="Text 21"/>
          <p:cNvSpPr/>
          <p:nvPr/>
        </p:nvSpPr>
        <p:spPr>
          <a:xfrm>
            <a:off x="10442448" y="2235708"/>
            <a:ext cx="1234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+ RRESP</a:t>
            </a:r>
            <a:endParaRPr lang="en-US" sz="1090" dirty="0"/>
          </a:p>
        </p:txBody>
      </p:sp>
      <p:sp>
        <p:nvSpPr>
          <p:cNvPr id="25" name="Text 22"/>
          <p:cNvSpPr/>
          <p:nvPr/>
        </p:nvSpPr>
        <p:spPr>
          <a:xfrm>
            <a:off x="1097280" y="3424428"/>
            <a:ext cx="4389120" cy="1143000"/>
          </a:xfrm>
          <a:prstGeom prst="roundRect">
            <a:avLst/>
          </a:prstGeom>
          <a:solidFill>
            <a:srgbClr val="F7FAFE"/>
          </a:solidFill>
          <a:ln>
            <a:solidFill>
              <a:srgbClr val="D7E3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write transaction uses 3 channels: AW carries address, W carries data, and B returns write status.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629400" y="3424428"/>
            <a:ext cx="4389120" cy="1143000"/>
          </a:xfrm>
          <a:prstGeom prst="roundRect">
            <a:avLst/>
          </a:prstGeom>
          <a:solidFill>
            <a:srgbClr val="F7FAFE"/>
          </a:solidFill>
          <a:ln>
            <a:solidFill>
              <a:srgbClr val="D7E3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read transaction uses 2 channels: AR carries the read address, and R returns data plus read status.</a:t>
            </a:r>
            <a:endParaRPr lang="en-US" sz="1600" dirty="0"/>
          </a:p>
        </p:txBody>
      </p:sp>
      <p:sp>
        <p:nvSpPr>
          <p:cNvPr id="28" name="Text 14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 July 2026</a:t>
            </a:r>
            <a:endParaRPr lang="en-US" sz="800" dirty="0"/>
          </a:p>
        </p:txBody>
      </p:sp>
      <p:sp>
        <p:nvSpPr>
          <p:cNvPr id="29" name="Text 15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Copyrights 2026 UIT. All Rights Reserved.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V4d3BxkaQVnDD1xcuyKgPHmK/aaf26c3248f94b2bb107d2d639d3b92f/mnt/data/uit_unzip/ppt/media/image2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972800" y="512064"/>
            <a:ext cx="457200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56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AXI4-Lite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0104120" y="2560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7/11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685800"/>
            <a:ext cx="93726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transaction: three channels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68680" y="1691640"/>
            <a:ext cx="1417320" cy="3246120"/>
          </a:xfrm>
          <a:prstGeom prst="roundRect">
            <a:avLst/>
          </a:prstGeom>
          <a:solidFill>
            <a:srgbClr val="245AA5"/>
          </a:solidFill>
          <a:ln>
            <a:solidFill>
              <a:srgbClr val="245AA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AXI4-Lite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Manager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9829800" y="1691640"/>
            <a:ext cx="1417320" cy="3246120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AXI4-Lite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Subordinate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3931920" y="17556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Address Channel</a:t>
            </a:r>
            <a:endParaRPr lang="en-US" sz="1270" dirty="0"/>
          </a:p>
        </p:txBody>
      </p:sp>
      <p:sp>
        <p:nvSpPr>
          <p:cNvPr id="13" name="Shape 10"/>
          <p:cNvSpPr/>
          <p:nvPr/>
        </p:nvSpPr>
        <p:spPr>
          <a:xfrm>
            <a:off x="2651760" y="2057400"/>
            <a:ext cx="6537960" cy="0"/>
          </a:xfrm>
          <a:prstGeom prst="line">
            <a:avLst/>
          </a:prstGeom>
          <a:noFill/>
          <a:ln w="25400">
            <a:solidFill>
              <a:srgbClr val="245AA5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4160520" y="209397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AWADDR, AWVALID, AWPROT</a:t>
            </a:r>
            <a:endParaRPr lang="en-US" sz="1160" dirty="0"/>
          </a:p>
        </p:txBody>
      </p:sp>
      <p:sp>
        <p:nvSpPr>
          <p:cNvPr id="16" name="Text 13"/>
          <p:cNvSpPr/>
          <p:nvPr/>
        </p:nvSpPr>
        <p:spPr>
          <a:xfrm>
            <a:off x="4160520" y="23591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AWREADY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3931920" y="28529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Data Channel</a:t>
            </a:r>
            <a:endParaRPr lang="en-US" sz="1270" dirty="0"/>
          </a:p>
        </p:txBody>
      </p:sp>
      <p:sp>
        <p:nvSpPr>
          <p:cNvPr id="18" name="Shape 15"/>
          <p:cNvSpPr/>
          <p:nvPr/>
        </p:nvSpPr>
        <p:spPr>
          <a:xfrm>
            <a:off x="2651760" y="3154680"/>
            <a:ext cx="6537960" cy="0"/>
          </a:xfrm>
          <a:prstGeom prst="line">
            <a:avLst/>
          </a:prstGeom>
          <a:noFill/>
          <a:ln w="25400">
            <a:solidFill>
              <a:srgbClr val="166534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4160520" y="319125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665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WDATA, WSTRB, WVALID</a:t>
            </a:r>
            <a:endParaRPr lang="en-US" sz="1160" dirty="0"/>
          </a:p>
        </p:txBody>
      </p:sp>
      <p:sp>
        <p:nvSpPr>
          <p:cNvPr id="21" name="Text 18"/>
          <p:cNvSpPr/>
          <p:nvPr/>
        </p:nvSpPr>
        <p:spPr>
          <a:xfrm>
            <a:off x="4160520" y="345643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WREADY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3931920" y="39502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Response Channel</a:t>
            </a:r>
            <a:endParaRPr lang="en-US" sz="1270" dirty="0"/>
          </a:p>
        </p:txBody>
      </p:sp>
      <p:sp>
        <p:nvSpPr>
          <p:cNvPr id="23" name="Shape 20"/>
          <p:cNvSpPr/>
          <p:nvPr/>
        </p:nvSpPr>
        <p:spPr>
          <a:xfrm flipH="1" flipV="1">
            <a:off x="2651760" y="4251958"/>
            <a:ext cx="653796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4160520" y="428853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C241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BREADY</a:t>
            </a:r>
            <a:endParaRPr lang="en-US" sz="1160" dirty="0"/>
          </a:p>
        </p:txBody>
      </p:sp>
      <p:sp>
        <p:nvSpPr>
          <p:cNvPr id="26" name="Text 23"/>
          <p:cNvSpPr/>
          <p:nvPr/>
        </p:nvSpPr>
        <p:spPr>
          <a:xfrm>
            <a:off x="4160520" y="45537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BRESP, BVALID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1097280" y="51663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3E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write is complete only after the address, data, and write response handshakes have completed.</a:t>
            </a:r>
            <a:endParaRPr lang="en-US" sz="1600" dirty="0"/>
          </a:p>
        </p:txBody>
      </p:sp>
      <p:sp>
        <p:nvSpPr>
          <p:cNvPr id="28" name="Text 14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 July 2026</a:t>
            </a:r>
            <a:endParaRPr lang="en-US" sz="800" dirty="0"/>
          </a:p>
        </p:txBody>
      </p:sp>
      <p:sp>
        <p:nvSpPr>
          <p:cNvPr id="29" name="Text 15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Copyrights 2026 UIT. All Rights Reserved.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V4d3BxkaQVnDD1xcuyKgPHmK/aaf26c3248f94b2bb107d2d639d3b92f/mnt/data/uit_unzip/ppt/media/image2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972800" y="512064"/>
            <a:ext cx="457200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56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AXI4-Lite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0104120" y="2560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8/11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685800"/>
            <a:ext cx="93726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transaction: two channels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6291072"/>
            <a:ext cx="1088136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828800"/>
            <a:ext cx="1417320" cy="3246120"/>
          </a:xfrm>
          <a:prstGeom prst="roundRect">
            <a:avLst/>
          </a:prstGeom>
          <a:solidFill>
            <a:srgbClr val="245AA5"/>
          </a:solidFill>
          <a:ln>
            <a:solidFill>
              <a:srgbClr val="245AA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AXI4-Lite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Manager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9829800" y="1828800"/>
            <a:ext cx="1417320" cy="3246120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AXI4-Lite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Subordinate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3931920" y="21214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Address Channel</a:t>
            </a:r>
            <a:endParaRPr lang="en-US" sz="1270" dirty="0"/>
          </a:p>
        </p:txBody>
      </p:sp>
      <p:sp>
        <p:nvSpPr>
          <p:cNvPr id="13" name="Shape 10"/>
          <p:cNvSpPr/>
          <p:nvPr/>
        </p:nvSpPr>
        <p:spPr>
          <a:xfrm>
            <a:off x="2651760" y="2423160"/>
            <a:ext cx="6537960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4160520" y="245973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6D28D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ARADDR, ARVALID, ARPROT</a:t>
            </a:r>
            <a:endParaRPr lang="en-US" sz="1160" dirty="0"/>
          </a:p>
        </p:txBody>
      </p:sp>
      <p:sp>
        <p:nvSpPr>
          <p:cNvPr id="16" name="Text 13"/>
          <p:cNvSpPr/>
          <p:nvPr/>
        </p:nvSpPr>
        <p:spPr>
          <a:xfrm>
            <a:off x="4160520" y="27249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ARREADY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3931920" y="34015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Data Channel</a:t>
            </a:r>
            <a:endParaRPr lang="en-US" sz="1270" dirty="0"/>
          </a:p>
        </p:txBody>
      </p:sp>
      <p:sp>
        <p:nvSpPr>
          <p:cNvPr id="18" name="Shape 15"/>
          <p:cNvSpPr/>
          <p:nvPr/>
        </p:nvSpPr>
        <p:spPr>
          <a:xfrm flipH="1">
            <a:off x="2702704" y="3730752"/>
            <a:ext cx="6487015" cy="9144"/>
          </a:xfrm>
          <a:prstGeom prst="line">
            <a:avLst/>
          </a:prstGeom>
          <a:noFill/>
          <a:ln w="25400">
            <a:solidFill>
              <a:srgbClr val="166534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4160520" y="373989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665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RREADY</a:t>
            </a:r>
            <a:endParaRPr lang="en-US" sz="1160" dirty="0"/>
          </a:p>
        </p:txBody>
      </p:sp>
      <p:sp>
        <p:nvSpPr>
          <p:cNvPr id="21" name="Text 18"/>
          <p:cNvSpPr/>
          <p:nvPr/>
        </p:nvSpPr>
        <p:spPr>
          <a:xfrm>
            <a:off x="4160520" y="40050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RDATA, RRESP, RVALID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1097280" y="51663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3E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Compared with write transactions, reads are simpler because the response status travels with the R channel.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 July 2026</a:t>
            </a:r>
            <a:endParaRPr lang="en-US" sz="800" dirty="0"/>
          </a:p>
        </p:txBody>
      </p:sp>
      <p:sp>
        <p:nvSpPr>
          <p:cNvPr id="24" name="Text 15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Copyrights 2026 UIT. All Rights Reserved.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V4d3BxkaQVnDD1xcuyKgPHmK/aaf26c3248f94b2bb107d2d639d3b92f/mnt/data/uit_unzip/ppt/media/image2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972800" y="512064"/>
            <a:ext cx="457200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56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AXI4-Lite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0104120" y="2560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9/11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685800"/>
            <a:ext cx="93726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signal groups of the five channels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6291072"/>
            <a:ext cx="1088136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1508760"/>
            <a:ext cx="3246120" cy="530352"/>
          </a:xfrm>
          <a:prstGeom prst="rect">
            <a:avLst/>
          </a:prstGeom>
          <a:solidFill>
            <a:srgbClr val="245AA5"/>
          </a:solidFill>
          <a:ln w="9525">
            <a:solidFill>
              <a:srgbClr val="B9CB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0" y="1508760"/>
            <a:ext cx="7178040" cy="530352"/>
          </a:xfrm>
          <a:prstGeom prst="rect">
            <a:avLst/>
          </a:prstGeom>
          <a:solidFill>
            <a:srgbClr val="245AA5"/>
          </a:solidFill>
          <a:ln w="9525">
            <a:solidFill>
              <a:srgbClr val="B9CB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161848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Channel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187952" y="1618488"/>
            <a:ext cx="7031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signals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68680" y="2039112"/>
            <a:ext cx="3246120" cy="530352"/>
          </a:xfrm>
          <a:prstGeom prst="rect">
            <a:avLst/>
          </a:prstGeom>
          <a:solidFill>
            <a:srgbClr val="F7FAFE"/>
          </a:solidFill>
          <a:ln w="9525">
            <a:solidFill>
              <a:srgbClr val="B9CB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14800" y="2039112"/>
            <a:ext cx="7178040" cy="530352"/>
          </a:xfrm>
          <a:prstGeom prst="rect">
            <a:avLst/>
          </a:prstGeom>
          <a:solidFill>
            <a:srgbClr val="F7FAFE"/>
          </a:solidFill>
          <a:ln w="9525">
            <a:solidFill>
              <a:srgbClr val="B9CB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1832" y="215798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address channel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187952" y="2157984"/>
            <a:ext cx="7031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AWVALID, AWREADY, AWADDR, AWPROT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68680" y="2569464"/>
            <a:ext cx="3246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9CBE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114800" y="2569464"/>
            <a:ext cx="71780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9CBE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1832" y="2688336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data channel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187952" y="2688336"/>
            <a:ext cx="7031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WVALID, WREADY, WDATA, WSTRB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68680" y="3099816"/>
            <a:ext cx="3246120" cy="530352"/>
          </a:xfrm>
          <a:prstGeom prst="rect">
            <a:avLst/>
          </a:prstGeom>
          <a:solidFill>
            <a:srgbClr val="F7FAFE"/>
          </a:solidFill>
          <a:ln w="9525">
            <a:solidFill>
              <a:srgbClr val="B9CBE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14800" y="3099816"/>
            <a:ext cx="7178040" cy="530352"/>
          </a:xfrm>
          <a:prstGeom prst="rect">
            <a:avLst/>
          </a:prstGeom>
          <a:solidFill>
            <a:srgbClr val="F7FAFE"/>
          </a:solidFill>
          <a:ln w="9525">
            <a:solidFill>
              <a:srgbClr val="B9CB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1832" y="321868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response channel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187952" y="3218688"/>
            <a:ext cx="7031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BVALID, BREADY, BRESP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68680" y="3630168"/>
            <a:ext cx="3246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9CBE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114800" y="3630168"/>
            <a:ext cx="71780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9CBE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1832" y="374904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address channel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187952" y="3749040"/>
            <a:ext cx="7031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ARVALID, ARREADY, ARADDR, ARPROT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68680" y="4160520"/>
            <a:ext cx="3246120" cy="530352"/>
          </a:xfrm>
          <a:prstGeom prst="rect">
            <a:avLst/>
          </a:prstGeom>
          <a:solidFill>
            <a:srgbClr val="F7FAFE"/>
          </a:solidFill>
          <a:ln w="9525">
            <a:solidFill>
              <a:srgbClr val="B9CBE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0" y="4160520"/>
            <a:ext cx="7178040" cy="530352"/>
          </a:xfrm>
          <a:prstGeom prst="rect">
            <a:avLst/>
          </a:prstGeom>
          <a:solidFill>
            <a:srgbClr val="F7FAFE"/>
          </a:solidFill>
          <a:ln w="9525">
            <a:solidFill>
              <a:srgbClr val="B9CBE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41832" y="42793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data channel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187952" y="4279392"/>
            <a:ext cx="7031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RVALID, RREADY, RDATA, RRESP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960120" y="5074920"/>
            <a:ext cx="98755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3E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 reading rule: use the prefix AW, W, B, AR, or R to identify the channel; use VALID/READY to identify the handshake signals.</a:t>
            </a:r>
            <a:endParaRPr lang="en-US" sz="1600" dirty="0"/>
          </a:p>
        </p:txBody>
      </p:sp>
      <p:sp>
        <p:nvSpPr>
          <p:cNvPr id="35" name="Text 14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 July 2026</a:t>
            </a:r>
            <a:endParaRPr lang="en-US" sz="800" dirty="0"/>
          </a:p>
        </p:txBody>
      </p:sp>
      <p:sp>
        <p:nvSpPr>
          <p:cNvPr id="36" name="Text 15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Copyrights 2026 UIT. All Rights Reserved.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V4d3BxkaQVnDD1xcuyKgPHmK/aaf26c3248f94b2bb107d2d639d3b92f/mnt/data/uit_unzip/ppt/media/image2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972800" y="512064"/>
            <a:ext cx="457200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56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AXI4-Lite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0104120" y="2560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10/11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685800"/>
            <a:ext cx="93726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RTL implementation tips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22960" y="1417320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25880" y="13990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register map first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25880" y="167335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Specify address, read/write permission, reset value, and bit meaning before coding AXI logic.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2587752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25880" y="256946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 address decode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25880" y="284378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32-bit registers, low address bits are usually ignored because accesses are word-aligned.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2960" y="375818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25880" y="373989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WSTRB and byte writes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25880" y="4014216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 each byte according to WSTRB so software can modify selected byte lanes.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00800" y="1417320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903720" y="13990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Correct responses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903720" y="167335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BRESP/RRESP usually return OKAY for valid accesses; signal errors when the system requires it.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400800" y="2587752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903720" y="256946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Reset and back-pressure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903720" y="284378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Reset registers and VALID signals to safe values; READY may be 0 when a transfer cannot be accepted.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400800" y="3758184"/>
            <a:ext cx="393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903720" y="373989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Verification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903720" y="4014216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every register, delayed handshakes, reset during transfers, and WSTRB combinations.</a:t>
            </a:r>
            <a:endParaRPr lang="en-US" sz="1500" dirty="0"/>
          </a:p>
        </p:txBody>
      </p:sp>
      <p:sp>
        <p:nvSpPr>
          <p:cNvPr id="29" name="Text 14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 July 2026</a:t>
            </a:r>
            <a:endParaRPr lang="en-US" sz="800" dirty="0"/>
          </a:p>
        </p:txBody>
      </p:sp>
      <p:sp>
        <p:nvSpPr>
          <p:cNvPr id="30" name="Text 15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Copyrights 2026 UIT. All Rights Reserved.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V4d3BxkaQVnDD1xcuyKgPHmK/aaf26c3248f94b2bb107d2d639d3b92f/mnt/data/uit_unzip/ppt/media/image2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972800" y="512064"/>
            <a:ext cx="457200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56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AA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AXI4-Lite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0104120" y="2560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11/11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685800"/>
            <a:ext cx="93726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6291072"/>
            <a:ext cx="1088136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389888"/>
            <a:ext cx="320040" cy="274320"/>
          </a:xfrm>
          <a:prstGeom prst="ellipse">
            <a:avLst/>
          </a:prstGeom>
          <a:solidFill>
            <a:srgbClr val="245AA5"/>
          </a:solidFill>
          <a:ln>
            <a:solidFill>
              <a:srgbClr val="245AA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17320" y="13716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Arm — AMBA 4 / AMBA 3 / AMBA 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17320" y="16093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https://www.arm.com/architecture/system-architectures/amba/amba-4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868680" y="2011680"/>
            <a:ext cx="320040" cy="274320"/>
          </a:xfrm>
          <a:prstGeom prst="ellipse">
            <a:avLst/>
          </a:prstGeom>
          <a:solidFill>
            <a:srgbClr val="245AA5"/>
          </a:solidFill>
          <a:ln>
            <a:solidFill>
              <a:srgbClr val="245AA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17320" y="1993392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Arm — AMBA Specifications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17320" y="2231136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https://www.arm.com/architecture/system-architectures/amba/amba-specifications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868680" y="2633472"/>
            <a:ext cx="320040" cy="274320"/>
          </a:xfrm>
          <a:prstGeom prst="ellipse">
            <a:avLst/>
          </a:prstGeom>
          <a:solidFill>
            <a:srgbClr val="245AA5"/>
          </a:solidFill>
          <a:ln>
            <a:solidFill>
              <a:srgbClr val="245AA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17320" y="26151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CIOL — ARM announces AMBA-4 phase one, 10 Mar 2010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17320" y="285292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https://www.ciol.com/arm-announces-amba-phase/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868680" y="3255264"/>
            <a:ext cx="320040" cy="274320"/>
          </a:xfrm>
          <a:prstGeom prst="ellipse">
            <a:avLst/>
          </a:prstGeom>
          <a:solidFill>
            <a:srgbClr val="245AA5"/>
          </a:solidFill>
          <a:ln>
            <a:solidFill>
              <a:srgbClr val="245AA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17320" y="323697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AMD — AMBA® AXI4 Interface Protocol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17320" y="3474720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https://www.amd.com/en/products/adaptive-socs-and-fpgas/intellectual-property/axi.html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868680" y="3877056"/>
            <a:ext cx="320040" cy="274320"/>
          </a:xfrm>
          <a:prstGeom prst="ellipse">
            <a:avLst/>
          </a:prstGeom>
          <a:solidFill>
            <a:srgbClr val="245AA5"/>
          </a:solidFill>
          <a:ln>
            <a:solidFill>
              <a:srgbClr val="245AA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417320" y="385876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Digital — AXI4-Lite Interface tutorial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417320" y="409651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https://www.realdigital.org/doc/a9fee931f7a172423e1ba73f66ca4081</a:t>
            </a:r>
            <a:endParaRPr lang="en-US" sz="920" dirty="0"/>
          </a:p>
        </p:txBody>
      </p:sp>
      <p:sp>
        <p:nvSpPr>
          <p:cNvPr id="29" name="Text 14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 July 2026</a:t>
            </a:r>
            <a:endParaRPr lang="en-US" sz="800" dirty="0"/>
          </a:p>
        </p:txBody>
      </p:sp>
      <p:sp>
        <p:nvSpPr>
          <p:cNvPr id="30" name="Text 15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5B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Copyrights 2026 UIT. All Rights Reserved.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1029</Words>
  <Application>Microsoft Office PowerPoint</Application>
  <PresentationFormat>Widescreen</PresentationFormat>
  <Paragraphs>207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AXI4-Lite Introduction</dc:title>
  <dc:subject>AXI4-Lite introduction</dc:subject>
  <dc:creator>OpenAI</dc:creator>
  <cp:lastModifiedBy>DELL</cp:lastModifiedBy>
  <cp:revision>3</cp:revision>
  <dcterms:created xsi:type="dcterms:W3CDTF">2026-07-19T01:30:59Z</dcterms:created>
  <dcterms:modified xsi:type="dcterms:W3CDTF">2026-07-19T01:53:52Z</dcterms:modified>
</cp:coreProperties>
</file>