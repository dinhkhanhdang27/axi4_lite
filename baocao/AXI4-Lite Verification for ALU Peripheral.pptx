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54CBFA-84F9-438F-8945-52C9D32D1969}">
  <a:tblStyle styleId="{1054CBFA-84F9-438F-8945-52C9D32D19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34f53a9f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34f53a9f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34f53a9f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934f53a9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34f53a9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934f53a9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934f53a9f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934f53a9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934f53a9f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934f53a9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934f53a9f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934f53a9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934f53a9f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934f53a9f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934f53a9f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934f53a9f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934f53a9f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934f53a9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934f53a9f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934f53a9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934f53a9f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934f53a9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934f53a9f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f934f53a9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934f53a9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934f53a9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934f53a9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934f53a9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34f53a9f_7_0)">
  <p:cSld name="Generated (g3f934f53a9f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5.png"/><Relationship Id="rId7" Type="http://schemas.openxmlformats.org/officeDocument/2006/relationships/image" Target="../media/image7.png"/><Relationship Id="rId8" Type="http://schemas.openxmlformats.org/officeDocument/2006/relationships/image" Target="../media/image6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4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6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6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62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9.png"/><Relationship Id="rId13" Type="http://schemas.openxmlformats.org/officeDocument/2006/relationships/image" Target="../media/image5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50.png"/><Relationship Id="rId1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53.png"/><Relationship Id="rId8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46.png"/><Relationship Id="rId8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73.png"/><Relationship Id="rId5" Type="http://schemas.openxmlformats.org/officeDocument/2006/relationships/image" Target="../media/image7.png"/><Relationship Id="rId6" Type="http://schemas.openxmlformats.org/officeDocument/2006/relationships/image" Target="../media/image62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8" name="Google Shape;58;p14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14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" name="Google Shape;60;p14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-31245" y="0"/>
            <a:ext cx="12085616" cy="6858000"/>
            <a:chOff x="-31245" y="0"/>
            <a:chExt cx="12085616" cy="68580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65;p14"/>
            <p:cNvGrpSpPr/>
            <p:nvPr/>
          </p:nvGrpSpPr>
          <p:grpSpPr>
            <a:xfrm>
              <a:off x="11508216" y="243068"/>
              <a:ext cx="546155" cy="546155"/>
              <a:chOff x="11082052" y="197383"/>
              <a:chExt cx="486600" cy="486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4493294" y="113148"/>
              <a:ext cx="3238090" cy="723500"/>
              <a:chOff x="4276725" y="63291"/>
              <a:chExt cx="3638700" cy="813009"/>
            </a:xfrm>
          </p:grpSpPr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70;p1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1" name="Google Shape;71;p14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" name="Google Shape;72;p14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73" name="Google Shape;73;p14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Project: AXI4-Lite Verification for ALU Peripheral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a 32-bit ALU peripheral controlled via AXI4-Lite / Avalon-MM bus.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5" name="Google Shape;75;p14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1714500" y="4000500"/>
            <a:ext cx="8953500" cy="857400"/>
            <a:chOff x="1714500" y="4000500"/>
            <a:chExt cx="8953500" cy="857400"/>
          </a:xfrm>
        </p:grpSpPr>
        <p:grpSp>
          <p:nvGrpSpPr>
            <p:cNvPr id="79" name="Google Shape;79;p14"/>
            <p:cNvGrpSpPr/>
            <p:nvPr/>
          </p:nvGrpSpPr>
          <p:grpSpPr>
            <a:xfrm>
              <a:off x="1714500" y="4000500"/>
              <a:ext cx="2095500" cy="857400"/>
              <a:chOff x="0" y="0"/>
              <a:chExt cx="2095500" cy="857400"/>
            </a:xfrm>
          </p:grpSpPr>
          <p:sp>
            <p:nvSpPr>
              <p:cNvPr id="80" name="Google Shape;80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3" name="Google Shape;83;p14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84" name="Google Shape;84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Self-Checking Testbench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" name="Google Shape;87;p14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88" name="Google Shape;88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1" name="Google Shape;91;p14"/>
            <p:cNvGrpSpPr/>
            <p:nvPr/>
          </p:nvGrpSpPr>
          <p:grpSpPr>
            <a:xfrm>
              <a:off x="8572500" y="4000500"/>
              <a:ext cx="2095500" cy="857400"/>
              <a:chOff x="0" y="0"/>
              <a:chExt cx="2095500" cy="857400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Quartus / Qsys Integration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5" name="Google Shape;95;p14"/>
          <p:cNvGrpSpPr/>
          <p:nvPr/>
        </p:nvGrpSpPr>
        <p:grpSpPr>
          <a:xfrm>
            <a:off x="1714500" y="5095875"/>
            <a:ext cx="8953500" cy="666900"/>
            <a:chOff x="0" y="0"/>
            <a:chExt cx="8953500" cy="666900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89535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142875" y="142875"/>
              <a:ext cx="1428900" cy="381000"/>
              <a:chOff x="0" y="0"/>
              <a:chExt cx="1428900" cy="381000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STATUS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" name="Google Shape;100;p14"/>
            <p:cNvSpPr txBox="1"/>
            <p:nvPr/>
          </p:nvSpPr>
          <p:spPr>
            <a:xfrm>
              <a:off x="1762125" y="0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modules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testbenches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implemented.</a:t>
              </a:r>
              <a:endParaRPr b="1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5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106" name="Google Shape;106;p15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" name="Google Shape;108;p15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15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112" name="Google Shape;112;p15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1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4" name="Google Shape;114;p15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5" name="Google Shape;115;p15"/>
          <p:cNvGrpSpPr/>
          <p:nvPr/>
        </p:nvGrpSpPr>
        <p:grpSpPr>
          <a:xfrm>
            <a:off x="428625" y="809625"/>
            <a:ext cx="11334900" cy="523800"/>
            <a:chOff x="0" y="0"/>
            <a:chExt cx="11334900" cy="5238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Scope &amp; System Overview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1095375" y="1476375"/>
            <a:ext cx="10001400" cy="666900"/>
            <a:chOff x="1095375" y="1476375"/>
            <a:chExt cx="10001400" cy="666900"/>
          </a:xfrm>
        </p:grpSpPr>
        <p:sp>
          <p:nvSpPr>
            <p:cNvPr id="119" name="Google Shape;119;p15"/>
            <p:cNvSpPr/>
            <p:nvPr/>
          </p:nvSpPr>
          <p:spPr>
            <a:xfrm>
              <a:off x="109537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09537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Avalon-MM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Master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1" name="Google Shape;121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5"/>
            <p:cNvSpPr/>
            <p:nvPr/>
          </p:nvSpPr>
          <p:spPr>
            <a:xfrm>
              <a:off x="3143250" y="1476375"/>
              <a:ext cx="2000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3143250" y="147637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Avalon-to-AXI4Lite</a:t>
              </a:r>
              <a:endParaRPr b="1" sz="13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Bridge</a:t>
              </a:r>
              <a:endParaRPr b="1" sz="13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4" name="Google Shape;124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9112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5"/>
            <p:cNvSpPr/>
            <p:nvPr/>
          </p:nvSpPr>
          <p:spPr>
            <a:xfrm>
              <a:off x="557212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557212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AXI4-Lite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Slave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3900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5"/>
            <p:cNvSpPr/>
            <p:nvPr/>
          </p:nvSpPr>
          <p:spPr>
            <a:xfrm>
              <a:off x="7620000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7620000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Register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Bank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0" name="Google Shape;130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8687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5"/>
            <p:cNvSpPr/>
            <p:nvPr/>
          </p:nvSpPr>
          <p:spPr>
            <a:xfrm>
              <a:off x="9667875" y="1476375"/>
              <a:ext cx="14289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9667875" y="1476375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428625" y="2381250"/>
            <a:ext cx="5429400" cy="3524400"/>
            <a:chOff x="0" y="0"/>
            <a:chExt cx="5429400" cy="35244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Top-Level RTL Design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" name="Google Shape;136;p15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15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top-level hardware design integrates all core modules into a unified, functional system datapath.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TOP-LEVEL RTL FILE:</a:t>
              </a:r>
              <a:endParaRPr b="1" sz="12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avalon_axi4lite_alu.sv</a:t>
              </a:r>
              <a:endParaRPr b="1" sz="1388">
                <a:solidFill>
                  <a:srgbClr val="05624A"/>
                </a:solidFill>
                <a:highlight>
                  <a:srgbClr val="E6F4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INTEGRATION:</a:t>
              </a:r>
              <a:endParaRPr b="1" sz="12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Connects the Avalon-MM master interface cleanly to the ALU core.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Manages multi-protocol bus transfers across the register bank.</a:t>
              </a:r>
              <a:endParaRPr b="0" sz="1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6334125" y="2381250"/>
            <a:ext cx="5429400" cy="3524400"/>
            <a:chOff x="0" y="0"/>
            <a:chExt cx="5429400" cy="3524400"/>
          </a:xfrm>
        </p:grpSpPr>
        <p:sp>
          <p:nvSpPr>
            <p:cNvPr id="139" name="Google Shape;139;p15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Testbenches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1" name="Google Shape;141;p15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" name="Google Shape;142;p15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relies on three primary targeted testbench environments designed to isolate and validate each module's core interfaces: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tb_avalon_axi4lite_bridge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Avalon-MM to AXI4-Lite translation logic accuracy.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tb_axi4lite_slave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the protocol slave compliance and state transition.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tb_axi_register_bank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custom register-bank mapping and ALU instructions.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3" name="Google Shape;143;p15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" name="Google Shape;145;p15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46" name="Google Shape;146;p15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15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15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6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156" name="Google Shape;156;p16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6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16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160" name="Google Shape;160;p16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" name="Google Shape;161;p1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2" name="Google Shape;162;p16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3" name="Google Shape;163;p16"/>
          <p:cNvSpPr txBox="1"/>
          <p:nvPr/>
        </p:nvSpPr>
        <p:spPr>
          <a:xfrm>
            <a:off x="523875" y="762000"/>
            <a:ext cx="1114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Under Test (DUT) Architecture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block hierarchy and layered separation of the avalon_axi4lite_alu IP core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4" name="Google Shape;164;p16"/>
          <p:cNvGrpSpPr/>
          <p:nvPr/>
        </p:nvGrpSpPr>
        <p:grpSpPr>
          <a:xfrm>
            <a:off x="523875" y="1666875"/>
            <a:ext cx="2619300" cy="2286000"/>
            <a:chOff x="0" y="0"/>
            <a:chExt cx="2619300" cy="2286000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AVALON_AXI4LITE_BRIDGE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6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Translates Avalon MM transactions to AXI4-Lite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Bridges master-slave interface protocols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9" name="Google Shape;169;p16"/>
          <p:cNvGrpSpPr/>
          <p:nvPr/>
        </p:nvGrpSpPr>
        <p:grpSpPr>
          <a:xfrm>
            <a:off x="3362325" y="1666875"/>
            <a:ext cx="2619300" cy="2286000"/>
            <a:chOff x="0" y="0"/>
            <a:chExt cx="2619300" cy="2286000"/>
          </a:xfrm>
        </p:grpSpPr>
        <p:sp>
          <p:nvSpPr>
            <p:cNvPr id="170" name="Google Shape;170;p16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AXI4LITE_SLAVE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6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Manages standard AXI4-Lite channel handshakes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Handles bus reads and writes directly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4" name="Google Shape;174;p16"/>
          <p:cNvGrpSpPr/>
          <p:nvPr/>
        </p:nvGrpSpPr>
        <p:grpSpPr>
          <a:xfrm>
            <a:off x="6200775" y="1666875"/>
            <a:ext cx="2619300" cy="2286000"/>
            <a:chOff x="0" y="0"/>
            <a:chExt cx="2619300" cy="228600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AXI_REGISTER_BANK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Abstraction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Stores configuration data and control bits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Buffers operand values for ALU operations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9039225" y="1666875"/>
            <a:ext cx="2619300" cy="2286000"/>
            <a:chOff x="0" y="0"/>
            <a:chExt cx="2619300" cy="228600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ALU_CORE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Datapath Layer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Executes arithmetic and logical hardware operations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Implements high-speed execution datapath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523875" y="4143375"/>
            <a:ext cx="4286400" cy="1762200"/>
            <a:chOff x="0" y="0"/>
            <a:chExt cx="4286400" cy="1762200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4286400" cy="1762200"/>
            </a:xfrm>
            <a:prstGeom prst="roundRect">
              <a:avLst>
                <a:gd fmla="val 4324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 txBox="1"/>
            <p:nvPr/>
          </p:nvSpPr>
          <p:spPr>
            <a:xfrm>
              <a:off x="190500" y="142875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Specifications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7" name="Google Shape;187;p16"/>
            <p:cNvCxnSpPr/>
            <p:nvPr/>
          </p:nvCxnSpPr>
          <p:spPr>
            <a:xfrm>
              <a:off x="190500" y="4953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8" name="Google Shape;188;p16"/>
            <p:cNvSpPr txBox="1"/>
            <p:nvPr/>
          </p:nvSpPr>
          <p:spPr>
            <a:xfrm>
              <a:off x="190500" y="5905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32-bit data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6-bit address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Reset Signals: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Active-low reset_n / aresetn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9" name="Google Shape;189;p16"/>
          <p:cNvGrpSpPr/>
          <p:nvPr/>
        </p:nvGrpSpPr>
        <p:grpSpPr>
          <a:xfrm>
            <a:off x="5000625" y="4143375"/>
            <a:ext cx="6667500" cy="1762200"/>
            <a:chOff x="0" y="0"/>
            <a:chExt cx="6667500" cy="1762200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66675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0" y="0"/>
              <a:ext cx="114300" cy="1762200"/>
            </a:xfrm>
            <a:custGeom>
              <a:rect b="b" l="l" r="r" t="t"/>
              <a:pathLst>
                <a:path extrusionOk="0" h="120000" w="120000">
                  <a:moveTo>
                    <a:pt x="0" y="5189"/>
                  </a:moveTo>
                  <a:cubicBezTo>
                    <a:pt x="0" y="2322"/>
                    <a:pt x="35800" y="0"/>
                    <a:pt x="8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80000" y="120000"/>
                  </a:lnTo>
                  <a:cubicBezTo>
                    <a:pt x="35800" y="120000"/>
                    <a:pt x="0" y="117678"/>
                    <a:pt x="0" y="11481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 txBox="1"/>
            <p:nvPr/>
          </p:nvSpPr>
          <p:spPr>
            <a:xfrm>
              <a:off x="285750" y="142875"/>
              <a:ext cx="6096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Layered Architectural Benefits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3" name="Google Shape;193;p16"/>
            <p:cNvCxnSpPr/>
            <p:nvPr/>
          </p:nvCxnSpPr>
          <p:spPr>
            <a:xfrm>
              <a:off x="285750" y="495300"/>
              <a:ext cx="6096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6"/>
            <p:cNvSpPr txBox="1"/>
            <p:nvPr/>
          </p:nvSpPr>
          <p:spPr>
            <a:xfrm>
              <a:off x="285750" y="590550"/>
              <a:ext cx="609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48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Separation of Concerns:</a:t>
              </a:r>
              <a:endParaRPr b="1" sz="1148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48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architecture features a clear layered design that separates the bus protocol, register abstraction, and ALU datapath.</a:t>
              </a:r>
              <a:endParaRPr b="0" sz="1148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48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Block-Level Separation:</a:t>
              </a:r>
              <a:r>
                <a:rPr b="0" lang="en" sz="1148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Enables modular debugging and highly robust verification workflows across the entire IP.</a:t>
              </a:r>
              <a:endParaRPr b="0" sz="1148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5" name="Google Shape;195;p16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7" name="Google Shape;197;p16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98" name="Google Shape;198;p16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16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0" name="Google Shape;200;p16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17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7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17"/>
          <p:cNvSpPr txBox="1"/>
          <p:nvPr/>
        </p:nvSpPr>
        <p:spPr>
          <a:xfrm>
            <a:off x="523875" y="857250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Map Specification</a:t>
            </a:r>
            <a:endParaRPr b="1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axi_register_bank.sv file specifies the register configuration</a:t>
            </a:r>
            <a:endParaRPr b="0" i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3" name="Google Shape;213;p17"/>
          <p:cNvGrpSpPr/>
          <p:nvPr/>
        </p:nvGrpSpPr>
        <p:grpSpPr>
          <a:xfrm>
            <a:off x="523875" y="1905000"/>
            <a:ext cx="11144400" cy="3429075"/>
            <a:chOff x="523875" y="1905000"/>
            <a:chExt cx="11144400" cy="3429075"/>
          </a:xfrm>
        </p:grpSpPr>
        <p:sp>
          <p:nvSpPr>
            <p:cNvPr id="214" name="Google Shape;214;p17"/>
            <p:cNvSpPr/>
            <p:nvPr/>
          </p:nvSpPr>
          <p:spPr>
            <a:xfrm>
              <a:off x="523875" y="1905000"/>
              <a:ext cx="11144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523875" y="1905000"/>
              <a:ext cx="111444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367" y="0"/>
                    <a:pt x="821" y="0"/>
                  </a:cubicBezTo>
                  <a:lnTo>
                    <a:pt x="119179" y="0"/>
                  </a:lnTo>
                  <a:cubicBezTo>
                    <a:pt x="119633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523875" y="27622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523875" y="361950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523875" y="44767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" name="Google Shape;219;p17"/>
            <p:cNvCxnSpPr/>
            <p:nvPr/>
          </p:nvCxnSpPr>
          <p:spPr>
            <a:xfrm>
              <a:off x="523875" y="23336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17"/>
            <p:cNvCxnSpPr/>
            <p:nvPr/>
          </p:nvCxnSpPr>
          <p:spPr>
            <a:xfrm>
              <a:off x="523875" y="27622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17"/>
            <p:cNvCxnSpPr/>
            <p:nvPr/>
          </p:nvCxnSpPr>
          <p:spPr>
            <a:xfrm>
              <a:off x="523875" y="31908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17"/>
            <p:cNvCxnSpPr/>
            <p:nvPr/>
          </p:nvCxnSpPr>
          <p:spPr>
            <a:xfrm>
              <a:off x="523875" y="361950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17"/>
            <p:cNvCxnSpPr/>
            <p:nvPr/>
          </p:nvCxnSpPr>
          <p:spPr>
            <a:xfrm>
              <a:off x="523875" y="40481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17"/>
            <p:cNvCxnSpPr/>
            <p:nvPr/>
          </p:nvCxnSpPr>
          <p:spPr>
            <a:xfrm>
              <a:off x="523875" y="44767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17"/>
            <p:cNvCxnSpPr/>
            <p:nvPr/>
          </p:nvCxnSpPr>
          <p:spPr>
            <a:xfrm>
              <a:off x="523875" y="49053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17"/>
            <p:cNvCxnSpPr/>
            <p:nvPr/>
          </p:nvCxnSpPr>
          <p:spPr>
            <a:xfrm>
              <a:off x="22383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17"/>
            <p:cNvCxnSpPr/>
            <p:nvPr/>
          </p:nvCxnSpPr>
          <p:spPr>
            <a:xfrm>
              <a:off x="43338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17"/>
            <p:cNvSpPr txBox="1"/>
            <p:nvPr/>
          </p:nvSpPr>
          <p:spPr>
            <a:xfrm>
              <a:off x="523875" y="1905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2238375" y="19050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7"/>
            <p:cNvSpPr txBox="1"/>
            <p:nvPr/>
          </p:nvSpPr>
          <p:spPr>
            <a:xfrm>
              <a:off x="4333875" y="19050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523875" y="2333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2238375" y="23336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CTRL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4333875" y="23336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bit 0 to start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523875" y="27622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2238375" y="2762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STATUS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7"/>
            <p:cNvSpPr txBox="1"/>
            <p:nvPr/>
          </p:nvSpPr>
          <p:spPr>
            <a:xfrm>
              <a:off x="4333875" y="27622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{error, done, busy}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523875" y="31908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0x08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7"/>
            <p:cNvSpPr txBox="1"/>
            <p:nvPr/>
          </p:nvSpPr>
          <p:spPr>
            <a:xfrm>
              <a:off x="2238375" y="31908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4333875" y="31908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A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523875" y="3619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0x0C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2238375" y="36195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4333875" y="36195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B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523875" y="4048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2238375" y="40481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4333875" y="40481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4-bit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523875" y="4476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2238375" y="44767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4333875" y="44767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result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523875" y="4905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invalid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2238375" y="49053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default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4333875" y="49053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0 / write ignored</a:t>
              </a:r>
              <a:endParaRPr b="0" sz="14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2" name="Google Shape;252;p17"/>
          <p:cNvSpPr txBox="1"/>
          <p:nvPr/>
        </p:nvSpPr>
        <p:spPr>
          <a:xfrm>
            <a:off x="523875" y="5476875"/>
            <a:ext cx="1114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Source: axi_register_bank.sv</a:t>
            </a:r>
            <a:endParaRPr b="1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17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17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18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263" name="Google Shape;263;p18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1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" name="Google Shape;266;p18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267" name="Google Shape;267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1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9" name="Google Shape;269;p18"/>
              <p:cNvPicPr preferRelativeResize="0"/>
              <p:nvPr/>
            </p:nvPicPr>
            <p:blipFill rotWithShape="1">
              <a:blip r:embed="rId5">
                <a:alphaModFix/>
              </a:blip>
              <a:srcRect b="-70" l="0" r="0" t="10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70" name="Google Shape;270;p18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271" name="Google Shape;271;p18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18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273" name="Google Shape;273;p18"/>
              <p:cNvPicPr preferRelativeResize="0"/>
              <p:nvPr/>
            </p:nvPicPr>
            <p:blipFill rotWithShape="1">
              <a:blip r:embed="rId6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18"/>
              <p:cNvPicPr preferRelativeResize="0"/>
              <p:nvPr/>
            </p:nvPicPr>
            <p:blipFill rotWithShape="1">
              <a:blip r:embed="rId7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5" name="Google Shape;275;p18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18"/>
          <p:cNvSpPr txBox="1"/>
          <p:nvPr/>
        </p:nvSpPr>
        <p:spPr>
          <a:xfrm>
            <a:off x="285750" y="95250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Core Functionality &amp; Arithmetic Logic</a:t>
            </a:r>
            <a:endParaRPr b="1" sz="26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428625" y="1762125"/>
            <a:ext cx="5429400" cy="3762300"/>
            <a:chOff x="0" y="0"/>
            <a:chExt cx="5429400" cy="3762300"/>
          </a:xfrm>
        </p:grpSpPr>
        <p:sp>
          <p:nvSpPr>
            <p:cNvPr id="278" name="Google Shape;278;p18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Arithmetic &amp; Logic Operations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0" name="Google Shape;280;p18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1" name="Google Shape;281;p18"/>
            <p:cNvSpPr txBox="1"/>
            <p:nvPr/>
          </p:nvSpPr>
          <p:spPr>
            <a:xfrm>
              <a:off x="285750" y="714375"/>
              <a:ext cx="485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341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module implements a highly optimized 32-bit arithmetic unit with 4 supported functions: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'0' (ADD)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addition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'1' (SUB)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subtraction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'2' (MUL)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multiplication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'3' (DIV)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unsigned division.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82" name="Google Shape;282;p18"/>
            <p:cNvGrpSpPr/>
            <p:nvPr/>
          </p:nvGrpSpPr>
          <p:grpSpPr>
            <a:xfrm>
              <a:off x="285750" y="2667000"/>
              <a:ext cx="2190750" cy="571500"/>
              <a:chOff x="0" y="0"/>
              <a:chExt cx="2190750" cy="571500"/>
            </a:xfrm>
          </p:grpSpPr>
          <p:sp>
            <p:nvSpPr>
              <p:cNvPr id="283" name="Google Shape;283;p18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8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" name="Google Shape;285;p18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32-Bit Operands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6" name="Google Shape;286;p18"/>
            <p:cNvGrpSpPr/>
            <p:nvPr/>
          </p:nvGrpSpPr>
          <p:grpSpPr>
            <a:xfrm>
              <a:off x="2667000" y="2667000"/>
              <a:ext cx="2190750" cy="571500"/>
              <a:chOff x="0" y="0"/>
              <a:chExt cx="2190750" cy="571500"/>
            </a:xfrm>
          </p:grpSpPr>
          <p:sp>
            <p:nvSpPr>
              <p:cNvPr id="287" name="Google Shape;287;p18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8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p18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Opcode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4-Bit Opcode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0" name="Google Shape;290;p18"/>
          <p:cNvGrpSpPr/>
          <p:nvPr/>
        </p:nvGrpSpPr>
        <p:grpSpPr>
          <a:xfrm>
            <a:off x="6334125" y="1762125"/>
            <a:ext cx="5429400" cy="3762300"/>
            <a:chOff x="0" y="0"/>
            <a:chExt cx="5429400" cy="3762300"/>
          </a:xfrm>
        </p:grpSpPr>
        <p:sp>
          <p:nvSpPr>
            <p:cNvPr id="291" name="Google Shape;291;p18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8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Error Handling &amp; Exception Logic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3" name="Google Shape;293;p18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4" name="Google Shape;294;p18"/>
            <p:cNvSpPr txBox="1"/>
            <p:nvPr/>
          </p:nvSpPr>
          <p:spPr>
            <a:xfrm>
              <a:off x="285750" y="714375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Division-by-Zero Protection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Unsigned division operations automatically monitor the divisor. If division by zero is attempted: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Output defaults to 32'h0 &amp; asserts 'error' flag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Invalid Opcode Exception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The hardware verifies opcode ranges in real-time. Any value greater than the defined set asserts error: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Opcode &gt; 3 asserts 'error' output high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5" name="Google Shape;295;p18"/>
            <p:cNvGrpSpPr/>
            <p:nvPr/>
          </p:nvGrpSpPr>
          <p:grpSpPr>
            <a:xfrm>
              <a:off x="285750" y="2524125"/>
              <a:ext cx="3476700" cy="971700"/>
              <a:chOff x="285750" y="2524125"/>
              <a:chExt cx="3476700" cy="971700"/>
            </a:xfrm>
          </p:grpSpPr>
          <p:sp>
            <p:nvSpPr>
              <p:cNvPr id="296" name="Google Shape;296;p18"/>
              <p:cNvSpPr/>
              <p:nvPr/>
            </p:nvSpPr>
            <p:spPr>
              <a:xfrm>
                <a:off x="285750" y="2524125"/>
                <a:ext cx="14763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8"/>
              <p:cNvSpPr txBox="1"/>
              <p:nvPr/>
            </p:nvSpPr>
            <p:spPr>
              <a:xfrm>
                <a:off x="285750" y="2524125"/>
                <a:ext cx="147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DIVISOR == 0</a:t>
                </a:r>
                <a:endParaRPr b="1" sz="9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Unsigned Div-by-Zero</a:t>
                </a:r>
                <a:endParaRPr b="0" sz="8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2381250" y="25241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8"/>
              <p:cNvSpPr txBox="1"/>
              <p:nvPr/>
            </p:nvSpPr>
            <p:spPr>
              <a:xfrm>
                <a:off x="2381250" y="25241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Result Output</a:t>
                </a:r>
                <a:endParaRPr b="0" sz="8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32'h00000000</a:t>
                </a:r>
                <a:endParaRPr b="1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2381250" y="30956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8"/>
              <p:cNvSpPr txBox="1"/>
              <p:nvPr/>
            </p:nvSpPr>
            <p:spPr>
              <a:xfrm>
                <a:off x="2381250" y="30956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A3E2D1"/>
                    </a:solidFill>
                    <a:latin typeface="Arial"/>
                    <a:ea typeface="Arial"/>
                    <a:cs typeface="Arial"/>
                    <a:sym typeface="Arial"/>
                  </a:rPr>
                  <a:t>Error Flag</a:t>
                </a:r>
                <a:endParaRPr b="0" sz="850">
                  <a:solidFill>
                    <a:srgbClr val="A3E2D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ASSERTED (1'b1)</a:t>
                </a:r>
                <a:endPara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1762125" y="2724150"/>
                <a:ext cx="552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2247900" y="26765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>
                <a:off x="1762125" y="2724150"/>
                <a:ext cx="5526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41379" y="0"/>
                    </a:lnTo>
                    <a:lnTo>
                      <a:pt x="41379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247900" y="315277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1762125" y="3295650"/>
                <a:ext cx="552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2247900" y="32480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8" name="Google Shape;308;p18"/>
          <p:cNvGrpSpPr/>
          <p:nvPr/>
        </p:nvGrpSpPr>
        <p:grpSpPr>
          <a:xfrm>
            <a:off x="4667250" y="5667375"/>
            <a:ext cx="2857500" cy="304800"/>
            <a:chOff x="0" y="0"/>
            <a:chExt cx="2857500" cy="304800"/>
          </a:xfrm>
        </p:grpSpPr>
        <p:sp>
          <p:nvSpPr>
            <p:cNvPr id="309" name="Google Shape;309;p18"/>
            <p:cNvSpPr/>
            <p:nvPr/>
          </p:nvSpPr>
          <p:spPr>
            <a:xfrm>
              <a:off x="0" y="0"/>
              <a:ext cx="2857500" cy="304800"/>
            </a:xfrm>
            <a:prstGeom prst="roundRect">
              <a:avLst>
                <a:gd fmla="val 50000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8"/>
            <p:cNvSpPr txBox="1"/>
            <p:nvPr/>
          </p:nvSpPr>
          <p:spPr>
            <a:xfrm>
              <a:off x="0" y="0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Source HDL: </a:t>
              </a:r>
              <a:r>
                <a:rPr b="1" lang="en" sz="11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19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316" name="Google Shape;316;p19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" name="Google Shape;319;p19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320" name="Google Shape;320;p19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" name="Google Shape;321;p1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22" name="Google Shape;322;p19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23" name="Google Shape;323;p19"/>
          <p:cNvSpPr txBox="1"/>
          <p:nvPr/>
        </p:nvSpPr>
        <p:spPr>
          <a:xfrm>
            <a:off x="476250" y="904875"/>
            <a:ext cx="11239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Slave Interface &amp; Handshaking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24" name="Google Shape;324;p19"/>
          <p:cNvGrpSpPr/>
          <p:nvPr/>
        </p:nvGrpSpPr>
        <p:grpSpPr>
          <a:xfrm>
            <a:off x="476250" y="2047875"/>
            <a:ext cx="5381700" cy="3762300"/>
            <a:chOff x="0" y="0"/>
            <a:chExt cx="5381700" cy="3762300"/>
          </a:xfrm>
        </p:grpSpPr>
        <p:sp>
          <p:nvSpPr>
            <p:cNvPr id="325" name="Google Shape;325;p19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Handshaking Behavior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7" name="Google Shape;327;p19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19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axi4lite_slave.sv Protocol Support: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independent Address Write (AW) and Write Data (W) handshakes.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1: AW valid signal asserted before 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2: W valid signal asserted before AW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3: Concurrent AW and W validation in the same clock cycle.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" name="Google Shape;329;p19"/>
          <p:cNvGrpSpPr/>
          <p:nvPr/>
        </p:nvGrpSpPr>
        <p:grpSpPr>
          <a:xfrm>
            <a:off x="6334125" y="2047875"/>
            <a:ext cx="5381700" cy="3762300"/>
            <a:chOff x="0" y="0"/>
            <a:chExt cx="5381700" cy="3762300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 &amp; Read Flow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2" name="Google Shape;332;p19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19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Response (BRESP) Details: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write response (BRESP) is hardwired to always return </a:t>
              </a:r>
              <a:r>
                <a:rPr b="1" lang="en" sz="15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OKAY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upon completion.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Handshaking Flow: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Initiated by an Address Read (AR) channel handshake.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Followed immediately by an RVALID assertion to transmit read data.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4" name="Google Shape;334;p1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6" name="Google Shape;336;p19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337" name="Google Shape;337;p19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8" name="Google Shape;338;p19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9" name="Google Shape;339;p19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20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0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20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Avalon-MM to AXI4-Lite Bridge Implementation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 control state machine and bridge control logic mechanics in </a:t>
            </a:r>
            <a:r>
              <a:rPr b="1" i="0" lang="en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avalon_axi4lite_bridge.sv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1" name="Google Shape;351;p20"/>
          <p:cNvGrpSpPr/>
          <p:nvPr/>
        </p:nvGrpSpPr>
        <p:grpSpPr>
          <a:xfrm>
            <a:off x="809625" y="1857375"/>
            <a:ext cx="10572600" cy="666900"/>
            <a:chOff x="809625" y="0"/>
            <a:chExt cx="10572600" cy="666900"/>
          </a:xfrm>
        </p:grpSpPr>
        <p:grpSp>
          <p:nvGrpSpPr>
            <p:cNvPr id="352" name="Google Shape;352;p20"/>
            <p:cNvGrpSpPr/>
            <p:nvPr/>
          </p:nvGrpSpPr>
          <p:grpSpPr>
            <a:xfrm>
              <a:off x="809625" y="0"/>
              <a:ext cx="1809600" cy="666900"/>
              <a:chOff x="0" y="0"/>
              <a:chExt cx="1809600" cy="666900"/>
            </a:xfrm>
          </p:grpSpPr>
          <p:sp>
            <p:nvSpPr>
              <p:cNvPr id="353" name="Google Shape;353;p20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0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01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ST_IDLE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5" name="Google Shape;355;p20"/>
            <p:cNvSpPr/>
            <p:nvPr/>
          </p:nvSpPr>
          <p:spPr>
            <a:xfrm>
              <a:off x="26860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0"/>
            <p:cNvGrpSpPr/>
            <p:nvPr/>
          </p:nvGrpSpPr>
          <p:grpSpPr>
            <a:xfrm>
              <a:off x="3000375" y="0"/>
              <a:ext cx="1809600" cy="666900"/>
              <a:chOff x="0" y="0"/>
              <a:chExt cx="1809600" cy="666900"/>
            </a:xfrm>
          </p:grpSpPr>
          <p:sp>
            <p:nvSpPr>
              <p:cNvPr id="357" name="Google Shape;357;p20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0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02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9" name="Google Shape;359;p20"/>
            <p:cNvSpPr/>
            <p:nvPr/>
          </p:nvSpPr>
          <p:spPr>
            <a:xfrm>
              <a:off x="48768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20"/>
            <p:cNvGrpSpPr/>
            <p:nvPr/>
          </p:nvGrpSpPr>
          <p:grpSpPr>
            <a:xfrm>
              <a:off x="5191125" y="0"/>
              <a:ext cx="1809600" cy="666900"/>
              <a:chOff x="0" y="0"/>
              <a:chExt cx="1809600" cy="666900"/>
            </a:xfrm>
          </p:grpSpPr>
          <p:sp>
            <p:nvSpPr>
              <p:cNvPr id="361" name="Google Shape;361;p20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0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03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ST_WRITE_RESP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20"/>
            <p:cNvSpPr/>
            <p:nvPr/>
          </p:nvSpPr>
          <p:spPr>
            <a:xfrm>
              <a:off x="70675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20"/>
            <p:cNvGrpSpPr/>
            <p:nvPr/>
          </p:nvGrpSpPr>
          <p:grpSpPr>
            <a:xfrm>
              <a:off x="7381875" y="0"/>
              <a:ext cx="1809600" cy="666900"/>
              <a:chOff x="0" y="0"/>
              <a:chExt cx="1809600" cy="666900"/>
            </a:xfrm>
          </p:grpSpPr>
          <p:sp>
            <p:nvSpPr>
              <p:cNvPr id="365" name="Google Shape;365;p20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04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ST_READ_ADDR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20"/>
            <p:cNvSpPr/>
            <p:nvPr/>
          </p:nvSpPr>
          <p:spPr>
            <a:xfrm>
              <a:off x="92583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20"/>
            <p:cNvGrpSpPr/>
            <p:nvPr/>
          </p:nvGrpSpPr>
          <p:grpSpPr>
            <a:xfrm>
              <a:off x="9572625" y="0"/>
              <a:ext cx="1809600" cy="666900"/>
              <a:chOff x="0" y="0"/>
              <a:chExt cx="1809600" cy="666900"/>
            </a:xfrm>
          </p:grpSpPr>
          <p:sp>
            <p:nvSpPr>
              <p:cNvPr id="369" name="Google Shape;369;p20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0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05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ST_READ_DATA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1" name="Google Shape;371;p20"/>
          <p:cNvGrpSpPr/>
          <p:nvPr/>
        </p:nvGrpSpPr>
        <p:grpSpPr>
          <a:xfrm>
            <a:off x="523875" y="2809875"/>
            <a:ext cx="11144400" cy="2952900"/>
            <a:chOff x="523875" y="0"/>
            <a:chExt cx="11144400" cy="2952900"/>
          </a:xfrm>
        </p:grpSpPr>
        <p:grpSp>
          <p:nvGrpSpPr>
            <p:cNvPr id="372" name="Google Shape;372;p20"/>
            <p:cNvGrpSpPr/>
            <p:nvPr/>
          </p:nvGrpSpPr>
          <p:grpSpPr>
            <a:xfrm>
              <a:off x="523875" y="0"/>
              <a:ext cx="3524400" cy="2952900"/>
              <a:chOff x="0" y="0"/>
              <a:chExt cx="3524400" cy="2952900"/>
            </a:xfrm>
          </p:grpSpPr>
          <p:sp>
            <p:nvSpPr>
              <p:cNvPr id="373" name="Google Shape;373;p20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 Assertion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0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Key control logic asserts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avs_waitrequest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 1.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assertion occurs and remains active when the bridge interface is busy.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77" name="Google Shape;377;p20"/>
            <p:cNvGrpSpPr/>
            <p:nvPr/>
          </p:nvGrpSpPr>
          <p:grpSpPr>
            <a:xfrm>
              <a:off x="4333875" y="0"/>
              <a:ext cx="3524400" cy="2952900"/>
              <a:chOff x="0" y="0"/>
              <a:chExt cx="3524400" cy="2952900"/>
            </a:xfrm>
          </p:grpSpPr>
          <p:sp>
            <p:nvSpPr>
              <p:cNvPr id="378" name="Google Shape;378;p20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Phase Handshakes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0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Utilizes internal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and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registers.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These dedicated registers handle phase-shifted AW/W AXI handshakes.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82" name="Google Shape;382;p20"/>
            <p:cNvGrpSpPr/>
            <p:nvPr/>
          </p:nvGrpSpPr>
          <p:grpSpPr>
            <a:xfrm>
              <a:off x="8143875" y="0"/>
              <a:ext cx="3524400" cy="2952900"/>
              <a:chOff x="0" y="0"/>
              <a:chExt cx="3524400" cy="2952900"/>
            </a:xfrm>
          </p:grpSpPr>
          <p:sp>
            <p:nvSpPr>
              <p:cNvPr id="383" name="Google Shape;383;p20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0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Read Data Validity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0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avs_readdatavalid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signal pulses active for exactly one cycle.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This signal assertion is triggered upon receiving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RVALID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87" name="Google Shape;387;p20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20"/>
          <p:cNvSpPr/>
          <p:nvPr>
            <p:ph idx="6" type="pic"/>
          </p:nvPr>
        </p:nvSpPr>
        <p:spPr>
          <a:xfrm>
            <a:off x="-930168" y="6048718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20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21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396" name="Google Shape;396;p21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2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9" name="Google Shape;399;p21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400" name="Google Shape;400;p21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" name="Google Shape;401;p2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02" name="Google Shape;402;p21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03" name="Google Shape;403;p21"/>
          <p:cNvSpPr txBox="1"/>
          <p:nvPr/>
        </p:nvSpPr>
        <p:spPr>
          <a:xfrm>
            <a:off x="381000" y="1000125"/>
            <a:ext cx="114300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Strategy &amp; Testbench Framework</a:t>
            </a:r>
            <a:endParaRPr b="1" i="0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4" name="Google Shape;404;p21"/>
          <p:cNvGrpSpPr/>
          <p:nvPr/>
        </p:nvGrpSpPr>
        <p:grpSpPr>
          <a:xfrm>
            <a:off x="381000" y="1762125"/>
            <a:ext cx="5572200" cy="1905000"/>
            <a:chOff x="0" y="0"/>
            <a:chExt cx="5572200" cy="1905000"/>
          </a:xfrm>
        </p:grpSpPr>
        <p:sp>
          <p:nvSpPr>
            <p:cNvPr id="405" name="Google Shape;405;p21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Bank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modular verification of byte-enables and invalid addresses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1" name="Google Shape;411;p21"/>
          <p:cNvGrpSpPr/>
          <p:nvPr/>
        </p:nvGrpSpPr>
        <p:grpSpPr>
          <a:xfrm>
            <a:off x="6238875" y="1762125"/>
            <a:ext cx="5572200" cy="1905000"/>
            <a:chOff x="0" y="0"/>
            <a:chExt cx="5572200" cy="1905000"/>
          </a:xfrm>
        </p:grpSpPr>
        <p:sp>
          <p:nvSpPr>
            <p:cNvPr id="412" name="Google Shape;412;p21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1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 Slave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Focusing on handshake alignment and stalls. Verified modularly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8" name="Google Shape;418;p21"/>
          <p:cNvGrpSpPr/>
          <p:nvPr/>
        </p:nvGrpSpPr>
        <p:grpSpPr>
          <a:xfrm>
            <a:off x="381000" y="3905250"/>
            <a:ext cx="5572200" cy="1905000"/>
            <a:chOff x="0" y="0"/>
            <a:chExt cx="5572200" cy="1905000"/>
          </a:xfrm>
        </p:grpSpPr>
        <p:sp>
          <p:nvSpPr>
            <p:cNvPr id="419" name="Google Shape;419;p21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1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correct Avalon request translation. Driven by 80 random iterations per modular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5" name="Google Shape;425;p21"/>
          <p:cNvGrpSpPr/>
          <p:nvPr/>
        </p:nvGrpSpPr>
        <p:grpSpPr>
          <a:xfrm>
            <a:off x="6238875" y="3905250"/>
            <a:ext cx="5572200" cy="1905000"/>
            <a:chOff x="0" y="0"/>
            <a:chExt cx="5572200" cy="1905000"/>
          </a:xfrm>
        </p:grpSpPr>
        <p:sp>
          <p:nvSpPr>
            <p:cNvPr id="426" name="Google Shape;426;p21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21"/>
            <p:cNvGrpSpPr/>
            <p:nvPr/>
          </p:nvGrpSpPr>
          <p:grpSpPr>
            <a:xfrm>
              <a:off x="904875" y="142875"/>
              <a:ext cx="4476900" cy="1619100"/>
              <a:chOff x="0" y="0"/>
              <a:chExt cx="4476900" cy="1619100"/>
            </a:xfrm>
          </p:grpSpPr>
          <p:sp>
            <p:nvSpPr>
              <p:cNvPr id="432" name="Google Shape;432;p21"/>
              <p:cNvSpPr txBox="1"/>
              <p:nvPr/>
            </p:nvSpPr>
            <p:spPr>
              <a:xfrm>
                <a:off x="0" y="0"/>
                <a:ext cx="1238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240</a:t>
                </a:r>
                <a:endParaRPr b="1" sz="4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Transactions</a:t>
                </a:r>
                <a:endParaRPr b="1"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1"/>
              <p:cNvSpPr txBox="1"/>
              <p:nvPr/>
            </p:nvSpPr>
            <p:spPr>
              <a:xfrm>
                <a:off x="1333500" y="0"/>
                <a:ext cx="3143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Total Scale &amp; Strategy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Self-checking testbenches use custom </a:t>
                </a:r>
                <a:r>
                  <a:rPr b="0" lang="en" sz="1100">
                    <a:solidFill>
                      <a:srgbClr val="05624A"/>
                    </a:solidFill>
                    <a:highlight>
                      <a:srgbClr val="E6F4F0"/>
                    </a:highlight>
                    <a:latin typeface="Arial"/>
                    <a:ea typeface="Arial"/>
                    <a:cs typeface="Arial"/>
                    <a:sym typeface="Arial"/>
                  </a:rPr>
                  <a:t>check()</a:t>
                </a: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tasks for PASS/FAIL logging. Stimulus combines directed cases and random patterns.</a:t>
                </a:r>
                <a:endParaRPr b="0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34" name="Google Shape;434;p21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435" name="Google Shape;435;p2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6" name="Google Shape;436;p21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437" name="Google Shape;437;p21"/>
              <p:cNvPicPr preferRelativeResize="0"/>
              <p:nvPr/>
            </p:nvPicPr>
            <p:blipFill rotWithShape="1">
              <a:blip r:embed="rId6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8" name="Google Shape;438;p21"/>
              <p:cNvPicPr preferRelativeResize="0"/>
              <p:nvPr/>
            </p:nvPicPr>
            <p:blipFill rotWithShape="1">
              <a:blip r:embed="rId7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9" name="Google Shape;439;p21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22"/>
          <p:cNvGrpSpPr/>
          <p:nvPr/>
        </p:nvGrpSpPr>
        <p:grpSpPr>
          <a:xfrm>
            <a:off x="-4762" y="-6"/>
            <a:ext cx="12199163" cy="6886881"/>
            <a:chOff x="-4762" y="-6"/>
            <a:chExt cx="12199163" cy="6886881"/>
          </a:xfrm>
        </p:grpSpPr>
        <p:sp>
          <p:nvSpPr>
            <p:cNvPr id="445" name="Google Shape;445;p2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6" name="Google Shape;446;p22"/>
            <p:cNvGrpSpPr/>
            <p:nvPr/>
          </p:nvGrpSpPr>
          <p:grpSpPr>
            <a:xfrm>
              <a:off x="-4762" y="-6"/>
              <a:ext cx="12197919" cy="891792"/>
              <a:chOff x="-4762" y="-6"/>
              <a:chExt cx="12197919" cy="891792"/>
            </a:xfrm>
          </p:grpSpPr>
          <p:pic>
            <p:nvPicPr>
              <p:cNvPr id="447" name="Google Shape;447;p22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10"/>
              <a:stretch/>
            </p:blipFill>
            <p:spPr>
              <a:xfrm>
                <a:off x="-4762" y="0"/>
                <a:ext cx="12196800" cy="6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" name="Google Shape;448;p22"/>
              <p:cNvSpPr/>
              <p:nvPr/>
            </p:nvSpPr>
            <p:spPr>
              <a:xfrm flipH="1" rot="-5400000">
                <a:off x="5780206" y="-5781456"/>
                <a:ext cx="631500" cy="1219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2"/>
              <p:cNvSpPr txBox="1"/>
              <p:nvPr/>
            </p:nvSpPr>
            <p:spPr>
              <a:xfrm>
                <a:off x="240281" y="141423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0" name="Google Shape;450;p22"/>
              <p:cNvGrpSpPr/>
              <p:nvPr/>
            </p:nvGrpSpPr>
            <p:grpSpPr>
              <a:xfrm>
                <a:off x="4477020" y="263617"/>
                <a:ext cx="3176567" cy="628170"/>
                <a:chOff x="4276725" y="109041"/>
                <a:chExt cx="3569566" cy="705886"/>
              </a:xfrm>
            </p:grpSpPr>
            <p:pic>
              <p:nvPicPr>
                <p:cNvPr id="451" name="Google Shape;451;p2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76725" y="152400"/>
                  <a:ext cx="3238200" cy="644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52" name="Google Shape;452;p22"/>
                <p:cNvSpPr/>
                <p:nvPr/>
              </p:nvSpPr>
              <p:spPr>
                <a:xfrm>
                  <a:off x="4345591" y="214327"/>
                  <a:ext cx="3500700" cy="600600"/>
                </a:xfrm>
                <a:prstGeom prst="roundRect">
                  <a:avLst>
                    <a:gd fmla="val 3959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453" name="Google Shape;453;p2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-80" l="0" r="10" t="80"/>
                <a:stretch/>
              </p:blipFill>
              <p:spPr>
                <a:xfrm>
                  <a:off x="5604843" y="109041"/>
                  <a:ext cx="775800" cy="64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54" name="Google Shape;454;p22"/>
            <p:cNvGrpSpPr/>
            <p:nvPr/>
          </p:nvGrpSpPr>
          <p:grpSpPr>
            <a:xfrm>
              <a:off x="0" y="1425"/>
              <a:ext cx="12194400" cy="6885450"/>
              <a:chOff x="0" y="1425"/>
              <a:chExt cx="12194400" cy="6885450"/>
            </a:xfrm>
          </p:grpSpPr>
          <p:sp>
            <p:nvSpPr>
              <p:cNvPr id="455" name="Google Shape;455;p22"/>
              <p:cNvSpPr/>
              <p:nvPr/>
            </p:nvSpPr>
            <p:spPr>
              <a:xfrm>
                <a:off x="0" y="1425"/>
                <a:ext cx="12194400" cy="6863700"/>
              </a:xfrm>
              <a:custGeom>
                <a:rect b="b" l="l" r="r" t="t"/>
                <a:pathLst>
                  <a:path extrusionOk="0" h="120000" w="120000">
                    <a:moveTo>
                      <a:pt x="0" y="115362"/>
                    </a:moveTo>
                    <a:cubicBezTo>
                      <a:pt x="0" y="117896"/>
                      <a:pt x="1156" y="119951"/>
                      <a:pt x="2583" y="119951"/>
                    </a:cubicBezTo>
                    <a:lnTo>
                      <a:pt x="117419" y="119951"/>
                    </a:lnTo>
                    <a:cubicBezTo>
                      <a:pt x="118843" y="119951"/>
                      <a:pt x="120000" y="117896"/>
                      <a:pt x="120000" y="11536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4638"/>
                    </a:lnTo>
                    <a:cubicBezTo>
                      <a:pt x="120000" y="2104"/>
                      <a:pt x="118843" y="49"/>
                      <a:pt x="117419" y="49"/>
                    </a:cubicBezTo>
                    <a:lnTo>
                      <a:pt x="2583" y="49"/>
                    </a:lnTo>
                    <a:cubicBezTo>
                      <a:pt x="1156" y="49"/>
                      <a:pt x="0" y="2104"/>
                      <a:pt x="0" y="46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6" name="Google Shape;456;p22"/>
              <p:cNvGrpSpPr/>
              <p:nvPr/>
            </p:nvGrpSpPr>
            <p:grpSpPr>
              <a:xfrm>
                <a:off x="11503192" y="6266643"/>
                <a:ext cx="614845" cy="620233"/>
                <a:chOff x="11077575" y="194161"/>
                <a:chExt cx="547800" cy="552600"/>
              </a:xfrm>
            </p:grpSpPr>
            <p:pic>
              <p:nvPicPr>
                <p:cNvPr id="457" name="Google Shape;457;p2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10" l="0" r="0" t="0"/>
                <a:stretch/>
              </p:blipFill>
              <p:spPr>
                <a:xfrm>
                  <a:off x="11077575" y="194161"/>
                  <a:ext cx="5478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58" name="Google Shape;458;p22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60" l="0" r="0" t="60"/>
                <a:stretch/>
              </p:blipFill>
              <p:spPr>
                <a:xfrm>
                  <a:off x="11209115" y="329943"/>
                  <a:ext cx="252600" cy="247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459" name="Google Shape;459;p22"/>
              <p:cNvSpPr txBox="1"/>
              <p:nvPr/>
            </p:nvSpPr>
            <p:spPr>
              <a:xfrm>
                <a:off x="4038600" y="6356347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0" name="Google Shape;460;p22"/>
          <p:cNvSpPr txBox="1"/>
          <p:nvPr/>
        </p:nvSpPr>
        <p:spPr>
          <a:xfrm>
            <a:off x="476250" y="904875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Directed Verification Scenarios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1" name="Google Shape;461;p22"/>
          <p:cNvGrpSpPr/>
          <p:nvPr/>
        </p:nvGrpSpPr>
        <p:grpSpPr>
          <a:xfrm>
            <a:off x="523875" y="1762125"/>
            <a:ext cx="5381700" cy="3952800"/>
            <a:chOff x="0" y="0"/>
            <a:chExt cx="5381700" cy="3952800"/>
          </a:xfrm>
        </p:grpSpPr>
        <p:sp>
          <p:nvSpPr>
            <p:cNvPr id="462" name="Google Shape;462;p22"/>
            <p:cNvSpPr/>
            <p:nvPr/>
          </p:nvSpPr>
          <p:spPr>
            <a:xfrm>
              <a:off x="0" y="0"/>
              <a:ext cx="53817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253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Data-Oriented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4" name="Google Shape;464;p22"/>
            <p:cNvGrpSpPr/>
            <p:nvPr/>
          </p:nvGrpSpPr>
          <p:grpSpPr>
            <a:xfrm>
              <a:off x="333375" y="809625"/>
              <a:ext cx="4762500" cy="571500"/>
              <a:chOff x="333375" y="0"/>
              <a:chExt cx="4762500" cy="571500"/>
            </a:xfrm>
          </p:grpSpPr>
          <p:sp>
            <p:nvSpPr>
              <p:cNvPr id="465" name="Google Shape;465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Reset Defaults: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Core directed tests verify that operand, status, and result registers default to 0 on reset.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7" name="Google Shape;467;p22"/>
            <p:cNvGrpSpPr/>
            <p:nvPr/>
          </p:nvGrpSpPr>
          <p:grpSpPr>
            <a:xfrm>
              <a:off x="333375" y="1476375"/>
              <a:ext cx="4762500" cy="571500"/>
              <a:chOff x="333375" y="0"/>
              <a:chExt cx="4762500" cy="571500"/>
            </a:xfrm>
          </p:grpSpPr>
          <p:sp>
            <p:nvSpPr>
              <p:cNvPr id="468" name="Google Shape;468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32-Bit Access: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Tests confirm full 32-bit reads/writes on Operands A and B.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333375" y="2143125"/>
              <a:ext cx="4762500" cy="762000"/>
              <a:chOff x="333375" y="0"/>
              <a:chExt cx="4762500" cy="7620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2"/>
              <p:cNvSpPr txBox="1"/>
              <p:nvPr/>
            </p:nvSpPr>
            <p:spPr>
              <a:xfrm>
                <a:off x="523875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Byte-Enables: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Writing 0xAAAA5555 to 0x11223344 with strobe 4'b0101 yields 0x11AA3355.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73" name="Google Shape;473;p22"/>
            <p:cNvGrpSpPr/>
            <p:nvPr/>
          </p:nvGrpSpPr>
          <p:grpSpPr>
            <a:xfrm>
              <a:off x="333375" y="3048000"/>
              <a:ext cx="4762500" cy="571500"/>
              <a:chOff x="333375" y="0"/>
              <a:chExt cx="4762500" cy="571500"/>
            </a:xfrm>
          </p:grpSpPr>
          <p:sp>
            <p:nvSpPr>
              <p:cNvPr id="474" name="Google Shape;474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Opcode Masking: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Additional tests validate opcode masking to the lower nibble.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76" name="Google Shape;476;p22"/>
          <p:cNvGrpSpPr/>
          <p:nvPr/>
        </p:nvGrpSpPr>
        <p:grpSpPr>
          <a:xfrm>
            <a:off x="6286500" y="1762125"/>
            <a:ext cx="5381700" cy="3952800"/>
            <a:chOff x="0" y="0"/>
            <a:chExt cx="5381700" cy="3952800"/>
          </a:xfrm>
        </p:grpSpPr>
        <p:sp>
          <p:nvSpPr>
            <p:cNvPr id="477" name="Google Shape;477;p22"/>
            <p:cNvSpPr/>
            <p:nvPr/>
          </p:nvSpPr>
          <p:spPr>
            <a:xfrm>
              <a:off x="0" y="0"/>
              <a:ext cx="53817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253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2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Protocol-Oriented Control Flows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79" name="Google Shape;479;p22"/>
            <p:cNvGrpSpPr/>
            <p:nvPr/>
          </p:nvGrpSpPr>
          <p:grpSpPr>
            <a:xfrm>
              <a:off x="333375" y="809625"/>
              <a:ext cx="4762500" cy="571500"/>
              <a:chOff x="333375" y="0"/>
              <a:chExt cx="4762500" cy="571500"/>
            </a:xfrm>
          </p:grpSpPr>
          <p:sp>
            <p:nvSpPr>
              <p:cNvPr id="480" name="Google Shape;480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Timing Control: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Validate 1-cycle start_pulse generation.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82" name="Google Shape;482;p22"/>
            <p:cNvGrpSpPr/>
            <p:nvPr/>
          </p:nvGrpSpPr>
          <p:grpSpPr>
            <a:xfrm>
              <a:off x="333375" y="1476375"/>
              <a:ext cx="4762500" cy="571500"/>
              <a:chOff x="333375" y="0"/>
              <a:chExt cx="4762500" cy="571500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State Rejection: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busy state rejection of unexpected inputs.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85" name="Google Shape;485;p22"/>
            <p:cNvGrpSpPr/>
            <p:nvPr/>
          </p:nvGrpSpPr>
          <p:grpSpPr>
            <a:xfrm>
              <a:off x="333375" y="2143125"/>
              <a:ext cx="4762500" cy="762000"/>
              <a:chOff x="333375" y="0"/>
              <a:chExt cx="4762500" cy="762000"/>
            </a:xfrm>
          </p:grpSpPr>
          <p:sp>
            <p:nvSpPr>
              <p:cNvPr id="486" name="Google Shape;486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 txBox="1"/>
              <p:nvPr/>
            </p:nvSpPr>
            <p:spPr>
              <a:xfrm>
                <a:off x="523875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STATUS Done: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STATUS done states transition and assert correctly.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88" name="Google Shape;488;p22"/>
            <p:cNvGrpSpPr/>
            <p:nvPr/>
          </p:nvGrpSpPr>
          <p:grpSpPr>
            <a:xfrm>
              <a:off x="333375" y="3048000"/>
              <a:ext cx="4762500" cy="571500"/>
              <a:chOff x="333375" y="0"/>
              <a:chExt cx="4762500" cy="571500"/>
            </a:xfrm>
          </p:grpSpPr>
          <p:sp>
            <p:nvSpPr>
              <p:cNvPr id="489" name="Google Shape;489;p22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Address Limits: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invalid address boundaries return 0 on read.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23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3"/>
          <p:cNvSpPr/>
          <p:nvPr>
            <p:ph idx="3" type="pic"/>
          </p:nvPr>
        </p:nvSpPr>
        <p:spPr>
          <a:xfrm>
            <a:off x="4477020" y="302202"/>
            <a:ext cx="2881684" cy="573187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23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3"/>
          <p:cNvSpPr/>
          <p:nvPr>
            <p:ph idx="4" type="pic"/>
          </p:nvPr>
        </p:nvSpPr>
        <p:spPr>
          <a:xfrm>
            <a:off x="5658917" y="263168"/>
            <a:ext cx="690387" cy="571852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23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/>
          <p:nvPr>
            <p:ph idx="5" type="pic"/>
          </p:nvPr>
        </p:nvSpPr>
        <p:spPr>
          <a:xfrm>
            <a:off x="11503192" y="6266643"/>
            <a:ext cx="614845" cy="620233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23"/>
          <p:cNvSpPr/>
          <p:nvPr>
            <p:ph idx="6" type="pic"/>
          </p:nvPr>
        </p:nvSpPr>
        <p:spPr>
          <a:xfrm>
            <a:off x="11650831" y="6419043"/>
            <a:ext cx="283516" cy="277792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23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" name="Google Shape;506;p23"/>
          <p:cNvGrpSpPr/>
          <p:nvPr/>
        </p:nvGrpSpPr>
        <p:grpSpPr>
          <a:xfrm>
            <a:off x="571500" y="904875"/>
            <a:ext cx="11049000" cy="1095300"/>
            <a:chOff x="0" y="0"/>
            <a:chExt cx="11049000" cy="1095300"/>
          </a:xfrm>
        </p:grpSpPr>
        <p:sp>
          <p:nvSpPr>
            <p:cNvPr id="507" name="Google Shape;507;p23"/>
            <p:cNvSpPr/>
            <p:nvPr/>
          </p:nvSpPr>
          <p:spPr>
            <a:xfrm>
              <a:off x="0" y="0"/>
              <a:ext cx="110490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 txBox="1"/>
            <p:nvPr/>
          </p:nvSpPr>
          <p:spPr>
            <a:xfrm>
              <a:off x="0" y="0"/>
              <a:ext cx="11049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Directed Tests for Register Bank Behavior</a:t>
              </a:r>
              <a:endParaRPr b="1" i="0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Testing axi_register_bank.sv ensures register-level stability before protocol integration.</a:t>
              </a:r>
              <a:endParaRPr b="0" i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09" name="Google Shape;509;p23"/>
          <p:cNvGrpSpPr/>
          <p:nvPr/>
        </p:nvGrpSpPr>
        <p:grpSpPr>
          <a:xfrm>
            <a:off x="571500" y="2190750"/>
            <a:ext cx="5334000" cy="1666800"/>
            <a:chOff x="0" y="0"/>
            <a:chExt cx="5334000" cy="1666800"/>
          </a:xfrm>
        </p:grpSpPr>
        <p:sp>
          <p:nvSpPr>
            <p:cNvPr id="510" name="Google Shape;510;p23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0" y="0"/>
              <a:ext cx="152400" cy="1666800"/>
            </a:xfrm>
            <a:custGeom>
              <a:rect b="b" l="l" r="r" t="t"/>
              <a:pathLst>
                <a:path extrusionOk="0" h="120000" w="120000">
                  <a:moveTo>
                    <a:pt x="0" y="8229"/>
                  </a:moveTo>
                  <a:cubicBezTo>
                    <a:pt x="0" y="6047"/>
                    <a:pt x="9488" y="3952"/>
                    <a:pt x="26358" y="2410"/>
                  </a:cubicBezTo>
                  <a:cubicBezTo>
                    <a:pt x="43228" y="867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27"/>
                    <a:pt x="26358" y="117585"/>
                  </a:cubicBezTo>
                  <a:cubicBezTo>
                    <a:pt x="9488" y="116042"/>
                    <a:pt x="0" y="113949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3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3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Reset &amp; Basic Reads/Writes</a:t>
              </a:r>
              <a:endParaRPr b="1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Check reset values (0) and verify operand read/writes (e.g., ADDR_B = 0xCAFE_BABE).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5" name="Google Shape;515;p23"/>
          <p:cNvGrpSpPr/>
          <p:nvPr/>
        </p:nvGrpSpPr>
        <p:grpSpPr>
          <a:xfrm>
            <a:off x="6286500" y="2190750"/>
            <a:ext cx="5334000" cy="1666800"/>
            <a:chOff x="0" y="0"/>
            <a:chExt cx="5334000" cy="1666800"/>
          </a:xfrm>
        </p:grpSpPr>
        <p:sp>
          <p:nvSpPr>
            <p:cNvPr id="516" name="Google Shape;516;p23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0" y="0"/>
              <a:ext cx="152400" cy="1666800"/>
            </a:xfrm>
            <a:custGeom>
              <a:rect b="b" l="l" r="r" t="t"/>
              <a:pathLst>
                <a:path extrusionOk="0" h="120000" w="120000">
                  <a:moveTo>
                    <a:pt x="0" y="8229"/>
                  </a:moveTo>
                  <a:cubicBezTo>
                    <a:pt x="0" y="6047"/>
                    <a:pt x="9488" y="3952"/>
                    <a:pt x="26358" y="2410"/>
                  </a:cubicBezTo>
                  <a:cubicBezTo>
                    <a:pt x="43228" y="867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27"/>
                    <a:pt x="26358" y="117585"/>
                  </a:cubicBezTo>
                  <a:cubicBezTo>
                    <a:pt x="9488" y="116042"/>
                    <a:pt x="0" y="113949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3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3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Strobe &amp; Byte-Enables</a:t>
              </a:r>
              <a:endParaRPr b="1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Confirm byte-enable logic where strobe 4'b0101 updates specific bytes.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>
            <a:off x="571500" y="4048125"/>
            <a:ext cx="5334000" cy="1666800"/>
            <a:chOff x="0" y="0"/>
            <a:chExt cx="5334000" cy="1666800"/>
          </a:xfrm>
        </p:grpSpPr>
        <p:sp>
          <p:nvSpPr>
            <p:cNvPr id="522" name="Google Shape;522;p23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0" y="0"/>
              <a:ext cx="152400" cy="1666800"/>
            </a:xfrm>
            <a:custGeom>
              <a:rect b="b" l="l" r="r" t="t"/>
              <a:pathLst>
                <a:path extrusionOk="0" h="120000" w="120000">
                  <a:moveTo>
                    <a:pt x="0" y="8229"/>
                  </a:moveTo>
                  <a:cubicBezTo>
                    <a:pt x="0" y="6047"/>
                    <a:pt x="9488" y="3952"/>
                    <a:pt x="26358" y="2410"/>
                  </a:cubicBezTo>
                  <a:cubicBezTo>
                    <a:pt x="43228" y="867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27"/>
                    <a:pt x="26358" y="117585"/>
                  </a:cubicBezTo>
                  <a:cubicBezTo>
                    <a:pt x="9488" y="116042"/>
                    <a:pt x="0" y="113949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3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3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Masking</a:t>
              </a:r>
              <a:endParaRPr b="1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opcode masking (writing 0xFFFF_FF03 reads as 0x0000_0003).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7" name="Google Shape;527;p23"/>
          <p:cNvGrpSpPr/>
          <p:nvPr/>
        </p:nvGrpSpPr>
        <p:grpSpPr>
          <a:xfrm>
            <a:off x="6286500" y="4048125"/>
            <a:ext cx="5334000" cy="1666800"/>
            <a:chOff x="0" y="0"/>
            <a:chExt cx="5334000" cy="1666800"/>
          </a:xfrm>
        </p:grpSpPr>
        <p:sp>
          <p:nvSpPr>
            <p:cNvPr id="528" name="Google Shape;528;p23"/>
            <p:cNvSpPr/>
            <p:nvPr/>
          </p:nvSpPr>
          <p:spPr>
            <a:xfrm>
              <a:off x="0" y="0"/>
              <a:ext cx="53340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0" y="0"/>
              <a:ext cx="152400" cy="1666800"/>
            </a:xfrm>
            <a:custGeom>
              <a:rect b="b" l="l" r="r" t="t"/>
              <a:pathLst>
                <a:path extrusionOk="0" h="120000" w="120000">
                  <a:moveTo>
                    <a:pt x="0" y="8229"/>
                  </a:moveTo>
                  <a:cubicBezTo>
                    <a:pt x="0" y="6047"/>
                    <a:pt x="9488" y="3952"/>
                    <a:pt x="26358" y="2410"/>
                  </a:cubicBezTo>
                  <a:cubicBezTo>
                    <a:pt x="43228" y="867"/>
                    <a:pt x="66122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66122" y="120000"/>
                    <a:pt x="43248" y="119127"/>
                    <a:pt x="26358" y="117585"/>
                  </a:cubicBezTo>
                  <a:cubicBezTo>
                    <a:pt x="9488" y="116042"/>
                    <a:pt x="0" y="113949"/>
                    <a:pt x="0" y="111771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295275" y="604838"/>
              <a:ext cx="457200" cy="457200"/>
            </a:xfrm>
            <a:prstGeom prst="ellipse">
              <a:avLst/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3"/>
            <p:cNvSpPr txBox="1"/>
            <p:nvPr/>
          </p:nvSpPr>
          <p:spPr>
            <a:xfrm>
              <a:off x="295275" y="6048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3"/>
            <p:cNvSpPr txBox="1"/>
            <p:nvPr/>
          </p:nvSpPr>
          <p:spPr>
            <a:xfrm>
              <a:off x="952500" y="190500"/>
              <a:ext cx="41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Control/Status &amp; Error State Flows</a:t>
              </a:r>
              <a:endParaRPr b="1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Confirm CTRL[0]=1 generates a 1-cycle start_pulse and STATUS flags reflect done (0x2) or error (0x6).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24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538" name="Google Shape;538;p24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24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0" name="Google Shape;540;p24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541" name="Google Shape;541;p24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4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3" name="Google Shape;543;p24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544" name="Google Shape;544;p24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5" name="Google Shape;545;p2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46" name="Google Shape;546;p24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47" name="Google Shape;547;p24"/>
          <p:cNvGrpSpPr/>
          <p:nvPr/>
        </p:nvGrpSpPr>
        <p:grpSpPr>
          <a:xfrm>
            <a:off x="285750" y="1000125"/>
            <a:ext cx="11620500" cy="714300"/>
            <a:chOff x="0" y="0"/>
            <a:chExt cx="11620500" cy="714300"/>
          </a:xfrm>
        </p:grpSpPr>
        <p:sp>
          <p:nvSpPr>
            <p:cNvPr id="548" name="Google Shape;548;p24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0" name="Google Shape;550;p24"/>
          <p:cNvGrpSpPr/>
          <p:nvPr/>
        </p:nvGrpSpPr>
        <p:grpSpPr>
          <a:xfrm>
            <a:off x="428625" y="1809750"/>
            <a:ext cx="5429400" cy="4095900"/>
            <a:chOff x="0" y="0"/>
            <a:chExt cx="5429400" cy="4095900"/>
          </a:xfrm>
        </p:grpSpPr>
        <p:sp>
          <p:nvSpPr>
            <p:cNvPr id="551" name="Google Shape;551;p24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2" name="Google Shape;552;p24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553" name="Google Shape;553;p24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AXI4-Lite Slave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55" name="Google Shape;555;p24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56" name="Google Shape;556;p24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557" name="Google Shape;557;p24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AW-before-W, W-before-AW (generating exactly one valid write pulse), and same-cycle AW/W writes.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ARVALID/ARREADY handshakes and back-to-back recovery during read transactions.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Hold BREADY/RREADY low during response stall tests to ensure VALID signals remain asserted.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9" name="Google Shape;559;p24"/>
            <p:cNvGrpSpPr/>
            <p:nvPr/>
          </p:nvGrpSpPr>
          <p:grpSpPr>
            <a:xfrm>
              <a:off x="381000" y="2809875"/>
              <a:ext cx="4581525" cy="1019175"/>
              <a:chOff x="381000" y="2809875"/>
              <a:chExt cx="4581525" cy="1019175"/>
            </a:xfrm>
          </p:grpSpPr>
          <p:sp>
            <p:nvSpPr>
              <p:cNvPr id="560" name="Google Shape;560;p24"/>
              <p:cNvSpPr/>
              <p:nvPr/>
            </p:nvSpPr>
            <p:spPr>
              <a:xfrm>
                <a:off x="381000" y="3095625"/>
                <a:ext cx="9525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 txBox="1"/>
              <p:nvPr/>
            </p:nvSpPr>
            <p:spPr>
              <a:xfrm>
                <a:off x="381000" y="3095625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2" name="Google Shape;562;p2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33500" y="32146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24"/>
              <p:cNvSpPr txBox="1"/>
              <p:nvPr/>
            </p:nvSpPr>
            <p:spPr>
              <a:xfrm>
                <a:off x="1333500" y="28098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AW/W, AR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4" name="Google Shape;564;p2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362075" y="33670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5" name="Google Shape;565;p24"/>
              <p:cNvSpPr txBox="1"/>
              <p:nvPr/>
            </p:nvSpPr>
            <p:spPr>
              <a:xfrm>
                <a:off x="1333500" y="34480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READY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2095500" y="3095625"/>
                <a:ext cx="1143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 txBox="1"/>
              <p:nvPr/>
            </p:nvSpPr>
            <p:spPr>
              <a:xfrm>
                <a:off x="2095500" y="3095625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 Slave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68" name="Google Shape;568;p2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286125" y="3290888"/>
                <a:ext cx="4287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9" name="Google Shape;569;p2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705225" y="3086100"/>
                <a:ext cx="1257300" cy="49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0" name="Google Shape;570;p24"/>
              <p:cNvSpPr txBox="1"/>
              <p:nvPr/>
            </p:nvSpPr>
            <p:spPr>
              <a:xfrm>
                <a:off x="3714750" y="3095625"/>
                <a:ext cx="1238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Directed</a:t>
                </a:r>
                <a:endParaRPr b="1" sz="12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Scenarios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1" name="Google Shape;571;p24"/>
          <p:cNvGrpSpPr/>
          <p:nvPr/>
        </p:nvGrpSpPr>
        <p:grpSpPr>
          <a:xfrm>
            <a:off x="6334125" y="1809750"/>
            <a:ext cx="5429400" cy="4095900"/>
            <a:chOff x="0" y="0"/>
            <a:chExt cx="5429400" cy="4095900"/>
          </a:xfrm>
        </p:grpSpPr>
        <p:sp>
          <p:nvSpPr>
            <p:cNvPr id="572" name="Google Shape;572;p24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3" name="Google Shape;573;p24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574" name="Google Shape;574;p24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Avalon Bridge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576" name="Google Shape;576;p24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77" name="Google Shape;577;p24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578" name="Google Shape;578;p24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4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Validate write timing variations and delayed read responses.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proper avs_waitrequest assertion while busy.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delayed ARREADY/RVALID, waitrequest, and readdatavalid signals.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80" name="Google Shape;580;p24"/>
            <p:cNvGrpSpPr/>
            <p:nvPr/>
          </p:nvGrpSpPr>
          <p:grpSpPr>
            <a:xfrm>
              <a:off x="381000" y="2809875"/>
              <a:ext cx="4476900" cy="1019175"/>
              <a:chOff x="381000" y="2809875"/>
              <a:chExt cx="4476900" cy="1019175"/>
            </a:xfrm>
          </p:grpSpPr>
          <p:sp>
            <p:nvSpPr>
              <p:cNvPr id="581" name="Google Shape;581;p24"/>
              <p:cNvSpPr/>
              <p:nvPr/>
            </p:nvSpPr>
            <p:spPr>
              <a:xfrm>
                <a:off x="381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 txBox="1"/>
              <p:nvPr/>
            </p:nvSpPr>
            <p:spPr>
              <a:xfrm>
                <a:off x="381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AXI 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83" name="Google Shape;583;p2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4287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4" name="Google Shape;584;p24"/>
              <p:cNvSpPr txBox="1"/>
              <p:nvPr/>
            </p:nvSpPr>
            <p:spPr>
              <a:xfrm>
                <a:off x="14287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AXI4-Lite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20955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4"/>
              <p:cNvSpPr txBox="1"/>
              <p:nvPr/>
            </p:nvSpPr>
            <p:spPr>
              <a:xfrm>
                <a:off x="20955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AXI-Avalon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Bridge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87" name="Google Shape;587;p2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1432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8" name="Google Shape;588;p24"/>
              <p:cNvSpPr txBox="1"/>
              <p:nvPr/>
            </p:nvSpPr>
            <p:spPr>
              <a:xfrm>
                <a:off x="31432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Avalon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89" name="Google Shape;589;p2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171825" y="33670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0" name="Google Shape;590;p24"/>
              <p:cNvSpPr txBox="1"/>
              <p:nvPr/>
            </p:nvSpPr>
            <p:spPr>
              <a:xfrm>
                <a:off x="3143250" y="3448050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</a:t>
                </a:r>
                <a:endParaRPr b="1" sz="879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3810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4"/>
              <p:cNvSpPr txBox="1"/>
              <p:nvPr/>
            </p:nvSpPr>
            <p:spPr>
              <a:xfrm>
                <a:off x="3810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Slave Core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3" name="Google Shape;593;p2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94" name="Google Shape;594;p24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5" name="Google Shape;595;p24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96" name="Google Shape;596;p24"/>
              <p:cNvPicPr preferRelativeResize="0"/>
              <p:nvPr/>
            </p:nvPicPr>
            <p:blipFill rotWithShape="1">
              <a:blip r:embed="rId13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7" name="Google Shape;597;p24"/>
              <p:cNvPicPr preferRelativeResize="0"/>
              <p:nvPr/>
            </p:nvPicPr>
            <p:blipFill rotWithShape="1">
              <a:blip r:embed="rId14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98" name="Google Shape;598;p24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599" name="Google Shape;599;p24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4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25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606" name="Google Shape;606;p25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25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5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9" name="Google Shape;609;p25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610" name="Google Shape;610;p25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" name="Google Shape;611;p2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2" name="Google Shape;612;p25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13" name="Google Shape;613;p25"/>
          <p:cNvSpPr txBox="1"/>
          <p:nvPr/>
        </p:nvSpPr>
        <p:spPr>
          <a:xfrm>
            <a:off x="476250" y="90487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Report &amp; Synthesis Analysis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14" name="Google Shape;614;p25"/>
          <p:cNvGrpSpPr/>
          <p:nvPr/>
        </p:nvGrpSpPr>
        <p:grpSpPr>
          <a:xfrm>
            <a:off x="476250" y="1619250"/>
            <a:ext cx="3429000" cy="4333800"/>
            <a:chOff x="0" y="0"/>
            <a:chExt cx="3429000" cy="4333800"/>
          </a:xfrm>
        </p:grpSpPr>
        <p:sp>
          <p:nvSpPr>
            <p:cNvPr id="615" name="Google Shape;615;p25"/>
            <p:cNvSpPr/>
            <p:nvPr/>
          </p:nvSpPr>
          <p:spPr>
            <a:xfrm>
              <a:off x="0" y="0"/>
              <a:ext cx="3429000" cy="43338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0" y="0"/>
              <a:ext cx="3429000" cy="4287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4327"/>
                    <a:pt x="1791" y="0"/>
                    <a:pt x="4000" y="0"/>
                  </a:cubicBezTo>
                  <a:lnTo>
                    <a:pt x="116000" y="0"/>
                  </a:lnTo>
                  <a:cubicBezTo>
                    <a:pt x="118209" y="0"/>
                    <a:pt x="120000" y="14327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 txBox="1"/>
            <p:nvPr/>
          </p:nvSpPr>
          <p:spPr>
            <a:xfrm>
              <a:off x="0" y="0"/>
              <a:ext cx="342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SYNTHESIS &amp; COVERAGE OVERVIEW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5"/>
            <p:cNvSpPr txBox="1"/>
            <p:nvPr/>
          </p:nvSpPr>
          <p:spPr>
            <a:xfrm>
              <a:off x="190500" y="619125"/>
              <a:ext cx="3048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Vivado Simulator Analysis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target RTL modules achieved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statement and branch coverage</a:t>
              </a: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3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tb_avalon_axi4lite_bridge</a:t>
              </a: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report hit </a:t>
              </a:r>
              <a:r>
                <a:rPr b="1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98.75% Statement</a:t>
              </a: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92.86% Branch</a:t>
              </a:r>
              <a:r>
                <a:rPr lang="en" sz="13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coverage.</a:t>
              </a:r>
              <a:endParaRPr sz="13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Toggle coverage remains lower (e.g., </a:t>
              </a:r>
              <a:r>
                <a:rPr b="1" lang="en" sz="12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15.69%</a:t>
              </a:r>
              <a:r>
                <a:rPr lang="en" sz="12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</a:t>
              </a:r>
              <a:r>
                <a:rPr b="1" lang="en" sz="11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axi4lite_slave</a:t>
              </a:r>
              <a:r>
                <a:rPr lang="en" sz="12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RTL) due to un-toggled bits and static signals in short simulation runs.</a:t>
              </a:r>
              <a:endParaRPr sz="12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19" name="Google Shape;619;p25"/>
          <p:cNvSpPr/>
          <p:nvPr/>
        </p:nvSpPr>
        <p:spPr>
          <a:xfrm>
            <a:off x="4095750" y="1619250"/>
            <a:ext cx="7620000" cy="43338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4095750" y="1619250"/>
            <a:ext cx="7620000" cy="428700"/>
          </a:xfrm>
          <a:custGeom>
            <a:rect b="b" l="l" r="r" t="t"/>
            <a:pathLst>
              <a:path extrusionOk="0" h="120000" w="120000">
                <a:moveTo>
                  <a:pt x="0" y="32000"/>
                </a:moveTo>
                <a:cubicBezTo>
                  <a:pt x="0" y="14327"/>
                  <a:pt x="806" y="0"/>
                  <a:pt x="1800" y="0"/>
                </a:cubicBezTo>
                <a:lnTo>
                  <a:pt x="118200" y="0"/>
                </a:lnTo>
                <a:cubicBezTo>
                  <a:pt x="119194" y="0"/>
                  <a:pt x="120000" y="14327"/>
                  <a:pt x="120000" y="32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562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4105275" y="3333750"/>
            <a:ext cx="7601100" cy="1285800"/>
          </a:xfrm>
          <a:prstGeom prst="rect">
            <a:avLst/>
          </a:prstGeom>
          <a:solidFill>
            <a:srgbClr val="E6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1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8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p25"/>
          <p:cNvCxnSpPr/>
          <p:nvPr/>
        </p:nvCxnSpPr>
        <p:spPr>
          <a:xfrm>
            <a:off x="4095750" y="204787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25"/>
          <p:cNvCxnSpPr/>
          <p:nvPr/>
        </p:nvCxnSpPr>
        <p:spPr>
          <a:xfrm>
            <a:off x="4095750" y="33337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5"/>
          <p:cNvCxnSpPr/>
          <p:nvPr/>
        </p:nvCxnSpPr>
        <p:spPr>
          <a:xfrm>
            <a:off x="4095750" y="461962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7" name="Google Shape;627;p25"/>
          <p:cNvSpPr txBox="1"/>
          <p:nvPr/>
        </p:nvSpPr>
        <p:spPr>
          <a:xfrm>
            <a:off x="4286250" y="1619250"/>
            <a:ext cx="180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MODULE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 txBox="1"/>
          <p:nvPr/>
        </p:nvSpPr>
        <p:spPr>
          <a:xfrm>
            <a:off x="6477000" y="1619250"/>
            <a:ext cx="228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TESTBENCH REPORT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 txBox="1"/>
          <p:nvPr/>
        </p:nvSpPr>
        <p:spPr>
          <a:xfrm>
            <a:off x="9144000" y="1619250"/>
            <a:ext cx="238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RTL STANDALONE TARGET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4286250" y="2047875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axi_register_bank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1" name="Google Shape;631;p25"/>
          <p:cNvGraphicFramePr/>
          <p:nvPr/>
        </p:nvGraphicFramePr>
        <p:xfrm>
          <a:off x="6477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98.46%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91.30%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30.93%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32" name="Google Shape;632;p25"/>
          <p:cNvGraphicFramePr/>
          <p:nvPr/>
        </p:nvGraphicFramePr>
        <p:xfrm>
          <a:off x="9144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44.73%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633" name="Google Shape;633;p25"/>
          <p:cNvSpPr txBox="1"/>
          <p:nvPr/>
        </p:nvSpPr>
        <p:spPr>
          <a:xfrm>
            <a:off x="4286250" y="3333750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axi4lite_slave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4" name="Google Shape;634;p25"/>
          <p:cNvGraphicFramePr/>
          <p:nvPr/>
        </p:nvGraphicFramePr>
        <p:xfrm>
          <a:off x="6477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98.61%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90.48%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15.30%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35" name="Google Shape;635;p25"/>
          <p:cNvGraphicFramePr/>
          <p:nvPr/>
        </p:nvGraphicFramePr>
        <p:xfrm>
          <a:off x="9144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15.69%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636" name="Google Shape;636;p25"/>
          <p:cNvSpPr txBox="1"/>
          <p:nvPr/>
        </p:nvSpPr>
        <p:spPr>
          <a:xfrm>
            <a:off x="4286250" y="4619625"/>
            <a:ext cx="180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7" name="Google Shape;637;p25"/>
          <p:cNvGraphicFramePr/>
          <p:nvPr/>
        </p:nvGraphicFramePr>
        <p:xfrm>
          <a:off x="6477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43000"/>
                <a:gridCol w="1143000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98.75%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92.86%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52.38%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20.73%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638" name="Google Shape;638;p25"/>
          <p:cNvGraphicFramePr/>
          <p:nvPr/>
        </p:nvGraphicFramePr>
        <p:xfrm>
          <a:off x="9144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{1054CBFA-84F9-438F-8945-52C9D32D1969}</a:tableStyleId>
              </a:tblPr>
              <a:tblGrid>
                <a:gridCol w="1190625"/>
                <a:gridCol w="1190625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29.92%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pSp>
        <p:nvGrpSpPr>
          <p:cNvPr id="639" name="Google Shape;639;p25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40" name="Google Shape;640;p25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1" name="Google Shape;641;p25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42" name="Google Shape;642;p25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3" name="Google Shape;643;p25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4" name="Google Shape;644;p25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p25"/>
          <p:cNvSpPr txBox="1"/>
          <p:nvPr/>
        </p:nvSpPr>
        <p:spPr>
          <a:xfrm>
            <a:off x="476250" y="6356347"/>
            <a:ext cx="428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Vivado Simulator Coverage Report 2023.1, 17/07/2026</a:t>
            </a:r>
            <a:endParaRPr b="0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26"/>
          <p:cNvGrpSpPr/>
          <p:nvPr/>
        </p:nvGrpSpPr>
        <p:grpSpPr>
          <a:xfrm>
            <a:off x="523875" y="904875"/>
            <a:ext cx="11144400" cy="857400"/>
            <a:chOff x="0" y="0"/>
            <a:chExt cx="11144400" cy="857400"/>
          </a:xfrm>
        </p:grpSpPr>
        <p:sp>
          <p:nvSpPr>
            <p:cNvPr id="651" name="Google Shape;651;p26"/>
            <p:cNvSpPr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6"/>
            <p:cNvSpPr txBox="1"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Implementation &amp; Platform Integration</a:t>
              </a:r>
              <a:endParaRPr b="1" i="0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 platform target and Qsys system design integration</a:t>
              </a:r>
              <a:endParaRPr b="1" i="0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53" name="Google Shape;653;p26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26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6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26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9" name="Google Shape;659;p26"/>
          <p:cNvGrpSpPr/>
          <p:nvPr/>
        </p:nvGrpSpPr>
        <p:grpSpPr>
          <a:xfrm>
            <a:off x="523875" y="1857375"/>
            <a:ext cx="2571900" cy="4000500"/>
            <a:chOff x="0" y="0"/>
            <a:chExt cx="2571900" cy="4000500"/>
          </a:xfrm>
        </p:grpSpPr>
        <p:sp>
          <p:nvSpPr>
            <p:cNvPr id="660" name="Google Shape;660;p26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Platform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3" name="Google Shape;663;p26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4" name="Google Shape;664;p26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PLATFORM FAMILY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TARGET ROLE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Low-power, low-cost system design and hardware verification prototyping.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SUPPORTED TOOLCHAIN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Quartus Prime design software integration.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3381375" y="1857375"/>
            <a:ext cx="2571900" cy="4000500"/>
            <a:chOff x="0" y="0"/>
            <a:chExt cx="2571900" cy="4000500"/>
          </a:xfrm>
        </p:grpSpPr>
        <p:sp>
          <p:nvSpPr>
            <p:cNvPr id="666" name="Google Shape;666;p26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Device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9" name="Google Shape;669;p26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0" name="Google Shape;670;p26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DEVICE PART NUMBER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EP4CE22F17C6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HARDWARE RESOURCES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22,320 Logic Elements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154 M9K Memory Blocks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75 Embedded Multipliers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153 Max User I/O Pins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71" name="Google Shape;671;p26"/>
          <p:cNvGrpSpPr/>
          <p:nvPr/>
        </p:nvGrpSpPr>
        <p:grpSpPr>
          <a:xfrm>
            <a:off x="6238875" y="1857375"/>
            <a:ext cx="2571900" cy="4000500"/>
            <a:chOff x="0" y="0"/>
            <a:chExt cx="2571900" cy="4000500"/>
          </a:xfrm>
        </p:grpSpPr>
        <p:sp>
          <p:nvSpPr>
            <p:cNvPr id="672" name="Google Shape;672;p26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6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Entity &amp; Clock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5" name="Google Shape;675;p26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6" name="Google Shape;676;p26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DESIGN TOP ENTITY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AXI_LITE_RESEARCH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CLOCK CONFIG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Signal: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CLOCK_50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FPGA Pin: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 R8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Frequency: 50 MHz input reference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77" name="Google Shape;677;p26"/>
          <p:cNvGrpSpPr/>
          <p:nvPr/>
        </p:nvGrpSpPr>
        <p:grpSpPr>
          <a:xfrm>
            <a:off x="9096375" y="1857375"/>
            <a:ext cx="2571900" cy="4000500"/>
            <a:chOff x="0" y="0"/>
            <a:chExt cx="2571900" cy="4000500"/>
          </a:xfrm>
        </p:grpSpPr>
        <p:sp>
          <p:nvSpPr>
            <p:cNvPr id="678" name="Google Shape;678;p26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6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 &amp; Integration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1" name="Google Shape;681;p26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2" name="Google Shape;682;p26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IP PACKAGING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 Designer IP packaged via </a:t>
              </a: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ALU_AXI4_LITE_hw.tcl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incorporating all </a:t>
              </a: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files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QSYS SYSTEM CONFIG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generation configuration path: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quartus/system.qsys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p26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6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685" name="Google Shape;685;p26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26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27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692" name="Google Shape;692;p27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27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7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5" name="Google Shape;695;p27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696" name="Google Shape;696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7" name="Google Shape;697;p2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98" name="Google Shape;698;p27"/>
              <p:cNvPicPr preferRelativeResize="0"/>
              <p:nvPr/>
            </p:nvPicPr>
            <p:blipFill rotWithShape="1">
              <a:blip r:embed="rId6">
                <a:alphaModFix/>
              </a:blip>
              <a:srcRect b="-80" l="0" r="10" t="8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99" name="Google Shape;699;p27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700" name="Google Shape;700;p27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1" name="Google Shape;701;p27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702" name="Google Shape;702;p27"/>
              <p:cNvPicPr preferRelativeResize="0"/>
              <p:nvPr/>
            </p:nvPicPr>
            <p:blipFill rotWithShape="1">
              <a:blip r:embed="rId7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3" name="Google Shape;703;p27"/>
              <p:cNvPicPr preferRelativeResize="0"/>
              <p:nvPr/>
            </p:nvPicPr>
            <p:blipFill rotWithShape="1">
              <a:blip r:embed="rId8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04" name="Google Shape;704;p27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p27"/>
          <p:cNvSpPr txBox="1"/>
          <p:nvPr/>
        </p:nvSpPr>
        <p:spPr>
          <a:xfrm>
            <a:off x="476250" y="104775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Outlook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06" name="Google Shape;706;p27"/>
          <p:cNvGrpSpPr/>
          <p:nvPr/>
        </p:nvGrpSpPr>
        <p:grpSpPr>
          <a:xfrm>
            <a:off x="476250" y="1857375"/>
            <a:ext cx="5334000" cy="4000500"/>
            <a:chOff x="0" y="0"/>
            <a:chExt cx="5334000" cy="4000500"/>
          </a:xfrm>
        </p:grpSpPr>
        <p:sp>
          <p:nvSpPr>
            <p:cNvPr id="707" name="Google Shape;707;p27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7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Achievements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9" name="Google Shape;709;p27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0" name="Google Shape;710;p27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verified register behavior, AXI4-Lite compliance, and Avalon-to-AXI translation.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testbenches uncovered boundary corner cases.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RTL blocks scored 100% in branch and statement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2" name="Google Shape;712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27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p27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RTL Coverage Achieved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Branch &amp; statement standalone block results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27"/>
          <p:cNvGrpSpPr/>
          <p:nvPr/>
        </p:nvGrpSpPr>
        <p:grpSpPr>
          <a:xfrm>
            <a:off x="6381750" y="1857375"/>
            <a:ext cx="5334000" cy="4000500"/>
            <a:chOff x="0" y="0"/>
            <a:chExt cx="5334000" cy="4000500"/>
          </a:xfrm>
        </p:grpSpPr>
        <p:sp>
          <p:nvSpPr>
            <p:cNvPr id="716" name="Google Shape;716;p27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7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Enhancements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8" name="Google Shape;718;p27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9" name="Google Shape;719;p27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end-to-end transaction testing for </a:t>
              </a: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avalon_axi4lite_alu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standalone ALU core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functional coverage (covergroups) for transitions.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Assert AXI handshake stability.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1" name="Google Shape;721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7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3" name="Google Shape;723;p27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Objectives Defined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Next phase verification roadmap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