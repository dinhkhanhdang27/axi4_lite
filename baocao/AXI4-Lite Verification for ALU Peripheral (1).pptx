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499347-EE0B-480E-82C9-A1B7F1703D76}">
  <a:tblStyle styleId="{34499347-EE0B-480E-82C9-A1B7F1703D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34f53a9f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934f53a9f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5584babc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5584babc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34f53a9f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934f53a9f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934f53a9f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934f53a9f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934f53a9f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934f53a9f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34f53a9f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934f53a9f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934f53a9f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934f53a9f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934f53a9f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934f53a9f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934f53a9f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f934f53a9f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934f53a9f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f934f53a9f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5584babc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f5584babc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5584babc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5584babc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5584babc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f5584babc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5584babc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f5584babc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934f53a9f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f934f53a9f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f934f53a9f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f934f53a9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934f53a9f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f934f53a9f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f934f53a9f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f934f53a9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34f53a9f_7_0)">
  <p:cSld name="Generated (g3f934f53a9f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48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1.png"/><Relationship Id="rId4" Type="http://schemas.openxmlformats.org/officeDocument/2006/relationships/image" Target="../media/image7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0.png"/><Relationship Id="rId4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55.png"/><Relationship Id="rId13" Type="http://schemas.openxmlformats.org/officeDocument/2006/relationships/image" Target="../media/image3.pn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Relationship Id="rId9" Type="http://schemas.openxmlformats.org/officeDocument/2006/relationships/image" Target="../media/image69.png"/><Relationship Id="rId1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8.png"/><Relationship Id="rId8" Type="http://schemas.openxmlformats.org/officeDocument/2006/relationships/image" Target="../media/image6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65.png"/><Relationship Id="rId8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Relationship Id="rId9" Type="http://schemas.openxmlformats.org/officeDocument/2006/relationships/image" Target="../media/image79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58" name="Google Shape;58;p14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Google Shape;59;p14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0" name="Google Shape;60;p14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-31245" y="0"/>
            <a:ext cx="12085616" cy="6858000"/>
            <a:chOff x="-31245" y="0"/>
            <a:chExt cx="12085616" cy="6858000"/>
          </a:xfrm>
        </p:grpSpPr>
        <p:pic>
          <p:nvPicPr>
            <p:cNvPr id="62" name="Google Shape;62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" name="Google Shape;65;p14"/>
            <p:cNvGrpSpPr/>
            <p:nvPr/>
          </p:nvGrpSpPr>
          <p:grpSpPr>
            <a:xfrm>
              <a:off x="11508216" y="243068"/>
              <a:ext cx="546155" cy="546155"/>
              <a:chOff x="11082052" y="197383"/>
              <a:chExt cx="486600" cy="4866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4493294" y="113148"/>
              <a:ext cx="3238090" cy="723500"/>
              <a:chOff x="4276725" y="63291"/>
              <a:chExt cx="3638700" cy="813009"/>
            </a:xfrm>
          </p:grpSpPr>
          <p:pic>
            <p:nvPicPr>
              <p:cNvPr id="69" name="Google Shape;69;p14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" name="Google Shape;70;p14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1" name="Google Shape;71;p14"/>
              <p:cNvPicPr preferRelativeResize="0"/>
              <p:nvPr/>
            </p:nvPicPr>
            <p:blipFill rotWithShape="1">
              <a:blip r:embed="rId8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" name="Google Shape;72;p14"/>
          <p:cNvGrpSpPr/>
          <p:nvPr/>
        </p:nvGrpSpPr>
        <p:grpSpPr>
          <a:xfrm>
            <a:off x="1714500" y="1143000"/>
            <a:ext cx="8953500" cy="2476500"/>
            <a:chOff x="1714500" y="1143000"/>
            <a:chExt cx="8953500" cy="2476500"/>
          </a:xfrm>
        </p:grpSpPr>
        <p:sp>
          <p:nvSpPr>
            <p:cNvPr id="73" name="Google Shape;73;p14"/>
            <p:cNvSpPr/>
            <p:nvPr/>
          </p:nvSpPr>
          <p:spPr>
            <a:xfrm>
              <a:off x="1714500" y="1333500"/>
              <a:ext cx="8953500" cy="2286000"/>
            </a:xfrm>
            <a:prstGeom prst="roundRect">
              <a:avLst>
                <a:gd fmla="val 3537" name="adj"/>
              </a:avLst>
            </a:prstGeom>
            <a:solidFill>
              <a:srgbClr val="FFFFFF"/>
            </a:solidFill>
            <a:ln cap="flat" cmpd="sng" w="254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905000" y="1524000"/>
              <a:ext cx="8572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Intern Project: AXI4-Lite Verification for ALU Peripheral</a:t>
              </a:r>
              <a:endParaRPr b="1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Verify a 32-bit ALU peripheral controlled via AXI4-Lite / Avalon-MM bus.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Đinh Khánh Đăng - Phạm Chí Đạt</a:t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https://github.com/DinhKhanhDang27/AXI4_LITE</a:t>
              </a:r>
              <a:endParaRPr b="1" i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5" name="Google Shape;75;p14"/>
            <p:cNvGrpSpPr/>
            <p:nvPr/>
          </p:nvGrpSpPr>
          <p:grpSpPr>
            <a:xfrm>
              <a:off x="5143500" y="1143000"/>
              <a:ext cx="2095500" cy="381000"/>
              <a:chOff x="0" y="0"/>
              <a:chExt cx="2095500" cy="381000"/>
            </a:xfrm>
          </p:grpSpPr>
          <p:sp>
            <p:nvSpPr>
              <p:cNvPr id="76" name="Google Shape;76;p14"/>
              <p:cNvSpPr/>
              <p:nvPr/>
            </p:nvSpPr>
            <p:spPr>
              <a:xfrm>
                <a:off x="0" y="0"/>
                <a:ext cx="2095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 txBox="1"/>
              <p:nvPr/>
            </p:nvSpPr>
            <p:spPr>
              <a:xfrm>
                <a:off x="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INTERN PROJECT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" name="Google Shape;78;p14"/>
          <p:cNvGrpSpPr/>
          <p:nvPr/>
        </p:nvGrpSpPr>
        <p:grpSpPr>
          <a:xfrm>
            <a:off x="1714500" y="4000500"/>
            <a:ext cx="8953500" cy="857400"/>
            <a:chOff x="1714500" y="4000500"/>
            <a:chExt cx="8953500" cy="857400"/>
          </a:xfrm>
        </p:grpSpPr>
        <p:grpSp>
          <p:nvGrpSpPr>
            <p:cNvPr id="79" name="Google Shape;79;p14"/>
            <p:cNvGrpSpPr/>
            <p:nvPr/>
          </p:nvGrpSpPr>
          <p:grpSpPr>
            <a:xfrm>
              <a:off x="1714500" y="4000500"/>
              <a:ext cx="2095500" cy="857400"/>
              <a:chOff x="0" y="0"/>
              <a:chExt cx="2095500" cy="857400"/>
            </a:xfrm>
          </p:grpSpPr>
          <p:sp>
            <p:nvSpPr>
              <p:cNvPr id="80" name="Google Shape;80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RTL Design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3" name="Google Shape;83;p14"/>
            <p:cNvGrpSpPr/>
            <p:nvPr/>
          </p:nvGrpSpPr>
          <p:grpSpPr>
            <a:xfrm>
              <a:off x="4000500" y="4000500"/>
              <a:ext cx="2095500" cy="857400"/>
              <a:chOff x="0" y="0"/>
              <a:chExt cx="2095500" cy="857400"/>
            </a:xfrm>
          </p:grpSpPr>
          <p:sp>
            <p:nvSpPr>
              <p:cNvPr id="84" name="Google Shape;84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estbench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7" name="Google Shape;87;p14"/>
            <p:cNvGrpSpPr/>
            <p:nvPr/>
          </p:nvGrpSpPr>
          <p:grpSpPr>
            <a:xfrm>
              <a:off x="6286500" y="4000500"/>
              <a:ext cx="2095500" cy="857400"/>
              <a:chOff x="0" y="0"/>
              <a:chExt cx="2095500" cy="857400"/>
            </a:xfrm>
          </p:grpSpPr>
          <p:sp>
            <p:nvSpPr>
              <p:cNvPr id="88" name="Google Shape;88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Vivado Code Coverage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1" name="Google Shape;91;p14"/>
            <p:cNvGrpSpPr/>
            <p:nvPr/>
          </p:nvGrpSpPr>
          <p:grpSpPr>
            <a:xfrm>
              <a:off x="8572500" y="4000500"/>
              <a:ext cx="2095500" cy="857400"/>
              <a:chOff x="0" y="0"/>
              <a:chExt cx="2095500" cy="857400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Quartus / Qsys Integration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95" name="Google Shape;95;p14"/>
          <p:cNvGrpSpPr/>
          <p:nvPr/>
        </p:nvGrpSpPr>
        <p:grpSpPr>
          <a:xfrm>
            <a:off x="1714500" y="5095875"/>
            <a:ext cx="8953500" cy="666900"/>
            <a:chOff x="0" y="0"/>
            <a:chExt cx="8953500" cy="666900"/>
          </a:xfrm>
        </p:grpSpPr>
        <p:sp>
          <p:nvSpPr>
            <p:cNvPr id="96" name="Google Shape;96;p14"/>
            <p:cNvSpPr/>
            <p:nvPr/>
          </p:nvSpPr>
          <p:spPr>
            <a:xfrm>
              <a:off x="0" y="0"/>
              <a:ext cx="89535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" name="Google Shape;97;p14"/>
            <p:cNvGrpSpPr/>
            <p:nvPr/>
          </p:nvGrpSpPr>
          <p:grpSpPr>
            <a:xfrm>
              <a:off x="142875" y="142875"/>
              <a:ext cx="1428900" cy="381000"/>
              <a:chOff x="0" y="0"/>
              <a:chExt cx="1428900" cy="381000"/>
            </a:xfrm>
          </p:grpSpPr>
          <p:sp>
            <p:nvSpPr>
              <p:cNvPr id="98" name="Google Shape;98;p1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STATUS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0;p14"/>
            <p:cNvSpPr txBox="1"/>
            <p:nvPr/>
          </p:nvSpPr>
          <p:spPr>
            <a:xfrm>
              <a:off x="1762125" y="0"/>
              <a:ext cx="7000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EF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RTL modules</a:t>
              </a:r>
              <a:r>
                <a:rPr b="1" lang="en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b="1" lang="en" sz="1800">
                  <a:solidFill>
                    <a:srgbClr val="38EF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testbenches</a:t>
              </a:r>
              <a:r>
                <a:rPr b="1" lang="en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implemented.</a:t>
              </a:r>
              <a:endParaRPr b="1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/>
        </p:nvSpPr>
        <p:spPr>
          <a:xfrm>
            <a:off x="9877850" y="1058600"/>
            <a:ext cx="1633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 &amp; System Overview</a:t>
            </a:r>
            <a:endParaRPr b="1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5" title="Untitled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6784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6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112" name="Google Shape;112;p16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6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" name="Google Shape;114;p16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115" name="Google Shape;115;p16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" name="Google Shape;117;p16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118" name="Google Shape;118;p16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" name="Google Shape;119;p16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0" name="Google Shape;120;p16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1" name="Google Shape;121;p16"/>
          <p:cNvGrpSpPr/>
          <p:nvPr/>
        </p:nvGrpSpPr>
        <p:grpSpPr>
          <a:xfrm>
            <a:off x="428625" y="809625"/>
            <a:ext cx="11334900" cy="523800"/>
            <a:chOff x="0" y="0"/>
            <a:chExt cx="11334900" cy="5238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113349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0" y="0"/>
              <a:ext cx="11334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Scope &amp; System Overview</a:t>
              </a:r>
              <a:endParaRPr b="1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1095375" y="1476375"/>
            <a:ext cx="10001400" cy="666900"/>
            <a:chOff x="1095375" y="1476375"/>
            <a:chExt cx="10001400" cy="666900"/>
          </a:xfrm>
        </p:grpSpPr>
        <p:sp>
          <p:nvSpPr>
            <p:cNvPr id="125" name="Google Shape;125;p16"/>
            <p:cNvSpPr/>
            <p:nvPr/>
          </p:nvSpPr>
          <p:spPr>
            <a:xfrm>
              <a:off x="1095375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1095375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Avalon-MM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Master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" name="Google Shape;127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62250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6"/>
            <p:cNvSpPr/>
            <p:nvPr/>
          </p:nvSpPr>
          <p:spPr>
            <a:xfrm>
              <a:off x="3143250" y="1476375"/>
              <a:ext cx="2000100" cy="6669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3143250" y="1476375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Avalon-to-AXI4Lite</a:t>
              </a:r>
              <a:endParaRPr b="1" sz="13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Bridge </a:t>
              </a:r>
              <a:r>
                <a:rPr b="1" i="1" lang="en" sz="1300">
                  <a:solidFill>
                    <a:srgbClr val="05624A"/>
                  </a:solidFill>
                </a:rPr>
                <a:t>(Avalon slave - axi4 lite master) </a:t>
              </a:r>
              <a:endParaRPr b="1" i="1" sz="1300">
                <a:solidFill>
                  <a:srgbClr val="05624A"/>
                </a:solidFill>
              </a:endParaRPr>
            </a:p>
          </p:txBody>
        </p:sp>
        <p:pic>
          <p:nvPicPr>
            <p:cNvPr id="130" name="Google Shape;130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91125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6"/>
            <p:cNvSpPr/>
            <p:nvPr/>
          </p:nvSpPr>
          <p:spPr>
            <a:xfrm>
              <a:off x="5572125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5572125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AXI4-Lite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Slave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3" name="Google Shape;133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39000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6"/>
            <p:cNvSpPr/>
            <p:nvPr/>
          </p:nvSpPr>
          <p:spPr>
            <a:xfrm>
              <a:off x="7620000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7620000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Register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Bank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6" name="Google Shape;136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86875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16"/>
            <p:cNvSpPr/>
            <p:nvPr/>
          </p:nvSpPr>
          <p:spPr>
            <a:xfrm>
              <a:off x="9667875" y="1476375"/>
              <a:ext cx="14289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9667875" y="1476375"/>
              <a:ext cx="1428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Core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16"/>
          <p:cNvGrpSpPr/>
          <p:nvPr/>
        </p:nvGrpSpPr>
        <p:grpSpPr>
          <a:xfrm>
            <a:off x="428625" y="2381250"/>
            <a:ext cx="5429400" cy="3524400"/>
            <a:chOff x="0" y="0"/>
            <a:chExt cx="5429400" cy="3524400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54294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Top-Level RTL Design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2" name="Google Shape;142;p16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16"/>
            <p:cNvSpPr txBox="1"/>
            <p:nvPr/>
          </p:nvSpPr>
          <p:spPr>
            <a:xfrm>
              <a:off x="285750" y="762000"/>
              <a:ext cx="485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top-level hardware design integrates all core modules into a unified, functional system datapath.</a:t>
              </a:r>
              <a:endParaRPr b="0" sz="1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TOP-LEVEL RTL FILE:</a:t>
              </a:r>
              <a:endParaRPr b="1" sz="1295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88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avalon_axi4lite_alu.sv</a:t>
              </a:r>
              <a:endParaRPr b="1" sz="1388">
                <a:solidFill>
                  <a:srgbClr val="05624A"/>
                </a:solidFill>
                <a:highlight>
                  <a:srgbClr val="E6F4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SYSTEM INTEGRATION:</a:t>
              </a:r>
              <a:endParaRPr b="1" sz="1295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4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Connects the Avalon-MM master interface cleanly to the ALU core.</a:t>
              </a:r>
              <a:endParaRPr b="0" sz="1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Manages multi-protocol bus transfers across the register bank.</a:t>
              </a:r>
              <a:endParaRPr b="0" sz="1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6334125" y="2381250"/>
            <a:ext cx="5429400" cy="3524400"/>
            <a:chOff x="0" y="0"/>
            <a:chExt cx="5429400" cy="3524400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54294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Testbenches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7" name="Google Shape;147;p16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" name="Google Shape;148;p16"/>
            <p:cNvSpPr txBox="1"/>
            <p:nvPr/>
          </p:nvSpPr>
          <p:spPr>
            <a:xfrm>
              <a:off x="285750" y="762000"/>
              <a:ext cx="485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relies on three primary targeted testbench environments designed to isolate and validate each module's core interfaces: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tb_avalon_axi4lite_bridge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Avalon-MM to AXI4-Lite translation logic accuracy.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tb_axi4lite_slave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the protocol slave compliance and state transition.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tb_axi_register_bank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custom register-bank mapping and ALU instructions.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50" name="Google Shape;150;p16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" name="Google Shape;151;p16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152" name="Google Shape;152;p16"/>
              <p:cNvPicPr preferRelativeResize="0"/>
              <p:nvPr/>
            </p:nvPicPr>
            <p:blipFill rotWithShape="1">
              <a:blip r:embed="rId8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16"/>
              <p:cNvPicPr preferRelativeResize="0"/>
              <p:nvPr/>
            </p:nvPicPr>
            <p:blipFill rotWithShape="1">
              <a:blip r:embed="rId9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4" name="Google Shape;154;p16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155" name="Google Shape;155;p16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6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i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7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162" name="Google Shape;162;p17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" name="Google Shape;165;p17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166" name="Google Shape;166;p17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7" name="Google Shape;167;p17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8" name="Google Shape;168;p17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9" name="Google Shape;169;p17"/>
          <p:cNvSpPr txBox="1"/>
          <p:nvPr/>
        </p:nvSpPr>
        <p:spPr>
          <a:xfrm>
            <a:off x="523875" y="762000"/>
            <a:ext cx="1114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Under Test (DUT) Architecture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block hierarchy and layered separation of the avalon_axi4lite_alu IP core</a:t>
            </a:r>
            <a:endParaRPr b="0" i="1" sz="16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0" name="Google Shape;170;p17"/>
          <p:cNvGrpSpPr/>
          <p:nvPr/>
        </p:nvGrpSpPr>
        <p:grpSpPr>
          <a:xfrm>
            <a:off x="523875" y="1666875"/>
            <a:ext cx="2619300" cy="2286000"/>
            <a:chOff x="0" y="0"/>
            <a:chExt cx="2619300" cy="2286000"/>
          </a:xfrm>
        </p:grpSpPr>
        <p:sp>
          <p:nvSpPr>
            <p:cNvPr id="171" name="Google Shape;171;p17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AVALON_AXI4LITE_BRIDGE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 Protocol Layer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Translates Avalon MM transactions to AXI4-Lite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Bridges master-slave interface protocols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3362325" y="1666875"/>
            <a:ext cx="2619300" cy="2286000"/>
            <a:chOff x="0" y="0"/>
            <a:chExt cx="2619300" cy="22860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AXI4LITE_SLAVE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 Protocol Layer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Manages standard AXI4-Lite channel handshakes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Handles bus reads and writes directly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0" name="Google Shape;180;p17"/>
          <p:cNvGrpSpPr/>
          <p:nvPr/>
        </p:nvGrpSpPr>
        <p:grpSpPr>
          <a:xfrm>
            <a:off x="6200775" y="1666875"/>
            <a:ext cx="2619300" cy="2286000"/>
            <a:chOff x="0" y="0"/>
            <a:chExt cx="2619300" cy="2286000"/>
          </a:xfrm>
        </p:grpSpPr>
        <p:sp>
          <p:nvSpPr>
            <p:cNvPr id="181" name="Google Shape;181;p17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AXI_REGISTER_BANK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7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Register Abstraction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Stores configuration data and control bits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Buffers operand values for ALU operations</a:t>
              </a:r>
              <a:endParaRPr b="0" sz="165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5" name="Google Shape;185;p17"/>
          <p:cNvGrpSpPr/>
          <p:nvPr/>
        </p:nvGrpSpPr>
        <p:grpSpPr>
          <a:xfrm>
            <a:off x="9039225" y="1666875"/>
            <a:ext cx="2619300" cy="2286000"/>
            <a:chOff x="0" y="0"/>
            <a:chExt cx="2619300" cy="2286000"/>
          </a:xfrm>
        </p:grpSpPr>
        <p:sp>
          <p:nvSpPr>
            <p:cNvPr id="186" name="Google Shape;186;p17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ALU_CORE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Datapath Layer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Executes arithmetic and logical hardware operations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Implements high-speed execution datapath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0" name="Google Shape;190;p17"/>
          <p:cNvGrpSpPr/>
          <p:nvPr/>
        </p:nvGrpSpPr>
        <p:grpSpPr>
          <a:xfrm>
            <a:off x="523875" y="4143375"/>
            <a:ext cx="4286400" cy="1762200"/>
            <a:chOff x="0" y="0"/>
            <a:chExt cx="4286400" cy="1762200"/>
          </a:xfrm>
        </p:grpSpPr>
        <p:sp>
          <p:nvSpPr>
            <p:cNvPr id="191" name="Google Shape;191;p17"/>
            <p:cNvSpPr/>
            <p:nvPr/>
          </p:nvSpPr>
          <p:spPr>
            <a:xfrm>
              <a:off x="0" y="0"/>
              <a:ext cx="4286400" cy="1762200"/>
            </a:xfrm>
            <a:prstGeom prst="roundRect">
              <a:avLst>
                <a:gd fmla="val 4324" name="adj"/>
              </a:avLst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190500" y="142875"/>
              <a:ext cx="3905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Specifications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3" name="Google Shape;193;p17"/>
            <p:cNvCxnSpPr/>
            <p:nvPr/>
          </p:nvCxnSpPr>
          <p:spPr>
            <a:xfrm>
              <a:off x="190500" y="4953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" name="Google Shape;194;p17"/>
            <p:cNvSpPr txBox="1"/>
            <p:nvPr/>
          </p:nvSpPr>
          <p:spPr>
            <a:xfrm>
              <a:off x="190500" y="590550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Width: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32-bit data width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 Width: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6-bit address width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Reset Signals: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Active-low reset_n / aresetn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5" name="Google Shape;195;p17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96" name="Google Shape;196;p17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7" name="Google Shape;197;p17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198" name="Google Shape;198;p17"/>
              <p:cNvPicPr preferRelativeResize="0"/>
              <p:nvPr/>
            </p:nvPicPr>
            <p:blipFill rotWithShape="1">
              <a:blip r:embed="rId7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" name="Google Shape;199;p17"/>
              <p:cNvPicPr preferRelativeResize="0"/>
              <p:nvPr/>
            </p:nvPicPr>
            <p:blipFill rotWithShape="1">
              <a:blip r:embed="rId8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0" name="Google Shape;200;p17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18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8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18"/>
          <p:cNvSpPr txBox="1"/>
          <p:nvPr/>
        </p:nvSpPr>
        <p:spPr>
          <a:xfrm>
            <a:off x="523875" y="857250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Map Specification</a:t>
            </a:r>
            <a:endParaRPr b="1" sz="28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1"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1"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axi_register_bank.sv</a:t>
            </a:r>
            <a:r>
              <a:rPr b="0" i="1"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specifies the register configuration</a:t>
            </a:r>
            <a:endParaRPr b="0" i="1"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3" name="Google Shape;213;p18"/>
          <p:cNvGrpSpPr/>
          <p:nvPr/>
        </p:nvGrpSpPr>
        <p:grpSpPr>
          <a:xfrm>
            <a:off x="523875" y="1905000"/>
            <a:ext cx="11144400" cy="3429075"/>
            <a:chOff x="523875" y="1905000"/>
            <a:chExt cx="11144400" cy="3429075"/>
          </a:xfrm>
        </p:grpSpPr>
        <p:sp>
          <p:nvSpPr>
            <p:cNvPr id="214" name="Google Shape;214;p18"/>
            <p:cNvSpPr/>
            <p:nvPr/>
          </p:nvSpPr>
          <p:spPr>
            <a:xfrm>
              <a:off x="523875" y="1905000"/>
              <a:ext cx="111444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523875" y="1905000"/>
              <a:ext cx="111444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367" y="0"/>
                    <a:pt x="821" y="0"/>
                  </a:cubicBezTo>
                  <a:lnTo>
                    <a:pt x="119179" y="0"/>
                  </a:lnTo>
                  <a:cubicBezTo>
                    <a:pt x="119633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523875" y="276225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523875" y="361950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523875" y="447675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9" name="Google Shape;219;p18"/>
            <p:cNvCxnSpPr/>
            <p:nvPr/>
          </p:nvCxnSpPr>
          <p:spPr>
            <a:xfrm>
              <a:off x="523875" y="233362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18"/>
            <p:cNvCxnSpPr/>
            <p:nvPr/>
          </p:nvCxnSpPr>
          <p:spPr>
            <a:xfrm>
              <a:off x="523875" y="276225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18"/>
            <p:cNvCxnSpPr/>
            <p:nvPr/>
          </p:nvCxnSpPr>
          <p:spPr>
            <a:xfrm>
              <a:off x="523875" y="319087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18"/>
            <p:cNvCxnSpPr/>
            <p:nvPr/>
          </p:nvCxnSpPr>
          <p:spPr>
            <a:xfrm>
              <a:off x="523875" y="361950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18"/>
            <p:cNvCxnSpPr/>
            <p:nvPr/>
          </p:nvCxnSpPr>
          <p:spPr>
            <a:xfrm>
              <a:off x="523875" y="404812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18"/>
            <p:cNvCxnSpPr/>
            <p:nvPr/>
          </p:nvCxnSpPr>
          <p:spPr>
            <a:xfrm>
              <a:off x="523875" y="447675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18"/>
            <p:cNvCxnSpPr/>
            <p:nvPr/>
          </p:nvCxnSpPr>
          <p:spPr>
            <a:xfrm>
              <a:off x="523875" y="490537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18"/>
            <p:cNvCxnSpPr/>
            <p:nvPr/>
          </p:nvCxnSpPr>
          <p:spPr>
            <a:xfrm>
              <a:off x="2238375" y="1905000"/>
              <a:ext cx="0" cy="3429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18"/>
            <p:cNvCxnSpPr/>
            <p:nvPr/>
          </p:nvCxnSpPr>
          <p:spPr>
            <a:xfrm>
              <a:off x="4333875" y="1905000"/>
              <a:ext cx="0" cy="3429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8" name="Google Shape;228;p18"/>
            <p:cNvSpPr txBox="1"/>
            <p:nvPr/>
          </p:nvSpPr>
          <p:spPr>
            <a:xfrm>
              <a:off x="523875" y="19050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8"/>
            <p:cNvSpPr txBox="1"/>
            <p:nvPr/>
          </p:nvSpPr>
          <p:spPr>
            <a:xfrm>
              <a:off x="2238375" y="19050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8"/>
            <p:cNvSpPr txBox="1"/>
            <p:nvPr/>
          </p:nvSpPr>
          <p:spPr>
            <a:xfrm>
              <a:off x="4333875" y="190500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FUNCTION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8"/>
            <p:cNvSpPr txBox="1"/>
            <p:nvPr/>
          </p:nvSpPr>
          <p:spPr>
            <a:xfrm>
              <a:off x="523875" y="23336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0x00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8"/>
            <p:cNvSpPr txBox="1"/>
            <p:nvPr/>
          </p:nvSpPr>
          <p:spPr>
            <a:xfrm>
              <a:off x="2238375" y="233362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CTRL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4333875" y="233362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bit 0 to start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523875" y="27622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8"/>
            <p:cNvSpPr txBox="1"/>
            <p:nvPr/>
          </p:nvSpPr>
          <p:spPr>
            <a:xfrm>
              <a:off x="2238375" y="27622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STATUS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8"/>
            <p:cNvSpPr txBox="1"/>
            <p:nvPr/>
          </p:nvSpPr>
          <p:spPr>
            <a:xfrm>
              <a:off x="4333875" y="276225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{error, done, busy}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523875" y="31908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0x08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8"/>
            <p:cNvSpPr txBox="1"/>
            <p:nvPr/>
          </p:nvSpPr>
          <p:spPr>
            <a:xfrm>
              <a:off x="2238375" y="319087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8"/>
            <p:cNvSpPr txBox="1"/>
            <p:nvPr/>
          </p:nvSpPr>
          <p:spPr>
            <a:xfrm>
              <a:off x="4333875" y="319087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 A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18"/>
            <p:cNvSpPr txBox="1"/>
            <p:nvPr/>
          </p:nvSpPr>
          <p:spPr>
            <a:xfrm>
              <a:off x="523875" y="36195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0x0C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8"/>
            <p:cNvSpPr txBox="1"/>
            <p:nvPr/>
          </p:nvSpPr>
          <p:spPr>
            <a:xfrm>
              <a:off x="2238375" y="36195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4333875" y="361950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 B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18"/>
            <p:cNvSpPr txBox="1"/>
            <p:nvPr/>
          </p:nvSpPr>
          <p:spPr>
            <a:xfrm>
              <a:off x="523875" y="40481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0x10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8"/>
            <p:cNvSpPr txBox="1"/>
            <p:nvPr/>
          </p:nvSpPr>
          <p:spPr>
            <a:xfrm>
              <a:off x="2238375" y="404812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4333875" y="404812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4-bit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18"/>
            <p:cNvSpPr txBox="1"/>
            <p:nvPr/>
          </p:nvSpPr>
          <p:spPr>
            <a:xfrm>
              <a:off x="523875" y="44767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0x14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8"/>
            <p:cNvSpPr txBox="1"/>
            <p:nvPr/>
          </p:nvSpPr>
          <p:spPr>
            <a:xfrm>
              <a:off x="2238375" y="44767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RESULT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4333875" y="447675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result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18"/>
            <p:cNvSpPr txBox="1"/>
            <p:nvPr/>
          </p:nvSpPr>
          <p:spPr>
            <a:xfrm>
              <a:off x="523875" y="49053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invalid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8"/>
            <p:cNvSpPr txBox="1"/>
            <p:nvPr/>
          </p:nvSpPr>
          <p:spPr>
            <a:xfrm>
              <a:off x="2238375" y="490537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default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4333875" y="490537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0 / write ignored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2" name="Google Shape;252;p18"/>
          <p:cNvSpPr txBox="1"/>
          <p:nvPr/>
        </p:nvSpPr>
        <p:spPr>
          <a:xfrm>
            <a:off x="523875" y="5476875"/>
            <a:ext cx="1114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Source: axi_register_bank.sv</a:t>
            </a:r>
            <a:endParaRPr b="1"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18"/>
          <p:cNvSpPr/>
          <p:nvPr>
            <p:ph idx="6" type="pic"/>
          </p:nvPr>
        </p:nvSpPr>
        <p:spPr>
          <a:xfrm>
            <a:off x="11650831" y="6419043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18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18"/>
          <p:cNvGrpSpPr/>
          <p:nvPr/>
        </p:nvGrpSpPr>
        <p:grpSpPr>
          <a:xfrm>
            <a:off x="-4762" y="-6"/>
            <a:ext cx="12197919" cy="946406"/>
            <a:chOff x="-4762" y="-6"/>
            <a:chExt cx="12197919" cy="946406"/>
          </a:xfrm>
        </p:grpSpPr>
        <p:pic>
          <p:nvPicPr>
            <p:cNvPr id="258" name="Google Shape;258;p18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18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0" name="Google Shape;260;p18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261" name="Google Shape;261;p18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8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18"/>
            <p:cNvGrpSpPr/>
            <p:nvPr/>
          </p:nvGrpSpPr>
          <p:grpSpPr>
            <a:xfrm>
              <a:off x="4477007" y="263617"/>
              <a:ext cx="3238079" cy="682784"/>
              <a:chOff x="4276725" y="109041"/>
              <a:chExt cx="3638700" cy="767259"/>
            </a:xfrm>
          </p:grpSpPr>
          <p:pic>
            <p:nvPicPr>
              <p:cNvPr id="264" name="Google Shape;264;p18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5" name="Google Shape;265;p18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66" name="Google Shape;266;p18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19"/>
          <p:cNvGrpSpPr/>
          <p:nvPr/>
        </p:nvGrpSpPr>
        <p:grpSpPr>
          <a:xfrm>
            <a:off x="-4762" y="-6"/>
            <a:ext cx="12197919" cy="891792"/>
            <a:chOff x="-4762" y="-6"/>
            <a:chExt cx="12197919" cy="891792"/>
          </a:xfrm>
        </p:grpSpPr>
        <p:pic>
          <p:nvPicPr>
            <p:cNvPr id="273" name="Google Shape;273;p19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19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6" name="Google Shape;276;p19"/>
            <p:cNvGrpSpPr/>
            <p:nvPr/>
          </p:nvGrpSpPr>
          <p:grpSpPr>
            <a:xfrm>
              <a:off x="4477020" y="263617"/>
              <a:ext cx="3176567" cy="628170"/>
              <a:chOff x="4276725" y="109041"/>
              <a:chExt cx="3569566" cy="705886"/>
            </a:xfrm>
          </p:grpSpPr>
          <p:pic>
            <p:nvPicPr>
              <p:cNvPr id="277" name="Google Shape;277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276725" y="152400"/>
                <a:ext cx="3238200" cy="64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8" name="Google Shape;278;p1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79" name="Google Shape;279;p19"/>
              <p:cNvPicPr preferRelativeResize="0"/>
              <p:nvPr/>
            </p:nvPicPr>
            <p:blipFill rotWithShape="1">
              <a:blip r:embed="rId5">
                <a:alphaModFix/>
              </a:blip>
              <a:srcRect b="-70" l="0" r="0" t="100"/>
              <a:stretch/>
            </p:blipFill>
            <p:spPr>
              <a:xfrm>
                <a:off x="5604843" y="109041"/>
                <a:ext cx="775800" cy="642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80" name="Google Shape;280;p19"/>
          <p:cNvGrpSpPr/>
          <p:nvPr/>
        </p:nvGrpSpPr>
        <p:grpSpPr>
          <a:xfrm>
            <a:off x="0" y="1425"/>
            <a:ext cx="12194400" cy="6885450"/>
            <a:chOff x="0" y="1425"/>
            <a:chExt cx="12194400" cy="6885450"/>
          </a:xfrm>
        </p:grpSpPr>
        <p:sp>
          <p:nvSpPr>
            <p:cNvPr id="281" name="Google Shape;281;p19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2" name="Google Shape;282;p19"/>
            <p:cNvGrpSpPr/>
            <p:nvPr/>
          </p:nvGrpSpPr>
          <p:grpSpPr>
            <a:xfrm>
              <a:off x="11503192" y="6266643"/>
              <a:ext cx="614845" cy="620233"/>
              <a:chOff x="11077575" y="194161"/>
              <a:chExt cx="547800" cy="552600"/>
            </a:xfrm>
          </p:grpSpPr>
          <p:pic>
            <p:nvPicPr>
              <p:cNvPr id="283" name="Google Shape;283;p19"/>
              <p:cNvPicPr preferRelativeResize="0"/>
              <p:nvPr/>
            </p:nvPicPr>
            <p:blipFill rotWithShape="1">
              <a:blip r:embed="rId6">
                <a:alphaModFix/>
              </a:blip>
              <a:srcRect b="10" l="0" r="0" t="0"/>
              <a:stretch/>
            </p:blipFill>
            <p:spPr>
              <a:xfrm>
                <a:off x="11077575" y="194161"/>
                <a:ext cx="547800" cy="55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" name="Google Shape;284;p19"/>
              <p:cNvPicPr preferRelativeResize="0"/>
              <p:nvPr/>
            </p:nvPicPr>
            <p:blipFill rotWithShape="1">
              <a:blip r:embed="rId7">
                <a:alphaModFix/>
              </a:blip>
              <a:srcRect b="60" l="0" r="0" t="60"/>
              <a:stretch/>
            </p:blipFill>
            <p:spPr>
              <a:xfrm>
                <a:off x="11209115" y="329943"/>
                <a:ext cx="252600" cy="24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85" name="Google Shape;285;p19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p19"/>
          <p:cNvSpPr txBox="1"/>
          <p:nvPr/>
        </p:nvSpPr>
        <p:spPr>
          <a:xfrm>
            <a:off x="285750" y="95250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Core Functionality &amp; Arithmetic Logic</a:t>
            </a:r>
            <a:endParaRPr b="1" sz="26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7" name="Google Shape;287;p19"/>
          <p:cNvGrpSpPr/>
          <p:nvPr/>
        </p:nvGrpSpPr>
        <p:grpSpPr>
          <a:xfrm>
            <a:off x="428625" y="1762125"/>
            <a:ext cx="5429400" cy="3762300"/>
            <a:chOff x="0" y="0"/>
            <a:chExt cx="5429400" cy="3762300"/>
          </a:xfrm>
        </p:grpSpPr>
        <p:sp>
          <p:nvSpPr>
            <p:cNvPr id="288" name="Google Shape;288;p19"/>
            <p:cNvSpPr/>
            <p:nvPr/>
          </p:nvSpPr>
          <p:spPr>
            <a:xfrm>
              <a:off x="0" y="0"/>
              <a:ext cx="54294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28575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Arithmetic &amp; Logic Operations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0" name="Google Shape;290;p19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1" name="Google Shape;291;p19"/>
            <p:cNvSpPr txBox="1"/>
            <p:nvPr/>
          </p:nvSpPr>
          <p:spPr>
            <a:xfrm>
              <a:off x="285750" y="714375"/>
              <a:ext cx="485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b="1" lang="en" sz="1341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alu_core.sv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module implements a highly optimized 32-bit arithmetic unit with 4 supported functions: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'0' (ADD)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addition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'1' (SUB)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subtraction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'2' (MUL)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multiplication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'3' (DIV)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unsigned division.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2" name="Google Shape;292;p19"/>
            <p:cNvGrpSpPr/>
            <p:nvPr/>
          </p:nvGrpSpPr>
          <p:grpSpPr>
            <a:xfrm>
              <a:off x="285750" y="2667000"/>
              <a:ext cx="2190750" cy="571500"/>
              <a:chOff x="0" y="0"/>
              <a:chExt cx="2190750" cy="571500"/>
            </a:xfrm>
          </p:grpSpPr>
          <p:sp>
            <p:nvSpPr>
              <p:cNvPr id="293" name="Google Shape;293;p19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76200">
                <a:solidFill>
                  <a:srgbClr val="E6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9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</a:t>
                </a:r>
                <a:endParaRPr b="1" sz="15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p19"/>
              <p:cNvSpPr txBox="1"/>
              <p:nvPr/>
            </p:nvSpPr>
            <p:spPr>
              <a:xfrm>
                <a:off x="666750" y="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Width</a:t>
                </a:r>
                <a:endParaRPr b="1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32-Bit Operands</a:t>
                </a:r>
                <a:endParaRPr b="0" sz="105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6" name="Google Shape;296;p19"/>
            <p:cNvGrpSpPr/>
            <p:nvPr/>
          </p:nvGrpSpPr>
          <p:grpSpPr>
            <a:xfrm>
              <a:off x="2667000" y="2667000"/>
              <a:ext cx="2190750" cy="571500"/>
              <a:chOff x="0" y="0"/>
              <a:chExt cx="2190750" cy="571500"/>
            </a:xfrm>
          </p:grpSpPr>
          <p:sp>
            <p:nvSpPr>
              <p:cNvPr id="297" name="Google Shape;297;p19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76200">
                <a:solidFill>
                  <a:srgbClr val="E6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9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1" sz="15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" name="Google Shape;299;p19"/>
              <p:cNvSpPr txBox="1"/>
              <p:nvPr/>
            </p:nvSpPr>
            <p:spPr>
              <a:xfrm>
                <a:off x="666750" y="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Opcode Width</a:t>
                </a:r>
                <a:endParaRPr b="1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4-Bit Opcode</a:t>
                </a:r>
                <a:endParaRPr b="0" sz="105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00" name="Google Shape;300;p19"/>
          <p:cNvGrpSpPr/>
          <p:nvPr/>
        </p:nvGrpSpPr>
        <p:grpSpPr>
          <a:xfrm>
            <a:off x="6334125" y="1762125"/>
            <a:ext cx="5429400" cy="3762300"/>
            <a:chOff x="0" y="0"/>
            <a:chExt cx="5429400" cy="3762300"/>
          </a:xfrm>
        </p:grpSpPr>
        <p:sp>
          <p:nvSpPr>
            <p:cNvPr id="301" name="Google Shape;301;p19"/>
            <p:cNvSpPr/>
            <p:nvPr/>
          </p:nvSpPr>
          <p:spPr>
            <a:xfrm>
              <a:off x="0" y="0"/>
              <a:ext cx="54294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28575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Error Handling &amp; Exception Logic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3" name="Google Shape;303;p19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4" name="Google Shape;304;p19"/>
            <p:cNvSpPr txBox="1"/>
            <p:nvPr/>
          </p:nvSpPr>
          <p:spPr>
            <a:xfrm>
              <a:off x="285750" y="714375"/>
              <a:ext cx="4857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Division-by-Zero Protection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Unsigned division operations automatically monitor the divisor. If division by zero is attempted: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249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Output defaults to 32'h0 &amp; asserts 'error' flag</a:t>
              </a:r>
              <a:endParaRPr b="1" sz="1249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Invalid Opcode Exception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The hardware verifies opcode ranges in real-time. Any value greater than the defined set asserts error: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249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Opcode &gt; 3 asserts 'error' output high</a:t>
              </a:r>
              <a:endParaRPr b="1" sz="1249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05" name="Google Shape;305;p19"/>
            <p:cNvGrpSpPr/>
            <p:nvPr/>
          </p:nvGrpSpPr>
          <p:grpSpPr>
            <a:xfrm>
              <a:off x="285750" y="2524125"/>
              <a:ext cx="3476700" cy="971700"/>
              <a:chOff x="285750" y="2524125"/>
              <a:chExt cx="3476700" cy="971700"/>
            </a:xfrm>
          </p:grpSpPr>
          <p:sp>
            <p:nvSpPr>
              <p:cNvPr id="306" name="Google Shape;306;p19"/>
              <p:cNvSpPr/>
              <p:nvPr/>
            </p:nvSpPr>
            <p:spPr>
              <a:xfrm>
                <a:off x="285750" y="2524125"/>
                <a:ext cx="14763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9"/>
              <p:cNvSpPr txBox="1"/>
              <p:nvPr/>
            </p:nvSpPr>
            <p:spPr>
              <a:xfrm>
                <a:off x="285750" y="2524125"/>
                <a:ext cx="1476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DIVISOR == 0</a:t>
                </a:r>
                <a:endParaRPr b="1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Unsigned Div-by-Zero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2381250" y="2524125"/>
                <a:ext cx="13812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9"/>
              <p:cNvSpPr txBox="1"/>
              <p:nvPr/>
            </p:nvSpPr>
            <p:spPr>
              <a:xfrm>
                <a:off x="2381250" y="2524125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Result Output</a:t>
                </a:r>
                <a:endParaRPr b="0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32'h00000000</a:t>
                </a:r>
                <a:endParaRPr b="1"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2381250" y="3095625"/>
                <a:ext cx="13812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9"/>
              <p:cNvSpPr txBox="1"/>
              <p:nvPr/>
            </p:nvSpPr>
            <p:spPr>
              <a:xfrm>
                <a:off x="2381250" y="3095625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A3E2D1"/>
                    </a:solidFill>
                    <a:latin typeface="Arial"/>
                    <a:ea typeface="Arial"/>
                    <a:cs typeface="Arial"/>
                    <a:sym typeface="Arial"/>
                  </a:rPr>
                  <a:t>Error Flag</a:t>
                </a:r>
                <a:endParaRPr b="0" sz="1050">
                  <a:solidFill>
                    <a:srgbClr val="A3E2D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ASSERTED (1'b1)</a:t>
                </a:r>
                <a:endPara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1762125" y="2724150"/>
                <a:ext cx="552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2247900" y="267652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1762125" y="2724150"/>
                <a:ext cx="552600" cy="476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41379" y="0"/>
                    </a:lnTo>
                    <a:lnTo>
                      <a:pt x="41379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2247900" y="315277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6" name="Google Shape;316;p19"/>
          <p:cNvGrpSpPr/>
          <p:nvPr/>
        </p:nvGrpSpPr>
        <p:grpSpPr>
          <a:xfrm>
            <a:off x="4667250" y="5667375"/>
            <a:ext cx="2857500" cy="304800"/>
            <a:chOff x="0" y="0"/>
            <a:chExt cx="2857500" cy="304800"/>
          </a:xfrm>
        </p:grpSpPr>
        <p:sp>
          <p:nvSpPr>
            <p:cNvPr id="317" name="Google Shape;317;p19"/>
            <p:cNvSpPr/>
            <p:nvPr/>
          </p:nvSpPr>
          <p:spPr>
            <a:xfrm>
              <a:off x="0" y="0"/>
              <a:ext cx="2857500" cy="304800"/>
            </a:xfrm>
            <a:prstGeom prst="roundRect">
              <a:avLst>
                <a:gd fmla="val 50000" name="adj"/>
              </a:avLst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 txBox="1"/>
            <p:nvPr/>
          </p:nvSpPr>
          <p:spPr>
            <a:xfrm>
              <a:off x="0" y="0"/>
              <a:ext cx="2857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Source HDL: </a:t>
              </a:r>
              <a:r>
                <a:rPr b="1" lang="en" sz="11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alu_core.sv</a:t>
              </a:r>
              <a:endParaRPr b="1" sz="11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20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324" name="Google Shape;324;p20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0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" name="Google Shape;327;p20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328" name="Google Shape;328;p20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" name="Google Shape;329;p20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30" name="Google Shape;330;p20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31" name="Google Shape;331;p20"/>
          <p:cNvSpPr txBox="1"/>
          <p:nvPr/>
        </p:nvSpPr>
        <p:spPr>
          <a:xfrm>
            <a:off x="476250" y="904875"/>
            <a:ext cx="11239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 Slave Interface &amp; Handshaking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2" name="Google Shape;332;p20"/>
          <p:cNvGrpSpPr/>
          <p:nvPr/>
        </p:nvGrpSpPr>
        <p:grpSpPr>
          <a:xfrm>
            <a:off x="476250" y="2047875"/>
            <a:ext cx="5381700" cy="3762300"/>
            <a:chOff x="0" y="0"/>
            <a:chExt cx="5381700" cy="3762300"/>
          </a:xfrm>
        </p:grpSpPr>
        <p:sp>
          <p:nvSpPr>
            <p:cNvPr id="333" name="Google Shape;333;p20"/>
            <p:cNvSpPr/>
            <p:nvPr/>
          </p:nvSpPr>
          <p:spPr>
            <a:xfrm>
              <a:off x="0" y="0"/>
              <a:ext cx="53817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 txBox="1"/>
            <p:nvPr/>
          </p:nvSpPr>
          <p:spPr>
            <a:xfrm>
              <a:off x="285750" y="238125"/>
              <a:ext cx="4810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Handshaking Behavior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5" name="Google Shape;335;p20"/>
            <p:cNvCxnSpPr/>
            <p:nvPr/>
          </p:nvCxnSpPr>
          <p:spPr>
            <a:xfrm>
              <a:off x="285750" y="762000"/>
              <a:ext cx="48102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6" name="Google Shape;336;p20"/>
            <p:cNvSpPr txBox="1"/>
            <p:nvPr/>
          </p:nvSpPr>
          <p:spPr>
            <a:xfrm>
              <a:off x="285750" y="952500"/>
              <a:ext cx="4810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axi4lite_slave.sv Protocol Support: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Supports independent Address Write (AW) and Write Data (W) handshakes.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1: AW valid signal asserted before W valid.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2: W valid signal asserted before AW valid.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3: Concurrent AW and W validation in the same clock cycle.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7" name="Google Shape;337;p20"/>
          <p:cNvGrpSpPr/>
          <p:nvPr/>
        </p:nvGrpSpPr>
        <p:grpSpPr>
          <a:xfrm>
            <a:off x="6334125" y="2047875"/>
            <a:ext cx="5381700" cy="3762300"/>
            <a:chOff x="0" y="0"/>
            <a:chExt cx="5381700" cy="3762300"/>
          </a:xfrm>
        </p:grpSpPr>
        <p:sp>
          <p:nvSpPr>
            <p:cNvPr id="338" name="Google Shape;338;p20"/>
            <p:cNvSpPr/>
            <p:nvPr/>
          </p:nvSpPr>
          <p:spPr>
            <a:xfrm>
              <a:off x="0" y="0"/>
              <a:ext cx="53817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 txBox="1"/>
            <p:nvPr/>
          </p:nvSpPr>
          <p:spPr>
            <a:xfrm>
              <a:off x="285750" y="238125"/>
              <a:ext cx="4810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 &amp; Read Flow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0" name="Google Shape;340;p20"/>
            <p:cNvCxnSpPr/>
            <p:nvPr/>
          </p:nvCxnSpPr>
          <p:spPr>
            <a:xfrm>
              <a:off x="285750" y="762000"/>
              <a:ext cx="48102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1" name="Google Shape;341;p20"/>
            <p:cNvSpPr txBox="1"/>
            <p:nvPr/>
          </p:nvSpPr>
          <p:spPr>
            <a:xfrm>
              <a:off x="285750" y="952500"/>
              <a:ext cx="4810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Response (BRESP) Details: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write response (BRESP) is hardwired to always return </a:t>
              </a:r>
              <a:r>
                <a:rPr b="1" lang="en" sz="15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OKAY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upon completion.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Handshaking Flow: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Initiated by an Address Read (AR) channel handshake.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Followed immediately by an RVALID assertion to transmit read data.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2" name="Google Shape;342;p20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343" name="Google Shape;343;p20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4" name="Google Shape;344;p20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345" name="Google Shape;345;p20"/>
              <p:cNvPicPr preferRelativeResize="0"/>
              <p:nvPr/>
            </p:nvPicPr>
            <p:blipFill rotWithShape="1">
              <a:blip r:embed="rId7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6" name="Google Shape;346;p20"/>
              <p:cNvPicPr preferRelativeResize="0"/>
              <p:nvPr/>
            </p:nvPicPr>
            <p:blipFill rotWithShape="1">
              <a:blip r:embed="rId8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7" name="Google Shape;347;p20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21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21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21"/>
          <p:cNvSpPr txBox="1"/>
          <p:nvPr/>
        </p:nvSpPr>
        <p:spPr>
          <a:xfrm>
            <a:off x="523875" y="904875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Avalon-MM to AXI4-Lite Bridge Implementation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FSM control state machine and bridge control logic mechanics in </a:t>
            </a:r>
            <a:r>
              <a:rPr b="1" i="0" lang="en" sz="16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avalon_axi4lite_bridge.sv</a:t>
            </a:r>
            <a:endParaRPr b="0" i="1" sz="16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9" name="Google Shape;359;p21"/>
          <p:cNvGrpSpPr/>
          <p:nvPr/>
        </p:nvGrpSpPr>
        <p:grpSpPr>
          <a:xfrm>
            <a:off x="809625" y="1857375"/>
            <a:ext cx="10572600" cy="666900"/>
            <a:chOff x="809625" y="0"/>
            <a:chExt cx="10572600" cy="666900"/>
          </a:xfrm>
        </p:grpSpPr>
        <p:grpSp>
          <p:nvGrpSpPr>
            <p:cNvPr id="360" name="Google Shape;360;p21"/>
            <p:cNvGrpSpPr/>
            <p:nvPr/>
          </p:nvGrpSpPr>
          <p:grpSpPr>
            <a:xfrm>
              <a:off x="809625" y="0"/>
              <a:ext cx="1809600" cy="666900"/>
              <a:chOff x="0" y="0"/>
              <a:chExt cx="1809600" cy="666900"/>
            </a:xfrm>
          </p:grpSpPr>
          <p:sp>
            <p:nvSpPr>
              <p:cNvPr id="361" name="Google Shape;361;p21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1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01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ST_IDLE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3" name="Google Shape;363;p21"/>
            <p:cNvSpPr/>
            <p:nvPr/>
          </p:nvSpPr>
          <p:spPr>
            <a:xfrm>
              <a:off x="268605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4" name="Google Shape;364;p21"/>
            <p:cNvGrpSpPr/>
            <p:nvPr/>
          </p:nvGrpSpPr>
          <p:grpSpPr>
            <a:xfrm>
              <a:off x="3000375" y="0"/>
              <a:ext cx="1809600" cy="666900"/>
              <a:chOff x="0" y="0"/>
              <a:chExt cx="1809600" cy="666900"/>
            </a:xfrm>
          </p:grpSpPr>
          <p:sp>
            <p:nvSpPr>
              <p:cNvPr id="365" name="Google Shape;365;p21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1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02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ST_WRITE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7" name="Google Shape;367;p21"/>
            <p:cNvSpPr/>
            <p:nvPr/>
          </p:nvSpPr>
          <p:spPr>
            <a:xfrm>
              <a:off x="487680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8" name="Google Shape;368;p21"/>
            <p:cNvGrpSpPr/>
            <p:nvPr/>
          </p:nvGrpSpPr>
          <p:grpSpPr>
            <a:xfrm>
              <a:off x="5191125" y="0"/>
              <a:ext cx="1809600" cy="666900"/>
              <a:chOff x="0" y="0"/>
              <a:chExt cx="1809600" cy="666900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1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03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ST_WRITE_RESP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" name="Google Shape;371;p21"/>
            <p:cNvSpPr/>
            <p:nvPr/>
          </p:nvSpPr>
          <p:spPr>
            <a:xfrm>
              <a:off x="706755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21"/>
            <p:cNvGrpSpPr/>
            <p:nvPr/>
          </p:nvGrpSpPr>
          <p:grpSpPr>
            <a:xfrm>
              <a:off x="7381875" y="0"/>
              <a:ext cx="1809600" cy="666900"/>
              <a:chOff x="0" y="0"/>
              <a:chExt cx="1809600" cy="666900"/>
            </a:xfrm>
          </p:grpSpPr>
          <p:sp>
            <p:nvSpPr>
              <p:cNvPr id="373" name="Google Shape;373;p21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1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04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ST_READ_ADDR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5" name="Google Shape;375;p21"/>
            <p:cNvSpPr/>
            <p:nvPr/>
          </p:nvSpPr>
          <p:spPr>
            <a:xfrm>
              <a:off x="925830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6" name="Google Shape;376;p21"/>
            <p:cNvGrpSpPr/>
            <p:nvPr/>
          </p:nvGrpSpPr>
          <p:grpSpPr>
            <a:xfrm>
              <a:off x="9572625" y="0"/>
              <a:ext cx="1809600" cy="666900"/>
              <a:chOff x="0" y="0"/>
              <a:chExt cx="1809600" cy="666900"/>
            </a:xfrm>
          </p:grpSpPr>
          <p:sp>
            <p:nvSpPr>
              <p:cNvPr id="377" name="Google Shape;377;p21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1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05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ST_READ_DATA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9" name="Google Shape;379;p21"/>
          <p:cNvGrpSpPr/>
          <p:nvPr/>
        </p:nvGrpSpPr>
        <p:grpSpPr>
          <a:xfrm>
            <a:off x="523875" y="2809875"/>
            <a:ext cx="11144400" cy="2952900"/>
            <a:chOff x="523875" y="0"/>
            <a:chExt cx="11144400" cy="2952900"/>
          </a:xfrm>
        </p:grpSpPr>
        <p:grpSp>
          <p:nvGrpSpPr>
            <p:cNvPr id="380" name="Google Shape;380;p21"/>
            <p:cNvGrpSpPr/>
            <p:nvPr/>
          </p:nvGrpSpPr>
          <p:grpSpPr>
            <a:xfrm>
              <a:off x="523875" y="0"/>
              <a:ext cx="3524400" cy="2952900"/>
              <a:chOff x="0" y="0"/>
              <a:chExt cx="3524400" cy="2952900"/>
            </a:xfrm>
          </p:grpSpPr>
          <p:sp>
            <p:nvSpPr>
              <p:cNvPr id="381" name="Google Shape;381;p21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1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Waitrequest Assertion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21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Key control logic asserts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avs_waitrequest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to 1.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 assertion occurs and remains active when the bridge interface is busy.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85" name="Google Shape;385;p21"/>
            <p:cNvGrpSpPr/>
            <p:nvPr/>
          </p:nvGrpSpPr>
          <p:grpSpPr>
            <a:xfrm>
              <a:off x="4333875" y="0"/>
              <a:ext cx="3524400" cy="2952900"/>
              <a:chOff x="0" y="0"/>
              <a:chExt cx="3524400" cy="2952900"/>
            </a:xfrm>
          </p:grpSpPr>
          <p:sp>
            <p:nvSpPr>
              <p:cNvPr id="386" name="Google Shape;386;p21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1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1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Phase Handshakes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1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Utilizes internal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aw_done_q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and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w_done_q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registers.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These dedicated registers handle phase-shifted AW/W AXI handshakes.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90" name="Google Shape;390;p21"/>
            <p:cNvGrpSpPr/>
            <p:nvPr/>
          </p:nvGrpSpPr>
          <p:grpSpPr>
            <a:xfrm>
              <a:off x="8143875" y="0"/>
              <a:ext cx="3524400" cy="2952900"/>
              <a:chOff x="0" y="0"/>
              <a:chExt cx="3524400" cy="2952900"/>
            </a:xfrm>
          </p:grpSpPr>
          <p:sp>
            <p:nvSpPr>
              <p:cNvPr id="391" name="Google Shape;391;p21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1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1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Read Data Validity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1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avs_readdatavalid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signal pulses active for exactly one cycle.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This signal assertion is triggered upon receiving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RVALID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95" name="Google Shape;395;p21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1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21"/>
          <p:cNvSpPr/>
          <p:nvPr>
            <p:ph idx="6" type="pic"/>
          </p:nvPr>
        </p:nvSpPr>
        <p:spPr>
          <a:xfrm>
            <a:off x="-930168" y="6048718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21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9" name="Google Shape;399;p21"/>
          <p:cNvGrpSpPr/>
          <p:nvPr/>
        </p:nvGrpSpPr>
        <p:grpSpPr>
          <a:xfrm>
            <a:off x="-4762" y="-6"/>
            <a:ext cx="12197919" cy="946406"/>
            <a:chOff x="-4762" y="-6"/>
            <a:chExt cx="12197919" cy="946406"/>
          </a:xfrm>
        </p:grpSpPr>
        <p:pic>
          <p:nvPicPr>
            <p:cNvPr id="400" name="Google Shape;400;p21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21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2" name="Google Shape;402;p21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403" name="Google Shape;403;p21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1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5" name="Google Shape;405;p21"/>
            <p:cNvGrpSpPr/>
            <p:nvPr/>
          </p:nvGrpSpPr>
          <p:grpSpPr>
            <a:xfrm>
              <a:off x="4477007" y="263617"/>
              <a:ext cx="3238079" cy="682784"/>
              <a:chOff x="4276725" y="109041"/>
              <a:chExt cx="3638700" cy="767259"/>
            </a:xfrm>
          </p:grpSpPr>
          <p:pic>
            <p:nvPicPr>
              <p:cNvPr id="406" name="Google Shape;406;p21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7" name="Google Shape;407;p21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08" name="Google Shape;408;p21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22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414" name="Google Shape;414;p22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" name="Google Shape;415;p22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2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" name="Google Shape;417;p22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418" name="Google Shape;418;p22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9" name="Google Shape;419;p22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20" name="Google Shape;420;p22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21" name="Google Shape;421;p22"/>
          <p:cNvSpPr txBox="1"/>
          <p:nvPr/>
        </p:nvSpPr>
        <p:spPr>
          <a:xfrm>
            <a:off x="381000" y="1000125"/>
            <a:ext cx="114300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Strategy &amp; Testbench Framework</a:t>
            </a:r>
            <a:endParaRPr b="1" i="0" sz="28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22" name="Google Shape;422;p22"/>
          <p:cNvGrpSpPr/>
          <p:nvPr/>
        </p:nvGrpSpPr>
        <p:grpSpPr>
          <a:xfrm>
            <a:off x="381000" y="1762125"/>
            <a:ext cx="5572200" cy="1905000"/>
            <a:chOff x="0" y="0"/>
            <a:chExt cx="5572200" cy="1905000"/>
          </a:xfrm>
        </p:grpSpPr>
        <p:sp>
          <p:nvSpPr>
            <p:cNvPr id="423" name="Google Shape;423;p22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2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2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Register Bank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Targeting modular verification of byte-enables and invalid addresses with 80 random iterations per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9" name="Google Shape;429;p22"/>
          <p:cNvGrpSpPr/>
          <p:nvPr/>
        </p:nvGrpSpPr>
        <p:grpSpPr>
          <a:xfrm>
            <a:off x="6238875" y="1762125"/>
            <a:ext cx="5572200" cy="1905000"/>
            <a:chOff x="0" y="0"/>
            <a:chExt cx="5572200" cy="1905000"/>
          </a:xfrm>
        </p:grpSpPr>
        <p:sp>
          <p:nvSpPr>
            <p:cNvPr id="430" name="Google Shape;430;p22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2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2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 Slave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Focusing on handshake alignment and stalls. Verified modularly with 80 random iterations per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36" name="Google Shape;436;p22"/>
          <p:cNvGrpSpPr/>
          <p:nvPr/>
        </p:nvGrpSpPr>
        <p:grpSpPr>
          <a:xfrm>
            <a:off x="381000" y="3905250"/>
            <a:ext cx="5572200" cy="1905000"/>
            <a:chOff x="0" y="0"/>
            <a:chExt cx="5572200" cy="1905000"/>
          </a:xfrm>
        </p:grpSpPr>
        <p:sp>
          <p:nvSpPr>
            <p:cNvPr id="437" name="Google Shape;437;p22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2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2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Bridge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Targeting correct Avalon request translation. Driven by 80 random iterations per modular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43" name="Google Shape;443;p22"/>
          <p:cNvGrpSpPr/>
          <p:nvPr/>
        </p:nvGrpSpPr>
        <p:grpSpPr>
          <a:xfrm>
            <a:off x="6238875" y="3905250"/>
            <a:ext cx="5572200" cy="1905000"/>
            <a:chOff x="0" y="0"/>
            <a:chExt cx="5572200" cy="1905000"/>
          </a:xfrm>
        </p:grpSpPr>
        <p:sp>
          <p:nvSpPr>
            <p:cNvPr id="444" name="Google Shape;444;p22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2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9" name="Google Shape;449;p22"/>
            <p:cNvGrpSpPr/>
            <p:nvPr/>
          </p:nvGrpSpPr>
          <p:grpSpPr>
            <a:xfrm>
              <a:off x="904875" y="142875"/>
              <a:ext cx="4476900" cy="1619100"/>
              <a:chOff x="0" y="0"/>
              <a:chExt cx="4476900" cy="1619100"/>
            </a:xfrm>
          </p:grpSpPr>
          <p:sp>
            <p:nvSpPr>
              <p:cNvPr id="450" name="Google Shape;450;p22"/>
              <p:cNvSpPr txBox="1"/>
              <p:nvPr/>
            </p:nvSpPr>
            <p:spPr>
              <a:xfrm>
                <a:off x="0" y="0"/>
                <a:ext cx="1238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240</a:t>
                </a:r>
                <a:endParaRPr b="1" sz="4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Transactions</a:t>
                </a:r>
                <a:endParaRPr b="1" sz="10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2"/>
              <p:cNvSpPr txBox="1"/>
              <p:nvPr/>
            </p:nvSpPr>
            <p:spPr>
              <a:xfrm>
                <a:off x="1333500" y="0"/>
                <a:ext cx="3143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Total Scale &amp; Strategy</a:t>
                </a:r>
                <a:endParaRPr b="1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Self-checking testbenches use custom </a:t>
                </a:r>
                <a:r>
                  <a:rPr b="0" lang="en" sz="1100">
                    <a:solidFill>
                      <a:srgbClr val="05624A"/>
                    </a:solidFill>
                    <a:highlight>
                      <a:srgbClr val="E6F4F0"/>
                    </a:highlight>
                    <a:latin typeface="Arial"/>
                    <a:ea typeface="Arial"/>
                    <a:cs typeface="Arial"/>
                    <a:sym typeface="Arial"/>
                  </a:rPr>
                  <a:t>check()</a:t>
                </a:r>
                <a:r>
                  <a:rPr b="0" lang="en" sz="13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tasks for PASS/FAIL logging. Stimulus combines directed cases and random patterns.</a:t>
                </a:r>
                <a:endParaRPr b="0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52" name="Google Shape;452;p22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453" name="Google Shape;453;p22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4" name="Google Shape;454;p22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455" name="Google Shape;455;p22"/>
              <p:cNvPicPr preferRelativeResize="0"/>
              <p:nvPr/>
            </p:nvPicPr>
            <p:blipFill rotWithShape="1">
              <a:blip r:embed="rId6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6" name="Google Shape;456;p22"/>
              <p:cNvPicPr preferRelativeResize="0"/>
              <p:nvPr/>
            </p:nvPicPr>
            <p:blipFill rotWithShape="1">
              <a:blip r:embed="rId7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57" name="Google Shape;457;p22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23"/>
          <p:cNvGrpSpPr/>
          <p:nvPr/>
        </p:nvGrpSpPr>
        <p:grpSpPr>
          <a:xfrm>
            <a:off x="-4762" y="-6"/>
            <a:ext cx="12199163" cy="6886881"/>
            <a:chOff x="-4762" y="-6"/>
            <a:chExt cx="12199163" cy="6886881"/>
          </a:xfrm>
        </p:grpSpPr>
        <p:sp>
          <p:nvSpPr>
            <p:cNvPr id="463" name="Google Shape;463;p2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4" name="Google Shape;464;p23"/>
            <p:cNvGrpSpPr/>
            <p:nvPr/>
          </p:nvGrpSpPr>
          <p:grpSpPr>
            <a:xfrm>
              <a:off x="-4762" y="-6"/>
              <a:ext cx="12197919" cy="891792"/>
              <a:chOff x="-4762" y="-6"/>
              <a:chExt cx="12197919" cy="891792"/>
            </a:xfrm>
          </p:grpSpPr>
          <p:pic>
            <p:nvPicPr>
              <p:cNvPr id="465" name="Google Shape;465;p23"/>
              <p:cNvPicPr preferRelativeResize="0"/>
              <p:nvPr/>
            </p:nvPicPr>
            <p:blipFill rotWithShape="1">
              <a:blip r:embed="rId3">
                <a:alphaModFix/>
              </a:blip>
              <a:srcRect b="10" l="0" r="0" t="10"/>
              <a:stretch/>
            </p:blipFill>
            <p:spPr>
              <a:xfrm>
                <a:off x="-4762" y="0"/>
                <a:ext cx="12196800" cy="633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6" name="Google Shape;466;p23"/>
              <p:cNvSpPr/>
              <p:nvPr/>
            </p:nvSpPr>
            <p:spPr>
              <a:xfrm flipH="1" rot="-5400000">
                <a:off x="5780206" y="-5781456"/>
                <a:ext cx="631500" cy="12194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3"/>
              <p:cNvSpPr txBox="1"/>
              <p:nvPr/>
            </p:nvSpPr>
            <p:spPr>
              <a:xfrm>
                <a:off x="240281" y="141423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8" name="Google Shape;468;p23"/>
              <p:cNvGrpSpPr/>
              <p:nvPr/>
            </p:nvGrpSpPr>
            <p:grpSpPr>
              <a:xfrm>
                <a:off x="4477020" y="263617"/>
                <a:ext cx="3176567" cy="628170"/>
                <a:chOff x="4276725" y="109041"/>
                <a:chExt cx="3569566" cy="705886"/>
              </a:xfrm>
            </p:grpSpPr>
            <p:pic>
              <p:nvPicPr>
                <p:cNvPr id="469" name="Google Shape;469;p23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4276725" y="152400"/>
                  <a:ext cx="3238200" cy="644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70" name="Google Shape;470;p23"/>
                <p:cNvSpPr/>
                <p:nvPr/>
              </p:nvSpPr>
              <p:spPr>
                <a:xfrm>
                  <a:off x="4345591" y="214327"/>
                  <a:ext cx="3500700" cy="600600"/>
                </a:xfrm>
                <a:prstGeom prst="roundRect">
                  <a:avLst>
                    <a:gd fmla="val 39596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471" name="Google Shape;471;p2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-80" l="0" r="10" t="80"/>
                <a:stretch/>
              </p:blipFill>
              <p:spPr>
                <a:xfrm>
                  <a:off x="5604843" y="109041"/>
                  <a:ext cx="775800" cy="642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72" name="Google Shape;472;p23"/>
            <p:cNvGrpSpPr/>
            <p:nvPr/>
          </p:nvGrpSpPr>
          <p:grpSpPr>
            <a:xfrm>
              <a:off x="0" y="1425"/>
              <a:ext cx="12194400" cy="6885450"/>
              <a:chOff x="0" y="1425"/>
              <a:chExt cx="12194400" cy="6885450"/>
            </a:xfrm>
          </p:grpSpPr>
          <p:sp>
            <p:nvSpPr>
              <p:cNvPr id="473" name="Google Shape;473;p23"/>
              <p:cNvSpPr/>
              <p:nvPr/>
            </p:nvSpPr>
            <p:spPr>
              <a:xfrm>
                <a:off x="0" y="1425"/>
                <a:ext cx="12194400" cy="6863700"/>
              </a:xfrm>
              <a:custGeom>
                <a:rect b="b" l="l" r="r" t="t"/>
                <a:pathLst>
                  <a:path extrusionOk="0" h="120000" w="120000">
                    <a:moveTo>
                      <a:pt x="0" y="115362"/>
                    </a:moveTo>
                    <a:cubicBezTo>
                      <a:pt x="0" y="117896"/>
                      <a:pt x="1156" y="119951"/>
                      <a:pt x="2583" y="119951"/>
                    </a:cubicBezTo>
                    <a:lnTo>
                      <a:pt x="117419" y="119951"/>
                    </a:lnTo>
                    <a:cubicBezTo>
                      <a:pt x="118843" y="119951"/>
                      <a:pt x="120000" y="117896"/>
                      <a:pt x="120000" y="115362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4638"/>
                    </a:lnTo>
                    <a:cubicBezTo>
                      <a:pt x="120000" y="2104"/>
                      <a:pt x="118843" y="49"/>
                      <a:pt x="117419" y="49"/>
                    </a:cubicBezTo>
                    <a:lnTo>
                      <a:pt x="2583" y="49"/>
                    </a:lnTo>
                    <a:cubicBezTo>
                      <a:pt x="1156" y="49"/>
                      <a:pt x="0" y="2104"/>
                      <a:pt x="0" y="46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4" name="Google Shape;474;p23"/>
              <p:cNvGrpSpPr/>
              <p:nvPr/>
            </p:nvGrpSpPr>
            <p:grpSpPr>
              <a:xfrm>
                <a:off x="11503192" y="6266643"/>
                <a:ext cx="614845" cy="620233"/>
                <a:chOff x="11077575" y="194161"/>
                <a:chExt cx="547800" cy="552600"/>
              </a:xfrm>
            </p:grpSpPr>
            <p:pic>
              <p:nvPicPr>
                <p:cNvPr id="475" name="Google Shape;475;p2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10" l="0" r="0" t="0"/>
                <a:stretch/>
              </p:blipFill>
              <p:spPr>
                <a:xfrm>
                  <a:off x="11077575" y="194161"/>
                  <a:ext cx="547800" cy="552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76" name="Google Shape;476;p23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60" l="0" r="0" t="60"/>
                <a:stretch/>
              </p:blipFill>
              <p:spPr>
                <a:xfrm>
                  <a:off x="11209115" y="329943"/>
                  <a:ext cx="252600" cy="2475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477" name="Google Shape;477;p23"/>
              <p:cNvSpPr txBox="1"/>
              <p:nvPr/>
            </p:nvSpPr>
            <p:spPr>
              <a:xfrm>
                <a:off x="4038600" y="6356347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8" name="Google Shape;478;p23"/>
          <p:cNvSpPr txBox="1"/>
          <p:nvPr/>
        </p:nvSpPr>
        <p:spPr>
          <a:xfrm>
            <a:off x="476250" y="904875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 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9" name="Google Shape;479;p23"/>
          <p:cNvGrpSpPr/>
          <p:nvPr/>
        </p:nvGrpSpPr>
        <p:grpSpPr>
          <a:xfrm>
            <a:off x="809625" y="2047875"/>
            <a:ext cx="4810200" cy="2990850"/>
            <a:chOff x="285750" y="285750"/>
            <a:chExt cx="4810200" cy="2990850"/>
          </a:xfrm>
        </p:grpSpPr>
        <p:sp>
          <p:nvSpPr>
            <p:cNvPr id="480" name="Google Shape;480;p23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Data-Oriented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81" name="Google Shape;481;p23"/>
            <p:cNvGrpSpPr/>
            <p:nvPr/>
          </p:nvGrpSpPr>
          <p:grpSpPr>
            <a:xfrm>
              <a:off x="333375" y="809625"/>
              <a:ext cx="4762500" cy="571500"/>
              <a:chOff x="333375" y="0"/>
              <a:chExt cx="4762500" cy="571500"/>
            </a:xfrm>
          </p:grpSpPr>
          <p:sp>
            <p:nvSpPr>
              <p:cNvPr id="482" name="Google Shape;482;p23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3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84" name="Google Shape;484;p23"/>
            <p:cNvSpPr/>
            <p:nvPr/>
          </p:nvSpPr>
          <p:spPr>
            <a:xfrm>
              <a:off x="333375" y="1590675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333375" y="2257425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333375" y="3162300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23"/>
          <p:cNvGrpSpPr/>
          <p:nvPr/>
        </p:nvGrpSpPr>
        <p:grpSpPr>
          <a:xfrm>
            <a:off x="6286500" y="1762125"/>
            <a:ext cx="5381700" cy="3952800"/>
            <a:chOff x="0" y="0"/>
            <a:chExt cx="5381700" cy="3952800"/>
          </a:xfrm>
        </p:grpSpPr>
        <p:sp>
          <p:nvSpPr>
            <p:cNvPr id="488" name="Google Shape;488;p23"/>
            <p:cNvSpPr/>
            <p:nvPr/>
          </p:nvSpPr>
          <p:spPr>
            <a:xfrm>
              <a:off x="0" y="0"/>
              <a:ext cx="5381700" cy="3952800"/>
            </a:xfrm>
            <a:prstGeom prst="roundRect">
              <a:avLst>
                <a:gd fmla="val 1927" name="adj"/>
              </a:avLst>
            </a:prstGeom>
            <a:solidFill>
              <a:srgbClr val="FFFFFF"/>
            </a:solidFill>
            <a:ln cap="flat" cmpd="sng" w="253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3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Protocol-Oriented Control Flows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333375" y="923925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1" name="Google Shape;491;p23"/>
            <p:cNvGrpSpPr/>
            <p:nvPr/>
          </p:nvGrpSpPr>
          <p:grpSpPr>
            <a:xfrm>
              <a:off x="333375" y="1476375"/>
              <a:ext cx="4762500" cy="571500"/>
              <a:chOff x="333375" y="0"/>
              <a:chExt cx="4762500" cy="571500"/>
            </a:xfrm>
          </p:grpSpPr>
          <p:sp>
            <p:nvSpPr>
              <p:cNvPr id="492" name="Google Shape;492;p23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3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State Rejection: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busy state rejection of unexpected inputs.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94" name="Google Shape;494;p23"/>
            <p:cNvGrpSpPr/>
            <p:nvPr/>
          </p:nvGrpSpPr>
          <p:grpSpPr>
            <a:xfrm>
              <a:off x="333375" y="2143125"/>
              <a:ext cx="4762500" cy="762000"/>
              <a:chOff x="333375" y="0"/>
              <a:chExt cx="4762500" cy="762000"/>
            </a:xfrm>
          </p:grpSpPr>
          <p:sp>
            <p:nvSpPr>
              <p:cNvPr id="495" name="Google Shape;495;p23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3"/>
              <p:cNvSpPr txBox="1"/>
              <p:nvPr/>
            </p:nvSpPr>
            <p:spPr>
              <a:xfrm>
                <a:off x="523875" y="0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STATUS Done: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STATUS done states transition and assert correctly.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97" name="Google Shape;497;p23"/>
            <p:cNvGrpSpPr/>
            <p:nvPr/>
          </p:nvGrpSpPr>
          <p:grpSpPr>
            <a:xfrm>
              <a:off x="333375" y="3048000"/>
              <a:ext cx="4762500" cy="571500"/>
              <a:chOff x="333375" y="0"/>
              <a:chExt cx="4762500" cy="571500"/>
            </a:xfrm>
          </p:grpSpPr>
          <p:sp>
            <p:nvSpPr>
              <p:cNvPr id="498" name="Google Shape;498;p23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3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Address Limits: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invalid address boundaries return 0 on read.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500" name="Google Shape;500;p23"/>
          <p:cNvSpPr txBox="1"/>
          <p:nvPr/>
        </p:nvSpPr>
        <p:spPr>
          <a:xfrm>
            <a:off x="1134363" y="25717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Defaults: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Core directed tests verify that operand, status, and result registers default to 0 on reset.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23"/>
          <p:cNvSpPr txBox="1"/>
          <p:nvPr/>
        </p:nvSpPr>
        <p:spPr>
          <a:xfrm>
            <a:off x="1134375" y="332510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32-Bit Access: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confirm full 32-bit reads/writes on Operands A (Adress 08)  and B (Adress 0C).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23"/>
          <p:cNvSpPr txBox="1"/>
          <p:nvPr/>
        </p:nvSpPr>
        <p:spPr>
          <a:xfrm>
            <a:off x="1177575" y="4024325"/>
            <a:ext cx="448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Byte-Enables: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Writing 0xAAAA5555 to 0x11223344 with strobe 4'b0101 (5 in dec)  yields 0x11AA3355.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23"/>
          <p:cNvSpPr txBox="1"/>
          <p:nvPr/>
        </p:nvSpPr>
        <p:spPr>
          <a:xfrm>
            <a:off x="1177575" y="4885875"/>
            <a:ext cx="4442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 Masking: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writes to the OPCODE register keep only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wr_data[3:0]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For example, writing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0xFFFF_FF03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wr_strb=4'b1111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read back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0x00000003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6852350" y="25717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Control:</a:t>
            </a:r>
            <a:r>
              <a:rPr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CTRL.START=1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start_pulse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asserted for exactly 1 clock cycle;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STATUS.BUSY=1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2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24"/>
          <p:cNvSpPr txBox="1"/>
          <p:nvPr/>
        </p:nvSpPr>
        <p:spPr>
          <a:xfrm>
            <a:off x="257638" y="48122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Defaults: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Core directed tests verify that operand, status, and result registers default to 0 on reset.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1" name="Google Shape;5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63" y="500063"/>
            <a:ext cx="5133975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638" y="565025"/>
            <a:ext cx="6679162" cy="290876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4"/>
          <p:cNvSpPr txBox="1"/>
          <p:nvPr/>
        </p:nvSpPr>
        <p:spPr>
          <a:xfrm>
            <a:off x="6522225" y="364980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32-Bit Access: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confirm full 32-bit reads/writes on Operands A (Adress 08)  and B (Adress 0C).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5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9" name="Google Shape;5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0" y="408000"/>
            <a:ext cx="9172575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5"/>
          <p:cNvSpPr txBox="1"/>
          <p:nvPr/>
        </p:nvSpPr>
        <p:spPr>
          <a:xfrm>
            <a:off x="9422350" y="766300"/>
            <a:ext cx="2565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Byte-Enables: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Writing 0xAAAA5555 to 0x11223344 with strobe 4'b0101 (5 in dec)  yields 0x11AA3355.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1" name="Google Shape;52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22675"/>
            <a:ext cx="76200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5"/>
          <p:cNvSpPr txBox="1"/>
          <p:nvPr/>
        </p:nvSpPr>
        <p:spPr>
          <a:xfrm>
            <a:off x="8036900" y="4366325"/>
            <a:ext cx="3734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 Masking: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writes to the OPCODE register keep only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wr_data[3:0]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writing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0xFFFF_FF03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wr_strb=4'b1111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read back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0x00000003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25" y="433825"/>
            <a:ext cx="44577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6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26"/>
          <p:cNvSpPr txBox="1"/>
          <p:nvPr/>
        </p:nvSpPr>
        <p:spPr>
          <a:xfrm>
            <a:off x="5066425" y="10455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Control:</a:t>
            </a:r>
            <a:r>
              <a:rPr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Pulse Timing: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Write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CTRL.START=1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start_pulse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asserted for exactly 1 clock cycle;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STATUS.BUSY=1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2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0" name="Google Shape;53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350" y="3598700"/>
            <a:ext cx="7947339" cy="27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6"/>
          <p:cNvSpPr txBox="1"/>
          <p:nvPr/>
        </p:nvSpPr>
        <p:spPr>
          <a:xfrm>
            <a:off x="8283775" y="3027200"/>
            <a:ext cx="3779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Rejection: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Confirm busy state rejection of unexpected inputs.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Times New Roman"/>
              <a:buChar char="-"/>
            </a:pPr>
            <a:r>
              <a:rPr b="1" lang="en" sz="1550">
                <a:latin typeface="Times New Roman"/>
                <a:ea typeface="Times New Roman"/>
                <a:cs typeface="Times New Roman"/>
                <a:sym typeface="Times New Roman"/>
              </a:rPr>
              <a:t>0.145 us</a:t>
            </a:r>
            <a:r>
              <a:rPr lang="en" sz="1550">
                <a:latin typeface="Times New Roman"/>
                <a:ea typeface="Times New Roman"/>
                <a:cs typeface="Times New Roman"/>
                <a:sym typeface="Times New Roman"/>
              </a:rPr>
              <a:t>: The first start command is accepted; start_pulse = 1 and STATUS = 0x1.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Times New Roman"/>
              <a:buChar char="-"/>
            </a:pPr>
            <a:r>
              <a:rPr b="1" lang="en" sz="1550">
                <a:latin typeface="Times New Roman"/>
                <a:ea typeface="Times New Roman"/>
                <a:cs typeface="Times New Roman"/>
                <a:sym typeface="Times New Roman"/>
              </a:rPr>
              <a:t>0.155 us</a:t>
            </a:r>
            <a:r>
              <a:rPr lang="en" sz="1550">
                <a:latin typeface="Times New Roman"/>
                <a:ea typeface="Times New Roman"/>
                <a:cs typeface="Times New Roman"/>
                <a:sym typeface="Times New Roman"/>
              </a:rPr>
              <a:t>: start_pulse is cleared to 0, while STATUS remains 0x1.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Times New Roman"/>
              <a:buChar char="-"/>
            </a:pPr>
            <a:r>
              <a:rPr b="1" lang="en" sz="1550">
                <a:latin typeface="Times New Roman"/>
                <a:ea typeface="Times New Roman"/>
                <a:cs typeface="Times New Roman"/>
                <a:sym typeface="Times New Roman"/>
              </a:rPr>
              <a:t>0.160-0.170 us:</a:t>
            </a:r>
            <a:r>
              <a:rPr lang="en" sz="1550">
                <a:latin typeface="Times New Roman"/>
                <a:ea typeface="Times New Roman"/>
                <a:cs typeface="Times New Roman"/>
                <a:sym typeface="Times New Roman"/>
              </a:rPr>
              <a:t> A second CTRL = 1 write is issued while the register bank is busy.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Times New Roman"/>
              <a:buChar char="-"/>
            </a:pPr>
            <a:r>
              <a:rPr b="1" lang="en" sz="1550">
                <a:latin typeface="Times New Roman"/>
                <a:ea typeface="Times New Roman"/>
                <a:cs typeface="Times New Roman"/>
                <a:sym typeface="Times New Roman"/>
              </a:rPr>
              <a:t>0.175 us</a:t>
            </a:r>
            <a:r>
              <a:rPr lang="en" sz="1550">
                <a:latin typeface="Times New Roman"/>
                <a:ea typeface="Times New Roman"/>
                <a:cs typeface="Times New Roman"/>
                <a:sym typeface="Times New Roman"/>
              </a:rPr>
              <a:t>: start_pulse remains 0, confirming that the restart request is rejected.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7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27"/>
          <p:cNvSpPr txBox="1"/>
          <p:nvPr/>
        </p:nvSpPr>
        <p:spPr>
          <a:xfrm>
            <a:off x="316050" y="434905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Done: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Verify STATUS done states transition and assert correctly.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verifies that when the ALU core completes successfully (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core_done=1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core_error=0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the register bank must clear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set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keep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deasserted, and latch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core_result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the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register. 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8" name="Google Shape;5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00" y="482900"/>
            <a:ext cx="54292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28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544" name="Google Shape;544;p28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5" name="Google Shape;545;p28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6" name="Google Shape;546;p28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547" name="Google Shape;547;p28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8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9" name="Google Shape;549;p28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550" name="Google Shape;550;p28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1" name="Google Shape;551;p28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52" name="Google Shape;552;p28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53" name="Google Shape;553;p28"/>
          <p:cNvGrpSpPr/>
          <p:nvPr/>
        </p:nvGrpSpPr>
        <p:grpSpPr>
          <a:xfrm>
            <a:off x="285750" y="1000125"/>
            <a:ext cx="11620500" cy="714300"/>
            <a:chOff x="0" y="0"/>
            <a:chExt cx="11620500" cy="714300"/>
          </a:xfrm>
        </p:grpSpPr>
        <p:sp>
          <p:nvSpPr>
            <p:cNvPr id="554" name="Google Shape;554;p28"/>
            <p:cNvSpPr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8"/>
            <p:cNvSpPr txBox="1"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&amp; Bridge Verification Scenarios</a:t>
              </a:r>
              <a:endParaRPr b="1" i="0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56" name="Google Shape;556;p28"/>
          <p:cNvGrpSpPr/>
          <p:nvPr/>
        </p:nvGrpSpPr>
        <p:grpSpPr>
          <a:xfrm>
            <a:off x="428625" y="1809750"/>
            <a:ext cx="5429400" cy="4095900"/>
            <a:chOff x="0" y="0"/>
            <a:chExt cx="5429400" cy="4095900"/>
          </a:xfrm>
        </p:grpSpPr>
        <p:sp>
          <p:nvSpPr>
            <p:cNvPr id="557" name="Google Shape;557;p28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fmla="val 279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8" name="Google Shape;558;p28"/>
            <p:cNvGrpSpPr/>
            <p:nvPr/>
          </p:nvGrpSpPr>
          <p:grpSpPr>
            <a:xfrm>
              <a:off x="285750" y="190500"/>
              <a:ext cx="4857900" cy="428700"/>
              <a:chOff x="0" y="0"/>
              <a:chExt cx="4857900" cy="428700"/>
            </a:xfrm>
          </p:grpSpPr>
          <p:sp>
            <p:nvSpPr>
              <p:cNvPr id="559" name="Google Shape;559;p28"/>
              <p:cNvSpPr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8"/>
              <p:cNvSpPr txBox="1"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AXI4-Lite Slave Tests</a:t>
                </a:r>
                <a:endParaRPr b="1" i="0" sz="22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561" name="Google Shape;561;p28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62" name="Google Shape;562;p28"/>
            <p:cNvGrpSpPr/>
            <p:nvPr/>
          </p:nvGrpSpPr>
          <p:grpSpPr>
            <a:xfrm>
              <a:off x="285750" y="762000"/>
              <a:ext cx="4857900" cy="2190900"/>
              <a:chOff x="0" y="0"/>
              <a:chExt cx="4857900" cy="2190900"/>
            </a:xfrm>
          </p:grpSpPr>
          <p:sp>
            <p:nvSpPr>
              <p:cNvPr id="563" name="Google Shape;563;p28"/>
              <p:cNvSpPr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8"/>
              <p:cNvSpPr txBox="1"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5250" spcFirstLastPara="1" rIns="95250" wrap="square" tIns="0">
                <a:noAutofit/>
              </a:bodyPr>
              <a:lstStyle/>
              <a:p>
                <a:pPr indent="-190500" lvl="0" marL="1905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AW-before-W, W-before-AW (generating exactly one valid write pulse), and same-cycle AW/W writes.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ARVALID/ARREADY handshakes and back-to-back recovery during read transactions.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Hold BREADY/RREADY low during response stall tests to ensure VALID signals remain asserted.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65" name="Google Shape;565;p28"/>
            <p:cNvGrpSpPr/>
            <p:nvPr/>
          </p:nvGrpSpPr>
          <p:grpSpPr>
            <a:xfrm>
              <a:off x="381000" y="2809875"/>
              <a:ext cx="4581525" cy="1019175"/>
              <a:chOff x="381000" y="2809875"/>
              <a:chExt cx="4581525" cy="1019175"/>
            </a:xfrm>
          </p:grpSpPr>
          <p:sp>
            <p:nvSpPr>
              <p:cNvPr id="566" name="Google Shape;566;p28"/>
              <p:cNvSpPr/>
              <p:nvPr/>
            </p:nvSpPr>
            <p:spPr>
              <a:xfrm>
                <a:off x="381000" y="3095625"/>
                <a:ext cx="9525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8"/>
              <p:cNvSpPr txBox="1"/>
              <p:nvPr/>
            </p:nvSpPr>
            <p:spPr>
              <a:xfrm>
                <a:off x="381000" y="3095625"/>
                <a:ext cx="95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Master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68" name="Google Shape;568;p2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333500" y="3214688"/>
                <a:ext cx="7335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9" name="Google Shape;569;p28"/>
              <p:cNvSpPr txBox="1"/>
              <p:nvPr/>
            </p:nvSpPr>
            <p:spPr>
              <a:xfrm>
                <a:off x="1333500" y="28098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AW/W, AR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70" name="Google Shape;570;p2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362075" y="3367088"/>
                <a:ext cx="7335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1" name="Google Shape;571;p28"/>
              <p:cNvSpPr txBox="1"/>
              <p:nvPr/>
            </p:nvSpPr>
            <p:spPr>
              <a:xfrm>
                <a:off x="1333500" y="344805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READY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28"/>
              <p:cNvSpPr/>
              <p:nvPr/>
            </p:nvSpPr>
            <p:spPr>
              <a:xfrm>
                <a:off x="2095500" y="3095625"/>
                <a:ext cx="11430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8"/>
              <p:cNvSpPr txBox="1"/>
              <p:nvPr/>
            </p:nvSpPr>
            <p:spPr>
              <a:xfrm>
                <a:off x="2095500" y="3095625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AXI Slave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74" name="Google Shape;574;p2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286125" y="3290888"/>
                <a:ext cx="4287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5" name="Google Shape;575;p28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705225" y="3086100"/>
                <a:ext cx="1257300" cy="495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6" name="Google Shape;576;p28"/>
              <p:cNvSpPr txBox="1"/>
              <p:nvPr/>
            </p:nvSpPr>
            <p:spPr>
              <a:xfrm>
                <a:off x="3714750" y="3095625"/>
                <a:ext cx="1238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Directed</a:t>
                </a:r>
                <a:endParaRPr b="1" sz="12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Scenarios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7" name="Google Shape;577;p28"/>
          <p:cNvGrpSpPr/>
          <p:nvPr/>
        </p:nvGrpSpPr>
        <p:grpSpPr>
          <a:xfrm>
            <a:off x="6334125" y="1809750"/>
            <a:ext cx="5429400" cy="4095900"/>
            <a:chOff x="0" y="0"/>
            <a:chExt cx="5429400" cy="4095900"/>
          </a:xfrm>
        </p:grpSpPr>
        <p:sp>
          <p:nvSpPr>
            <p:cNvPr id="578" name="Google Shape;578;p28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fmla="val 279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9" name="Google Shape;579;p28"/>
            <p:cNvGrpSpPr/>
            <p:nvPr/>
          </p:nvGrpSpPr>
          <p:grpSpPr>
            <a:xfrm>
              <a:off x="285750" y="190500"/>
              <a:ext cx="4857900" cy="428700"/>
              <a:chOff x="0" y="0"/>
              <a:chExt cx="4857900" cy="428700"/>
            </a:xfrm>
          </p:grpSpPr>
          <p:sp>
            <p:nvSpPr>
              <p:cNvPr id="580" name="Google Shape;580;p28"/>
              <p:cNvSpPr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8"/>
              <p:cNvSpPr txBox="1"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Avalon Bridge Tests</a:t>
                </a:r>
                <a:endParaRPr b="1" i="0" sz="22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582" name="Google Shape;582;p28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83" name="Google Shape;583;p28"/>
            <p:cNvGrpSpPr/>
            <p:nvPr/>
          </p:nvGrpSpPr>
          <p:grpSpPr>
            <a:xfrm>
              <a:off x="285750" y="762000"/>
              <a:ext cx="4857900" cy="2190900"/>
              <a:chOff x="0" y="0"/>
              <a:chExt cx="4857900" cy="2190900"/>
            </a:xfrm>
          </p:grpSpPr>
          <p:sp>
            <p:nvSpPr>
              <p:cNvPr id="584" name="Google Shape;584;p28"/>
              <p:cNvSpPr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8"/>
              <p:cNvSpPr txBox="1"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5250" spcFirstLastPara="1" rIns="95250" wrap="square" tIns="0">
                <a:noAutofit/>
              </a:bodyPr>
              <a:lstStyle/>
              <a:p>
                <a:pPr indent="-190500" lvl="0" marL="1905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Validate write timing variations and delayed read responses.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proper avs_waitrequest assertion while busy.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delayed ARREADY/RVALID, waitrequest, and readdatavalid signals.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86" name="Google Shape;586;p28"/>
            <p:cNvGrpSpPr/>
            <p:nvPr/>
          </p:nvGrpSpPr>
          <p:grpSpPr>
            <a:xfrm>
              <a:off x="381000" y="2809875"/>
              <a:ext cx="4476900" cy="1019175"/>
              <a:chOff x="381000" y="2809875"/>
              <a:chExt cx="4476900" cy="1019175"/>
            </a:xfrm>
          </p:grpSpPr>
          <p:sp>
            <p:nvSpPr>
              <p:cNvPr id="587" name="Google Shape;587;p28"/>
              <p:cNvSpPr/>
              <p:nvPr/>
            </p:nvSpPr>
            <p:spPr>
              <a:xfrm>
                <a:off x="3810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8"/>
              <p:cNvSpPr txBox="1"/>
              <p:nvPr/>
            </p:nvSpPr>
            <p:spPr>
              <a:xfrm>
                <a:off x="3810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AXI Master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89" name="Google Shape;589;p28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428750" y="32146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0" name="Google Shape;590;p28"/>
              <p:cNvSpPr txBox="1"/>
              <p:nvPr/>
            </p:nvSpPr>
            <p:spPr>
              <a:xfrm>
                <a:off x="1428750" y="2809875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AXI4-Lite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28"/>
              <p:cNvSpPr/>
              <p:nvPr/>
            </p:nvSpPr>
            <p:spPr>
              <a:xfrm>
                <a:off x="20955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8"/>
              <p:cNvSpPr txBox="1"/>
              <p:nvPr/>
            </p:nvSpPr>
            <p:spPr>
              <a:xfrm>
                <a:off x="20955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AXI-Avalon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Bridge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93" name="Google Shape;593;p28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3143250" y="32146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4" name="Google Shape;594;p28"/>
              <p:cNvSpPr txBox="1"/>
              <p:nvPr/>
            </p:nvSpPr>
            <p:spPr>
              <a:xfrm>
                <a:off x="3143250" y="2809875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Avalon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95" name="Google Shape;595;p2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3171825" y="33670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6" name="Google Shape;596;p28"/>
              <p:cNvSpPr txBox="1"/>
              <p:nvPr/>
            </p:nvSpPr>
            <p:spPr>
              <a:xfrm>
                <a:off x="3143250" y="3448050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79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waitrequest</a:t>
                </a:r>
                <a:endParaRPr b="1" sz="879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28"/>
              <p:cNvSpPr/>
              <p:nvPr/>
            </p:nvSpPr>
            <p:spPr>
              <a:xfrm>
                <a:off x="38100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8"/>
              <p:cNvSpPr txBox="1"/>
              <p:nvPr/>
            </p:nvSpPr>
            <p:spPr>
              <a:xfrm>
                <a:off x="38100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Slave Core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9" name="Google Shape;599;p28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600" name="Google Shape;600;p28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1" name="Google Shape;601;p28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602" name="Google Shape;602;p28"/>
              <p:cNvPicPr preferRelativeResize="0"/>
              <p:nvPr/>
            </p:nvPicPr>
            <p:blipFill rotWithShape="1">
              <a:blip r:embed="rId13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3" name="Google Shape;603;p28"/>
              <p:cNvPicPr preferRelativeResize="0"/>
              <p:nvPr/>
            </p:nvPicPr>
            <p:blipFill rotWithShape="1">
              <a:blip r:embed="rId14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04" name="Google Shape;604;p28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605" name="Google Shape;605;p28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8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i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29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612" name="Google Shape;612;p29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29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9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5" name="Google Shape;615;p29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616" name="Google Shape;616;p29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7" name="Google Shape;617;p2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8" name="Google Shape;618;p29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19" name="Google Shape;619;p29"/>
          <p:cNvSpPr txBox="1"/>
          <p:nvPr/>
        </p:nvSpPr>
        <p:spPr>
          <a:xfrm>
            <a:off x="476250" y="904875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 Report &amp; Synthesis Analysis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20" name="Google Shape;620;p29"/>
          <p:cNvGrpSpPr/>
          <p:nvPr/>
        </p:nvGrpSpPr>
        <p:grpSpPr>
          <a:xfrm>
            <a:off x="476250" y="1619250"/>
            <a:ext cx="3429000" cy="4333800"/>
            <a:chOff x="0" y="0"/>
            <a:chExt cx="3429000" cy="4333800"/>
          </a:xfrm>
        </p:grpSpPr>
        <p:sp>
          <p:nvSpPr>
            <p:cNvPr id="621" name="Google Shape;621;p29"/>
            <p:cNvSpPr/>
            <p:nvPr/>
          </p:nvSpPr>
          <p:spPr>
            <a:xfrm>
              <a:off x="0" y="0"/>
              <a:ext cx="3429000" cy="43338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0" y="0"/>
              <a:ext cx="3429000" cy="4287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cubicBezTo>
                    <a:pt x="0" y="14327"/>
                    <a:pt x="1791" y="0"/>
                    <a:pt x="4000" y="0"/>
                  </a:cubicBezTo>
                  <a:lnTo>
                    <a:pt x="116000" y="0"/>
                  </a:lnTo>
                  <a:cubicBezTo>
                    <a:pt x="118209" y="0"/>
                    <a:pt x="120000" y="14327"/>
                    <a:pt x="120000" y="32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9"/>
            <p:cNvSpPr txBox="1"/>
            <p:nvPr/>
          </p:nvSpPr>
          <p:spPr>
            <a:xfrm>
              <a:off x="0" y="0"/>
              <a:ext cx="342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SYNTHESIS &amp; COVERAGE OVERVIEW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9"/>
            <p:cNvSpPr txBox="1"/>
            <p:nvPr/>
          </p:nvSpPr>
          <p:spPr>
            <a:xfrm>
              <a:off x="190500" y="619125"/>
              <a:ext cx="3048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Vivado Simulator Analysis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Standalone target RTL modules achieved </a:t>
              </a:r>
              <a:r>
                <a:rPr b="1" lang="en" sz="19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 statement and branch coverage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1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b="1" lang="en" sz="17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tb_avalon_axi4lite_bridge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report hit </a:t>
              </a:r>
              <a:r>
                <a:rPr b="1" lang="en" sz="19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98.75% Statement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b="1" lang="en" sz="19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92.86% Branch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coverage.</a:t>
              </a:r>
              <a:endParaRPr sz="1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25" name="Google Shape;625;p29"/>
          <p:cNvSpPr/>
          <p:nvPr/>
        </p:nvSpPr>
        <p:spPr>
          <a:xfrm>
            <a:off x="4095750" y="1619250"/>
            <a:ext cx="7620000" cy="433380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905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9"/>
          <p:cNvSpPr/>
          <p:nvPr/>
        </p:nvSpPr>
        <p:spPr>
          <a:xfrm>
            <a:off x="4095750" y="1619250"/>
            <a:ext cx="7620000" cy="428700"/>
          </a:xfrm>
          <a:custGeom>
            <a:rect b="b" l="l" r="r" t="t"/>
            <a:pathLst>
              <a:path extrusionOk="0" h="120000" w="120000">
                <a:moveTo>
                  <a:pt x="0" y="32000"/>
                </a:moveTo>
                <a:cubicBezTo>
                  <a:pt x="0" y="14327"/>
                  <a:pt x="806" y="0"/>
                  <a:pt x="1800" y="0"/>
                </a:cubicBezTo>
                <a:lnTo>
                  <a:pt x="118200" y="0"/>
                </a:lnTo>
                <a:cubicBezTo>
                  <a:pt x="119194" y="0"/>
                  <a:pt x="120000" y="14327"/>
                  <a:pt x="120000" y="32000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562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9"/>
          <p:cNvSpPr/>
          <p:nvPr/>
        </p:nvSpPr>
        <p:spPr>
          <a:xfrm>
            <a:off x="4105275" y="3333750"/>
            <a:ext cx="7601100" cy="1285800"/>
          </a:xfrm>
          <a:prstGeom prst="rect">
            <a:avLst/>
          </a:prstGeom>
          <a:solidFill>
            <a:srgbClr val="E6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8" name="Google Shape;62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1738" y="2047875"/>
            <a:ext cx="9600" cy="39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8738" y="2047875"/>
            <a:ext cx="9600" cy="39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0" name="Google Shape;630;p29"/>
          <p:cNvCxnSpPr/>
          <p:nvPr/>
        </p:nvCxnSpPr>
        <p:spPr>
          <a:xfrm>
            <a:off x="4095750" y="2047875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29"/>
          <p:cNvCxnSpPr/>
          <p:nvPr/>
        </p:nvCxnSpPr>
        <p:spPr>
          <a:xfrm>
            <a:off x="4095750" y="3333750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29"/>
          <p:cNvCxnSpPr/>
          <p:nvPr/>
        </p:nvCxnSpPr>
        <p:spPr>
          <a:xfrm>
            <a:off x="4095750" y="4619625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29"/>
          <p:cNvSpPr txBox="1"/>
          <p:nvPr/>
        </p:nvSpPr>
        <p:spPr>
          <a:xfrm>
            <a:off x="4286250" y="1619250"/>
            <a:ext cx="1809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MODULE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9"/>
          <p:cNvSpPr txBox="1"/>
          <p:nvPr/>
        </p:nvSpPr>
        <p:spPr>
          <a:xfrm>
            <a:off x="6477000" y="1619250"/>
            <a:ext cx="2286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TESTBENCH REPORT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9"/>
          <p:cNvSpPr txBox="1"/>
          <p:nvPr/>
        </p:nvSpPr>
        <p:spPr>
          <a:xfrm>
            <a:off x="9144000" y="1619250"/>
            <a:ext cx="2381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RTL STANDALONE TARGET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9"/>
          <p:cNvSpPr txBox="1"/>
          <p:nvPr/>
        </p:nvSpPr>
        <p:spPr>
          <a:xfrm>
            <a:off x="4286250" y="2047875"/>
            <a:ext cx="1809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axi_register_bank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7" name="Google Shape;637;p29"/>
          <p:cNvGraphicFramePr/>
          <p:nvPr/>
        </p:nvGraphicFramePr>
        <p:xfrm>
          <a:off x="6477000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{34499347-EE0B-480E-82C9-A1B7F1703D76}</a:tableStyleId>
              </a:tblPr>
              <a:tblGrid>
                <a:gridCol w="1143000"/>
                <a:gridCol w="1143000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98.46%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91.30%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30.93%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638" name="Google Shape;638;p29"/>
          <p:cNvGraphicFramePr/>
          <p:nvPr/>
        </p:nvGraphicFramePr>
        <p:xfrm>
          <a:off x="9144000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{34499347-EE0B-480E-82C9-A1B7F1703D76}</a:tableStyleId>
              </a:tblPr>
              <a:tblGrid>
                <a:gridCol w="1190625"/>
                <a:gridCol w="1190625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44.73%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sp>
        <p:nvSpPr>
          <p:cNvPr id="639" name="Google Shape;639;p29"/>
          <p:cNvSpPr txBox="1"/>
          <p:nvPr/>
        </p:nvSpPr>
        <p:spPr>
          <a:xfrm>
            <a:off x="4286250" y="3333750"/>
            <a:ext cx="1809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axi4lite_slave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0" name="Google Shape;640;p29"/>
          <p:cNvGraphicFramePr/>
          <p:nvPr/>
        </p:nvGraphicFramePr>
        <p:xfrm>
          <a:off x="6477000" y="33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{34499347-EE0B-480E-82C9-A1B7F1703D76}</a:tableStyleId>
              </a:tblPr>
              <a:tblGrid>
                <a:gridCol w="1143000"/>
                <a:gridCol w="1143000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98.61%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90.48%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15.30%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641" name="Google Shape;641;p29"/>
          <p:cNvGraphicFramePr/>
          <p:nvPr/>
        </p:nvGraphicFramePr>
        <p:xfrm>
          <a:off x="9144000" y="33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{34499347-EE0B-480E-82C9-A1B7F1703D76}</a:tableStyleId>
              </a:tblPr>
              <a:tblGrid>
                <a:gridCol w="1190625"/>
                <a:gridCol w="1190625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15.69%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sp>
        <p:nvSpPr>
          <p:cNvPr id="642" name="Google Shape;642;p29"/>
          <p:cNvSpPr txBox="1"/>
          <p:nvPr/>
        </p:nvSpPr>
        <p:spPr>
          <a:xfrm>
            <a:off x="4286250" y="4619625"/>
            <a:ext cx="180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avalon_axi4lite_bridge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3" name="Google Shape;643;p29"/>
          <p:cNvGraphicFramePr/>
          <p:nvPr/>
        </p:nvGraphicFramePr>
        <p:xfrm>
          <a:off x="6477000" y="461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{34499347-EE0B-480E-82C9-A1B7F1703D76}</a:tableStyleId>
              </a:tblPr>
              <a:tblGrid>
                <a:gridCol w="1143000"/>
                <a:gridCol w="1143000"/>
              </a:tblGrid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98.75%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92.86%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52.38%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20.73%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644" name="Google Shape;644;p29"/>
          <p:cNvGraphicFramePr/>
          <p:nvPr/>
        </p:nvGraphicFramePr>
        <p:xfrm>
          <a:off x="9144000" y="461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{34499347-EE0B-480E-82C9-A1B7F1703D76}</a:tableStyleId>
              </a:tblPr>
              <a:tblGrid>
                <a:gridCol w="1190625"/>
                <a:gridCol w="1190625"/>
              </a:tblGrid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29.92%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pSp>
        <p:nvGrpSpPr>
          <p:cNvPr id="645" name="Google Shape;645;p29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646" name="Google Shape;646;p29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7" name="Google Shape;647;p29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648" name="Google Shape;648;p29"/>
              <p:cNvPicPr preferRelativeResize="0"/>
              <p:nvPr/>
            </p:nvPicPr>
            <p:blipFill rotWithShape="1">
              <a:blip r:embed="rId8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9" name="Google Shape;649;p29"/>
              <p:cNvPicPr preferRelativeResize="0"/>
              <p:nvPr/>
            </p:nvPicPr>
            <p:blipFill rotWithShape="1">
              <a:blip r:embed="rId9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0" name="Google Shape;650;p29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1" name="Google Shape;651;p29"/>
          <p:cNvSpPr txBox="1"/>
          <p:nvPr/>
        </p:nvSpPr>
        <p:spPr>
          <a:xfrm>
            <a:off x="476250" y="6356347"/>
            <a:ext cx="428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Vivado Simulator Coverage Report 2023.1, 17/07/2026</a:t>
            </a:r>
            <a:endParaRPr b="0"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30"/>
          <p:cNvGrpSpPr/>
          <p:nvPr/>
        </p:nvGrpSpPr>
        <p:grpSpPr>
          <a:xfrm>
            <a:off x="523875" y="904875"/>
            <a:ext cx="11144400" cy="857400"/>
            <a:chOff x="0" y="0"/>
            <a:chExt cx="11144400" cy="857400"/>
          </a:xfrm>
        </p:grpSpPr>
        <p:sp>
          <p:nvSpPr>
            <p:cNvPr id="657" name="Google Shape;657;p30"/>
            <p:cNvSpPr/>
            <p:nvPr/>
          </p:nvSpPr>
          <p:spPr>
            <a:xfrm>
              <a:off x="0" y="0"/>
              <a:ext cx="111444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0"/>
            <p:cNvSpPr txBox="1"/>
            <p:nvPr/>
          </p:nvSpPr>
          <p:spPr>
            <a:xfrm>
              <a:off x="0" y="0"/>
              <a:ext cx="1114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FPGA Implementation &amp; Platform Integration</a:t>
              </a:r>
              <a:endParaRPr b="1" i="0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Cyclone IV E platform target and Qsys system design integration</a:t>
              </a:r>
              <a:endParaRPr b="1" i="0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59" name="Google Shape;659;p30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30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0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0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663" name="Google Shape;663;p30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0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5" name="Google Shape;665;p30"/>
          <p:cNvGrpSpPr/>
          <p:nvPr/>
        </p:nvGrpSpPr>
        <p:grpSpPr>
          <a:xfrm>
            <a:off x="523875" y="1857375"/>
            <a:ext cx="2571900" cy="4000500"/>
            <a:chOff x="0" y="0"/>
            <a:chExt cx="2571900" cy="4000500"/>
          </a:xfrm>
        </p:grpSpPr>
        <p:sp>
          <p:nvSpPr>
            <p:cNvPr id="666" name="Google Shape;666;p30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0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0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FPGA Platform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9" name="Google Shape;669;p30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0" name="Google Shape;670;p30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PLATFORM FAMILY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Cyclone IV E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TARGET ROLE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Low-power, low-cost system design and hardware verification prototyping.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SUPPORTED TOOLCHAIN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Quartus Prime design software integration.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71" name="Google Shape;671;p30"/>
          <p:cNvGrpSpPr/>
          <p:nvPr/>
        </p:nvGrpSpPr>
        <p:grpSpPr>
          <a:xfrm>
            <a:off x="3381375" y="1857375"/>
            <a:ext cx="2571900" cy="4000500"/>
            <a:chOff x="0" y="0"/>
            <a:chExt cx="2571900" cy="4000500"/>
          </a:xfrm>
        </p:grpSpPr>
        <p:sp>
          <p:nvSpPr>
            <p:cNvPr id="672" name="Google Shape;672;p30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0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 Device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75" name="Google Shape;675;p30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6" name="Google Shape;676;p30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DEVICE PART NUMBER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EP4CE22F17C6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HARDWARE RESOURCES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22,320 Logic Elements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154 M9K Memory Blocks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75 Embedded Multipliers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153 Max User I/O Pins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77" name="Google Shape;677;p30"/>
          <p:cNvGrpSpPr/>
          <p:nvPr/>
        </p:nvGrpSpPr>
        <p:grpSpPr>
          <a:xfrm>
            <a:off x="6238875" y="1857375"/>
            <a:ext cx="2571900" cy="4000500"/>
            <a:chOff x="0" y="0"/>
            <a:chExt cx="2571900" cy="4000500"/>
          </a:xfrm>
        </p:grpSpPr>
        <p:sp>
          <p:nvSpPr>
            <p:cNvPr id="678" name="Google Shape;678;p30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0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 Entity &amp; Clock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81" name="Google Shape;681;p30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2" name="Google Shape;682;p30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DESIGN TOP ENTITY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AXI_LITE_RESEARCH</a:t>
              </a:r>
              <a:endParaRPr b="1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SYSTEM CLOCK CONFIG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Signal: </a:t>
              </a:r>
              <a:r>
                <a:rPr b="1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CLOCK_50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FPGA Pin: </a:t>
              </a:r>
              <a:r>
                <a:rPr b="1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Pin R8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Frequency: 50 MHz input reference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83" name="Google Shape;683;p30"/>
          <p:cNvGrpSpPr/>
          <p:nvPr/>
        </p:nvGrpSpPr>
        <p:grpSpPr>
          <a:xfrm>
            <a:off x="9096375" y="1857375"/>
            <a:ext cx="2571900" cy="4000500"/>
            <a:chOff x="0" y="0"/>
            <a:chExt cx="2571900" cy="4000500"/>
          </a:xfrm>
        </p:grpSpPr>
        <p:sp>
          <p:nvSpPr>
            <p:cNvPr id="684" name="Google Shape;684;p30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0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IP &amp; Integration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87" name="Google Shape;687;p30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8" name="Google Shape;688;p30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IP PACKAGING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Platform Designer IP packaged via </a:t>
              </a: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ALU_AXI4_LITE_hw.tcl</a:t>
              </a: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incorporating all </a:t>
              </a: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RTL files</a:t>
              </a: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QSYS SYSTEM CONFIG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generation configuration path: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quartus/system.qsys</a:t>
              </a:r>
              <a:endParaRPr b="1" sz="11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9" name="Google Shape;689;p30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0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691" name="Google Shape;691;p30"/>
          <p:cNvSpPr/>
          <p:nvPr>
            <p:ph idx="6" type="pic"/>
          </p:nvPr>
        </p:nvSpPr>
        <p:spPr>
          <a:xfrm>
            <a:off x="11650831" y="6419043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692" name="Google Shape;692;p30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3" name="Google Shape;693;p30"/>
          <p:cNvGrpSpPr/>
          <p:nvPr/>
        </p:nvGrpSpPr>
        <p:grpSpPr>
          <a:xfrm>
            <a:off x="-4762" y="-6"/>
            <a:ext cx="12197919" cy="946406"/>
            <a:chOff x="-4762" y="-6"/>
            <a:chExt cx="12197919" cy="946406"/>
          </a:xfrm>
        </p:grpSpPr>
        <p:pic>
          <p:nvPicPr>
            <p:cNvPr id="694" name="Google Shape;694;p30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5" name="Google Shape;695;p30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6" name="Google Shape;696;p30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697" name="Google Shape;697;p30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30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9" name="Google Shape;699;p30"/>
            <p:cNvGrpSpPr/>
            <p:nvPr/>
          </p:nvGrpSpPr>
          <p:grpSpPr>
            <a:xfrm>
              <a:off x="4477007" y="263617"/>
              <a:ext cx="3238079" cy="682784"/>
              <a:chOff x="4276725" y="109041"/>
              <a:chExt cx="3638700" cy="767259"/>
            </a:xfrm>
          </p:grpSpPr>
          <p:pic>
            <p:nvPicPr>
              <p:cNvPr id="700" name="Google Shape;700;p30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1" name="Google Shape;701;p30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02" name="Google Shape;702;p30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" name="Google Shape;707;p31"/>
          <p:cNvGrpSpPr/>
          <p:nvPr/>
        </p:nvGrpSpPr>
        <p:grpSpPr>
          <a:xfrm>
            <a:off x="-4762" y="-6"/>
            <a:ext cx="12197919" cy="891792"/>
            <a:chOff x="-4762" y="-6"/>
            <a:chExt cx="12197919" cy="891792"/>
          </a:xfrm>
        </p:grpSpPr>
        <p:pic>
          <p:nvPicPr>
            <p:cNvPr id="708" name="Google Shape;708;p31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9" name="Google Shape;709;p31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1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1" name="Google Shape;711;p31"/>
            <p:cNvGrpSpPr/>
            <p:nvPr/>
          </p:nvGrpSpPr>
          <p:grpSpPr>
            <a:xfrm>
              <a:off x="4477020" y="263617"/>
              <a:ext cx="3176567" cy="628170"/>
              <a:chOff x="4276725" y="109041"/>
              <a:chExt cx="3569566" cy="705886"/>
            </a:xfrm>
          </p:grpSpPr>
          <p:pic>
            <p:nvPicPr>
              <p:cNvPr id="712" name="Google Shape;712;p3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276725" y="152400"/>
                <a:ext cx="3238200" cy="64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3" name="Google Shape;713;p31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14" name="Google Shape;714;p31"/>
              <p:cNvPicPr preferRelativeResize="0"/>
              <p:nvPr/>
            </p:nvPicPr>
            <p:blipFill rotWithShape="1">
              <a:blip r:embed="rId6">
                <a:alphaModFix/>
              </a:blip>
              <a:srcRect b="-80" l="0" r="10" t="80"/>
              <a:stretch/>
            </p:blipFill>
            <p:spPr>
              <a:xfrm>
                <a:off x="5604843" y="109041"/>
                <a:ext cx="775800" cy="642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15" name="Google Shape;715;p31"/>
          <p:cNvGrpSpPr/>
          <p:nvPr/>
        </p:nvGrpSpPr>
        <p:grpSpPr>
          <a:xfrm>
            <a:off x="0" y="1425"/>
            <a:ext cx="12194400" cy="6885450"/>
            <a:chOff x="0" y="1425"/>
            <a:chExt cx="12194400" cy="6885450"/>
          </a:xfrm>
        </p:grpSpPr>
        <p:sp>
          <p:nvSpPr>
            <p:cNvPr id="716" name="Google Shape;716;p31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7" name="Google Shape;717;p31"/>
            <p:cNvGrpSpPr/>
            <p:nvPr/>
          </p:nvGrpSpPr>
          <p:grpSpPr>
            <a:xfrm>
              <a:off x="11503192" y="6266643"/>
              <a:ext cx="614845" cy="620233"/>
              <a:chOff x="11077575" y="194161"/>
              <a:chExt cx="547800" cy="552600"/>
            </a:xfrm>
          </p:grpSpPr>
          <p:pic>
            <p:nvPicPr>
              <p:cNvPr id="718" name="Google Shape;718;p31"/>
              <p:cNvPicPr preferRelativeResize="0"/>
              <p:nvPr/>
            </p:nvPicPr>
            <p:blipFill rotWithShape="1">
              <a:blip r:embed="rId7">
                <a:alphaModFix/>
              </a:blip>
              <a:srcRect b="10" l="0" r="0" t="0"/>
              <a:stretch/>
            </p:blipFill>
            <p:spPr>
              <a:xfrm>
                <a:off x="11077575" y="194161"/>
                <a:ext cx="547800" cy="55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9" name="Google Shape;719;p31"/>
              <p:cNvPicPr preferRelativeResize="0"/>
              <p:nvPr/>
            </p:nvPicPr>
            <p:blipFill rotWithShape="1">
              <a:blip r:embed="rId8">
                <a:alphaModFix/>
              </a:blip>
              <a:srcRect b="60" l="0" r="0" t="60"/>
              <a:stretch/>
            </p:blipFill>
            <p:spPr>
              <a:xfrm>
                <a:off x="11209115" y="329943"/>
                <a:ext cx="252600" cy="24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20" name="Google Shape;720;p31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1" name="Google Shape;721;p31"/>
          <p:cNvSpPr txBox="1"/>
          <p:nvPr/>
        </p:nvSpPr>
        <p:spPr>
          <a:xfrm>
            <a:off x="476250" y="1047750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Outlook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22" name="Google Shape;722;p31"/>
          <p:cNvGrpSpPr/>
          <p:nvPr/>
        </p:nvGrpSpPr>
        <p:grpSpPr>
          <a:xfrm>
            <a:off x="476250" y="1857375"/>
            <a:ext cx="5334000" cy="4000500"/>
            <a:chOff x="0" y="0"/>
            <a:chExt cx="5334000" cy="4000500"/>
          </a:xfrm>
        </p:grpSpPr>
        <p:sp>
          <p:nvSpPr>
            <p:cNvPr id="723" name="Google Shape;723;p31"/>
            <p:cNvSpPr/>
            <p:nvPr/>
          </p:nvSpPr>
          <p:spPr>
            <a:xfrm>
              <a:off x="0" y="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1"/>
            <p:cNvSpPr txBox="1"/>
            <p:nvPr/>
          </p:nvSpPr>
          <p:spPr>
            <a:xfrm>
              <a:off x="285750" y="238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Achievements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5" name="Google Shape;725;p31"/>
            <p:cNvCxnSpPr/>
            <p:nvPr/>
          </p:nvCxnSpPr>
          <p:spPr>
            <a:xfrm>
              <a:off x="285750" y="7143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6" name="Google Shape;726;p31"/>
            <p:cNvSpPr txBox="1"/>
            <p:nvPr/>
          </p:nvSpPr>
          <p:spPr>
            <a:xfrm>
              <a:off x="285750" y="904875"/>
              <a:ext cx="4762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3270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Successfully verified register behavior, AXI4-Lite compliance, and Avalon-to-AXI translation.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Robust testbenches uncovered boundary corner cases.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Standalone RTL blocks scored 100% in branch and statement coverage.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7" name="Google Shape;727;p31"/>
            <p:cNvSpPr/>
            <p:nvPr/>
          </p:nvSpPr>
          <p:spPr>
            <a:xfrm>
              <a:off x="381000" y="3143250"/>
              <a:ext cx="571500" cy="571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8" name="Google Shape;728;p3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42900" y="3105150"/>
              <a:ext cx="6477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" name="Google Shape;729;p31"/>
            <p:cNvSpPr txBox="1"/>
            <p:nvPr/>
          </p:nvSpPr>
          <p:spPr>
            <a:xfrm>
              <a:off x="381000" y="3143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</a:t>
              </a:r>
              <a:endParaRPr b="1" sz="13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0" name="Google Shape;730;p31"/>
            <p:cNvSpPr txBox="1"/>
            <p:nvPr/>
          </p:nvSpPr>
          <p:spPr>
            <a:xfrm>
              <a:off x="1095375" y="3095625"/>
              <a:ext cx="39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RTL Coverage Achieved</a:t>
              </a:r>
              <a:endParaRPr b="1" sz="13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Branch &amp; statement standalone block results</a:t>
              </a:r>
              <a:endParaRPr b="0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p31"/>
          <p:cNvGrpSpPr/>
          <p:nvPr/>
        </p:nvGrpSpPr>
        <p:grpSpPr>
          <a:xfrm>
            <a:off x="6381750" y="1857375"/>
            <a:ext cx="5334000" cy="4000500"/>
            <a:chOff x="0" y="0"/>
            <a:chExt cx="5334000" cy="4000500"/>
          </a:xfrm>
        </p:grpSpPr>
        <p:sp>
          <p:nvSpPr>
            <p:cNvPr id="732" name="Google Shape;732;p31"/>
            <p:cNvSpPr/>
            <p:nvPr/>
          </p:nvSpPr>
          <p:spPr>
            <a:xfrm>
              <a:off x="0" y="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1"/>
            <p:cNvSpPr txBox="1"/>
            <p:nvPr/>
          </p:nvSpPr>
          <p:spPr>
            <a:xfrm>
              <a:off x="285750" y="238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Enhancements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34" name="Google Shape;734;p31"/>
            <p:cNvCxnSpPr/>
            <p:nvPr/>
          </p:nvCxnSpPr>
          <p:spPr>
            <a:xfrm>
              <a:off x="285750" y="7143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5" name="Google Shape;735;p31"/>
            <p:cNvSpPr txBox="1"/>
            <p:nvPr/>
          </p:nvSpPr>
          <p:spPr>
            <a:xfrm>
              <a:off x="285750" y="904875"/>
              <a:ext cx="4762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3270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 end-to-end transaction testing for </a:t>
              </a: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avalon_axi4lite_alu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standalone ALU core coverage.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functional coverage (covergroups) for transitions.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Assert AXI handshake stability.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6" name="Google Shape;736;p31"/>
            <p:cNvSpPr/>
            <p:nvPr/>
          </p:nvSpPr>
          <p:spPr>
            <a:xfrm>
              <a:off x="381000" y="3143250"/>
              <a:ext cx="571500" cy="571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7" name="Google Shape;737;p3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42900" y="3105150"/>
              <a:ext cx="6477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p31"/>
            <p:cNvSpPr txBox="1"/>
            <p:nvPr/>
          </p:nvSpPr>
          <p:spPr>
            <a:xfrm>
              <a:off x="381000" y="3143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  <a:endParaRPr b="1" sz="13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9" name="Google Shape;739;p31"/>
            <p:cNvSpPr txBox="1"/>
            <p:nvPr/>
          </p:nvSpPr>
          <p:spPr>
            <a:xfrm>
              <a:off x="1095375" y="3095625"/>
              <a:ext cx="39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Objectives Defined</a:t>
              </a:r>
              <a:endParaRPr b="1" sz="13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Next phase verification roadmap</a:t>
              </a:r>
              <a:endParaRPr b="0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