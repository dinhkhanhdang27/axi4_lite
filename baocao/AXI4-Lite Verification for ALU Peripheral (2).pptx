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467813-AE3C-4626-B8AB-363680384C72}">
  <a:tblStyle styleId="{25467813-AE3C-4626-B8AB-363680384C7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55e48d58c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55e48d58c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55e48d58c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55e48d58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55e48d58c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55e48d58c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55e48d58c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55e48d58c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55e48d58c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55e48d58c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55e48d58c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55e48d58c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55e48d58c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55e48d58c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55e48d58c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55e48d58c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55e48d58c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f55e48d58c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55e48d58c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55e48d58c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55e48d58c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f55e48d58c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934f53a9f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f934f53a9f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5584babc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f5584babc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934f53a9f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f934f53a9f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934f53a9f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f934f53a9f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934f53a9f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f934f53a9f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934f53a9f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f934f53a9f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f934f53a9f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f934f53a9f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f934f53a9f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f934f53a9f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f934f53a9f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f934f53a9f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f934f53a9f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f934f53a9f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f5584babc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f5584babc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f5584babc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f5584babc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f5584babc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3f5584babc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f5584babc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f5584babc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f934f53a9f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3f934f53a9f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f55e48d58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3f55e48d58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f55e48d58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3f55e48d58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f55e48d58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f55e48d58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f55e48d58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3f55e48d58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f55e48d58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3f55e48d58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f55e48d58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3f55e48d58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f934f53a9f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3f934f53a9f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f934f53a9f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3f934f53a9f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f55e48d58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f55e48d58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f934f53a9f_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3f934f53a9f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f55e48d58c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3f55e48d58c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934f53a9f_7_0)">
  <p:cSld name="Generated (g3f934f53a9f_7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0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9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9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30.png"/><Relationship Id="rId8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5.png"/><Relationship Id="rId4" Type="http://schemas.openxmlformats.org/officeDocument/2006/relationships/image" Target="../media/image5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6.png"/><Relationship Id="rId4" Type="http://schemas.openxmlformats.org/officeDocument/2006/relationships/image" Target="../media/image6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8.png"/><Relationship Id="rId4" Type="http://schemas.openxmlformats.org/officeDocument/2006/relationships/image" Target="../media/image5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4.png"/><Relationship Id="rId4" Type="http://schemas.openxmlformats.org/officeDocument/2006/relationships/image" Target="../media/image62.png"/></Relationships>
</file>

<file path=ppt/slides/_rels/slide26.xml.rels><?xml version="1.0" encoding="UTF-8" standalone="yes"?><Relationships xmlns="http://schemas.openxmlformats.org/package/2006/relationships"><Relationship Id="rId11" Type="http://schemas.openxmlformats.org/officeDocument/2006/relationships/image" Target="../media/image63.png"/><Relationship Id="rId10" Type="http://schemas.openxmlformats.org/officeDocument/2006/relationships/image" Target="../media/image66.png"/><Relationship Id="rId13" Type="http://schemas.openxmlformats.org/officeDocument/2006/relationships/image" Target="../media/image3.png"/><Relationship Id="rId1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9" Type="http://schemas.openxmlformats.org/officeDocument/2006/relationships/image" Target="../media/image64.png"/><Relationship Id="rId1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61.png"/><Relationship Id="rId8" Type="http://schemas.openxmlformats.org/officeDocument/2006/relationships/image" Target="../media/image6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7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3.png"/><Relationship Id="rId4" Type="http://schemas.openxmlformats.org/officeDocument/2006/relationships/image" Target="../media/image7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9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87.png"/><Relationship Id="rId8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5.png"/><Relationship Id="rId4" Type="http://schemas.openxmlformats.org/officeDocument/2006/relationships/image" Target="../media/image88.png"/></Relationships>
</file>

<file path=ppt/slides/_rels/slide36.xml.rels><?xml version="1.0" encoding="UTF-8" standalone="yes"?><Relationships xmlns="http://schemas.openxmlformats.org/package/2006/relationships"><Relationship Id="rId10" Type="http://schemas.openxmlformats.org/officeDocument/2006/relationships/image" Target="../media/image9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9" Type="http://schemas.openxmlformats.org/officeDocument/2006/relationships/image" Target="../media/image96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9" Type="http://schemas.openxmlformats.org/officeDocument/2006/relationships/image" Target="../media/image104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" name="Google Shape;57;p14"/>
            <p:cNvGrpSpPr/>
            <p:nvPr/>
          </p:nvGrpSpPr>
          <p:grpSpPr>
            <a:xfrm>
              <a:off x="11503302" y="6266645"/>
              <a:ext cx="547843" cy="552558"/>
              <a:chOff x="11077575" y="194161"/>
              <a:chExt cx="488100" cy="492300"/>
            </a:xfrm>
          </p:grpSpPr>
          <p:pic>
            <p:nvPicPr>
              <p:cNvPr id="58" name="Google Shape;58;p14"/>
              <p:cNvPicPr preferRelativeResize="0"/>
              <p:nvPr/>
            </p:nvPicPr>
            <p:blipFill rotWithShape="1">
              <a:blip r:embed="rId4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9" name="Google Shape;59;p14"/>
              <p:cNvPicPr preferRelativeResize="0"/>
              <p:nvPr/>
            </p:nvPicPr>
            <p:blipFill rotWithShape="1">
              <a:blip r:embed="rId5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0" name="Google Shape;60;p14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" name="Google Shape;61;p14"/>
          <p:cNvGrpSpPr/>
          <p:nvPr/>
        </p:nvGrpSpPr>
        <p:grpSpPr>
          <a:xfrm>
            <a:off x="-31245" y="0"/>
            <a:ext cx="12085732" cy="6858000"/>
            <a:chOff x="-31245" y="0"/>
            <a:chExt cx="12085732" cy="6858000"/>
          </a:xfrm>
        </p:grpSpPr>
        <p:pic>
          <p:nvPicPr>
            <p:cNvPr id="62" name="Google Shape;62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23812" y="0"/>
              <a:ext cx="6525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Google Shape;63;p14"/>
            <p:cNvSpPr/>
            <p:nvPr/>
          </p:nvSpPr>
          <p:spPr>
            <a:xfrm flipH="1" rot="10800000">
              <a:off x="-31245" y="0"/>
              <a:ext cx="6336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 txBox="1"/>
            <p:nvPr/>
          </p:nvSpPr>
          <p:spPr>
            <a:xfrm rot="-5400000">
              <a:off x="-173988" y="5138175"/>
              <a:ext cx="879900" cy="33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8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PORTFOLIO</a:t>
              </a:r>
              <a:endParaRPr b="1" i="0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" name="Google Shape;65;p14"/>
            <p:cNvGrpSpPr/>
            <p:nvPr/>
          </p:nvGrpSpPr>
          <p:grpSpPr>
            <a:xfrm>
              <a:off x="11508327" y="243070"/>
              <a:ext cx="546160" cy="546160"/>
              <a:chOff x="11082052" y="197383"/>
              <a:chExt cx="486600" cy="486600"/>
            </a:xfrm>
          </p:grpSpPr>
          <p:sp>
            <p:nvSpPr>
              <p:cNvPr id="66" name="Google Shape;66;p14"/>
              <p:cNvSpPr/>
              <p:nvPr/>
            </p:nvSpPr>
            <p:spPr>
              <a:xfrm>
                <a:off x="11082052" y="197383"/>
                <a:ext cx="486600" cy="4866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14"/>
              <p:cNvSpPr/>
              <p:nvPr/>
            </p:nvSpPr>
            <p:spPr>
              <a:xfrm>
                <a:off x="11215211" y="330505"/>
                <a:ext cx="220200" cy="2202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" name="Google Shape;68;p14"/>
            <p:cNvGrpSpPr/>
            <p:nvPr/>
          </p:nvGrpSpPr>
          <p:grpSpPr>
            <a:xfrm>
              <a:off x="4493282" y="113148"/>
              <a:ext cx="3238079" cy="723497"/>
              <a:chOff x="4276725" y="63291"/>
              <a:chExt cx="3638700" cy="813009"/>
            </a:xfrm>
          </p:grpSpPr>
          <p:pic>
            <p:nvPicPr>
              <p:cNvPr id="69" name="Google Shape;69;p14"/>
              <p:cNvPicPr preferRelativeResize="0"/>
              <p:nvPr/>
            </p:nvPicPr>
            <p:blipFill rotWithShape="1">
              <a:blip r:embed="rId7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0" name="Google Shape;70;p14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71" name="Google Shape;71;p14"/>
              <p:cNvPicPr preferRelativeResize="0"/>
              <p:nvPr/>
            </p:nvPicPr>
            <p:blipFill rotWithShape="1">
              <a:blip r:embed="rId8">
                <a:alphaModFix/>
              </a:blip>
              <a:srcRect b="-12260" l="0" r="-12372" t="90"/>
              <a:stretch/>
            </p:blipFill>
            <p:spPr>
              <a:xfrm>
                <a:off x="5606244" y="6329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2" name="Google Shape;72;p14"/>
          <p:cNvGrpSpPr/>
          <p:nvPr/>
        </p:nvGrpSpPr>
        <p:grpSpPr>
          <a:xfrm>
            <a:off x="1714500" y="1143000"/>
            <a:ext cx="8953500" cy="2476500"/>
            <a:chOff x="1714500" y="1143000"/>
            <a:chExt cx="8953500" cy="2476500"/>
          </a:xfrm>
        </p:grpSpPr>
        <p:sp>
          <p:nvSpPr>
            <p:cNvPr id="73" name="Google Shape;73;p14"/>
            <p:cNvSpPr/>
            <p:nvPr/>
          </p:nvSpPr>
          <p:spPr>
            <a:xfrm>
              <a:off x="1714500" y="1333500"/>
              <a:ext cx="8953500" cy="2286000"/>
            </a:xfrm>
            <a:prstGeom prst="roundRect">
              <a:avLst>
                <a:gd fmla="val 3537" name="adj"/>
              </a:avLst>
            </a:prstGeom>
            <a:solidFill>
              <a:srgbClr val="FFFFFF"/>
            </a:solidFill>
            <a:ln cap="flat" cmpd="sng" w="254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 txBox="1"/>
            <p:nvPr/>
          </p:nvSpPr>
          <p:spPr>
            <a:xfrm>
              <a:off x="1905000" y="1524000"/>
              <a:ext cx="8572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Intern Project</a:t>
              </a:r>
              <a:r>
                <a:rPr b="1" lang="en" sz="2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Research AXI4-Lite then integrated into Soc</a:t>
              </a:r>
              <a:endParaRPr b="1" sz="2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Times New Roman"/>
                  <a:ea typeface="Times New Roman"/>
                  <a:cs typeface="Times New Roman"/>
                  <a:sym typeface="Times New Roman"/>
                </a:rPr>
                <a:t>Đinh Khánh Đăng - Phạm Chí Đạt</a:t>
              </a:r>
              <a:endParaRPr b="1" sz="16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600">
                  <a:latin typeface="Times New Roman"/>
                  <a:ea typeface="Times New Roman"/>
                  <a:cs typeface="Times New Roman"/>
                  <a:sym typeface="Times New Roman"/>
                </a:rPr>
                <a:t>https://github.com/DinhKhanhDang27/AXI4_LITE</a:t>
              </a:r>
              <a:endParaRPr b="1" i="1"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75" name="Google Shape;75;p14"/>
            <p:cNvGrpSpPr/>
            <p:nvPr/>
          </p:nvGrpSpPr>
          <p:grpSpPr>
            <a:xfrm>
              <a:off x="5143500" y="1143000"/>
              <a:ext cx="2095500" cy="381000"/>
              <a:chOff x="0" y="0"/>
              <a:chExt cx="2095500" cy="381000"/>
            </a:xfrm>
          </p:grpSpPr>
          <p:sp>
            <p:nvSpPr>
              <p:cNvPr id="76" name="Google Shape;76;p14"/>
              <p:cNvSpPr/>
              <p:nvPr/>
            </p:nvSpPr>
            <p:spPr>
              <a:xfrm>
                <a:off x="0" y="0"/>
                <a:ext cx="20955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4"/>
              <p:cNvSpPr txBox="1"/>
              <p:nvPr/>
            </p:nvSpPr>
            <p:spPr>
              <a:xfrm>
                <a:off x="0" y="0"/>
                <a:ext cx="2095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INTERN PROJECT</a:t>
                </a:r>
                <a:endPara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8" name="Google Shape;78;p14"/>
          <p:cNvGrpSpPr/>
          <p:nvPr/>
        </p:nvGrpSpPr>
        <p:grpSpPr>
          <a:xfrm>
            <a:off x="1809750" y="4000500"/>
            <a:ext cx="6572250" cy="857400"/>
            <a:chOff x="1809750" y="4000500"/>
            <a:chExt cx="6572250" cy="857400"/>
          </a:xfrm>
        </p:grpSpPr>
        <p:grpSp>
          <p:nvGrpSpPr>
            <p:cNvPr id="79" name="Google Shape;79;p14"/>
            <p:cNvGrpSpPr/>
            <p:nvPr/>
          </p:nvGrpSpPr>
          <p:grpSpPr>
            <a:xfrm>
              <a:off x="1809750" y="4076700"/>
              <a:ext cx="6429300" cy="685725"/>
              <a:chOff x="95250" y="76200"/>
              <a:chExt cx="6429300" cy="685725"/>
            </a:xfrm>
          </p:grpSpPr>
          <p:sp>
            <p:nvSpPr>
              <p:cNvPr id="80" name="Google Shape;80;p14"/>
              <p:cNvSpPr txBox="1"/>
              <p:nvPr/>
            </p:nvSpPr>
            <p:spPr>
              <a:xfrm>
                <a:off x="95250" y="7620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14"/>
              <p:cNvSpPr txBox="1"/>
              <p:nvPr/>
            </p:nvSpPr>
            <p:spPr>
              <a:xfrm>
                <a:off x="4714950" y="238125"/>
                <a:ext cx="18096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RTL Design</a:t>
                </a:r>
                <a:endParaRPr b="1" sz="1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2" name="Google Shape;82;p14"/>
            <p:cNvGrpSpPr/>
            <p:nvPr/>
          </p:nvGrpSpPr>
          <p:grpSpPr>
            <a:xfrm>
              <a:off x="4000500" y="4000500"/>
              <a:ext cx="2095500" cy="857400"/>
              <a:chOff x="0" y="0"/>
              <a:chExt cx="2095500" cy="857400"/>
            </a:xfrm>
          </p:grpSpPr>
          <p:sp>
            <p:nvSpPr>
              <p:cNvPr id="83" name="Google Shape;83;p14"/>
              <p:cNvSpPr/>
              <p:nvPr/>
            </p:nvSpPr>
            <p:spPr>
              <a:xfrm>
                <a:off x="0" y="0"/>
                <a:ext cx="20955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E6F4F0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4"/>
              <p:cNvSpPr txBox="1"/>
              <p:nvPr/>
            </p:nvSpPr>
            <p:spPr>
              <a:xfrm>
                <a:off x="95250" y="7620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14"/>
              <p:cNvSpPr txBox="1"/>
              <p:nvPr/>
            </p:nvSpPr>
            <p:spPr>
              <a:xfrm>
                <a:off x="142875" y="238125"/>
                <a:ext cx="18096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8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Theoretical part</a:t>
                </a:r>
                <a:endParaRPr b="1" sz="18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6" name="Google Shape;86;p14"/>
            <p:cNvGrpSpPr/>
            <p:nvPr/>
          </p:nvGrpSpPr>
          <p:grpSpPr>
            <a:xfrm>
              <a:off x="6286500" y="4000500"/>
              <a:ext cx="2095500" cy="857400"/>
              <a:chOff x="0" y="0"/>
              <a:chExt cx="2095500" cy="857400"/>
            </a:xfrm>
          </p:grpSpPr>
          <p:sp>
            <p:nvSpPr>
              <p:cNvPr id="87" name="Google Shape;87;p14"/>
              <p:cNvSpPr txBox="1"/>
              <p:nvPr/>
            </p:nvSpPr>
            <p:spPr>
              <a:xfrm>
                <a:off x="95250" y="7620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03</a:t>
                </a:r>
                <a:endParaRPr b="1" sz="11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14"/>
              <p:cNvSpPr txBox="1"/>
              <p:nvPr/>
            </p:nvSpPr>
            <p:spPr>
              <a:xfrm>
                <a:off x="142875" y="238125"/>
                <a:ext cx="18096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Vivado Code Coverage</a:t>
                </a:r>
                <a:endParaRPr b="1" sz="1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9" name="Google Shape;89;p14"/>
              <p:cNvSpPr/>
              <p:nvPr/>
            </p:nvSpPr>
            <p:spPr>
              <a:xfrm>
                <a:off x="0" y="0"/>
                <a:ext cx="20955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E6F4F0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0" name="Google Shape;90;p14"/>
          <p:cNvSpPr txBox="1"/>
          <p:nvPr/>
        </p:nvSpPr>
        <p:spPr>
          <a:xfrm>
            <a:off x="6429450" y="4238625"/>
            <a:ext cx="18096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Project</a:t>
            </a:r>
            <a:endParaRPr b="1" sz="19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 flipH="1" rot="-5400000">
            <a:off x="5780206" y="-5781456"/>
            <a:ext cx="631500" cy="121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15"/>
          <p:cNvGrpSpPr/>
          <p:nvPr/>
        </p:nvGrpSpPr>
        <p:grpSpPr>
          <a:xfrm>
            <a:off x="-4762" y="-6"/>
            <a:ext cx="12197919" cy="984708"/>
            <a:chOff x="-4762" y="-6"/>
            <a:chExt cx="12197919" cy="984708"/>
          </a:xfrm>
        </p:grpSpPr>
        <p:pic>
          <p:nvPicPr>
            <p:cNvPr id="97" name="Google Shape;97;p15"/>
            <p:cNvPicPr preferRelativeResize="0"/>
            <p:nvPr/>
          </p:nvPicPr>
          <p:blipFill rotWithShape="1">
            <a:blip r:embed="rId3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" name="Google Shape;98;p15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0" name="Google Shape;100;p15"/>
            <p:cNvGrpSpPr/>
            <p:nvPr/>
          </p:nvGrpSpPr>
          <p:grpSpPr>
            <a:xfrm>
              <a:off x="4477007" y="263617"/>
              <a:ext cx="3238079" cy="721086"/>
              <a:chOff x="4276725" y="109041"/>
              <a:chExt cx="3638700" cy="810300"/>
            </a:xfrm>
          </p:grpSpPr>
          <p:pic>
            <p:nvPicPr>
              <p:cNvPr id="101" name="Google Shape;101;p15"/>
              <p:cNvPicPr preferRelativeResize="0"/>
              <p:nvPr/>
            </p:nvPicPr>
            <p:blipFill rotWithShape="1">
              <a:blip r:embed="rId4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2" name="Google Shape;102;p15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03" name="Google Shape;103;p15"/>
              <p:cNvPicPr preferRelativeResize="0"/>
              <p:nvPr/>
            </p:nvPicPr>
            <p:blipFill rotWithShape="1">
              <a:blip r:embed="rId5">
                <a:alphaModFix/>
              </a:blip>
              <a:srcRect b="-26163" l="0" r="-26263" t="76"/>
              <a:stretch/>
            </p:blipFill>
            <p:spPr>
              <a:xfrm>
                <a:off x="5604843" y="109041"/>
                <a:ext cx="979500" cy="81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04" name="Google Shape;10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137103"/>
            <a:ext cx="11072579" cy="5568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/>
          <p:nvPr/>
        </p:nvSpPr>
        <p:spPr>
          <a:xfrm flipH="1" rot="-5400000">
            <a:off x="5780206" y="-5781456"/>
            <a:ext cx="631500" cy="121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16"/>
          <p:cNvGrpSpPr/>
          <p:nvPr/>
        </p:nvGrpSpPr>
        <p:grpSpPr>
          <a:xfrm>
            <a:off x="-4762" y="-6"/>
            <a:ext cx="12197919" cy="984708"/>
            <a:chOff x="-4762" y="-6"/>
            <a:chExt cx="12197919" cy="984708"/>
          </a:xfrm>
        </p:grpSpPr>
        <p:pic>
          <p:nvPicPr>
            <p:cNvPr id="111" name="Google Shape;111;p16"/>
            <p:cNvPicPr preferRelativeResize="0"/>
            <p:nvPr/>
          </p:nvPicPr>
          <p:blipFill rotWithShape="1">
            <a:blip r:embed="rId3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" name="Google Shape;112;p16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6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4" name="Google Shape;114;p16"/>
            <p:cNvGrpSpPr/>
            <p:nvPr/>
          </p:nvGrpSpPr>
          <p:grpSpPr>
            <a:xfrm>
              <a:off x="4477007" y="263617"/>
              <a:ext cx="3238079" cy="721086"/>
              <a:chOff x="4276725" y="109041"/>
              <a:chExt cx="3638700" cy="810300"/>
            </a:xfrm>
          </p:grpSpPr>
          <p:pic>
            <p:nvPicPr>
              <p:cNvPr id="115" name="Google Shape;115;p16"/>
              <p:cNvPicPr preferRelativeResize="0"/>
              <p:nvPr/>
            </p:nvPicPr>
            <p:blipFill rotWithShape="1">
              <a:blip r:embed="rId4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6" name="Google Shape;116;p16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17" name="Google Shape;117;p16"/>
              <p:cNvPicPr preferRelativeResize="0"/>
              <p:nvPr/>
            </p:nvPicPr>
            <p:blipFill rotWithShape="1">
              <a:blip r:embed="rId5">
                <a:alphaModFix/>
              </a:blip>
              <a:srcRect b="-26163" l="0" r="-26263" t="76"/>
              <a:stretch/>
            </p:blipFill>
            <p:spPr>
              <a:xfrm>
                <a:off x="5604843" y="109041"/>
                <a:ext cx="979500" cy="81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18" name="Google Shape;11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137103"/>
            <a:ext cx="11699397" cy="5568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/>
          <p:nvPr/>
        </p:nvSpPr>
        <p:spPr>
          <a:xfrm flipH="1" rot="-5400000">
            <a:off x="5780206" y="-5781456"/>
            <a:ext cx="631500" cy="121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" name="Google Shape;124;p17"/>
          <p:cNvGrpSpPr/>
          <p:nvPr/>
        </p:nvGrpSpPr>
        <p:grpSpPr>
          <a:xfrm>
            <a:off x="-4762" y="-6"/>
            <a:ext cx="12197919" cy="984708"/>
            <a:chOff x="-4762" y="-6"/>
            <a:chExt cx="12197919" cy="984708"/>
          </a:xfrm>
        </p:grpSpPr>
        <p:pic>
          <p:nvPicPr>
            <p:cNvPr id="125" name="Google Shape;125;p17"/>
            <p:cNvPicPr preferRelativeResize="0"/>
            <p:nvPr/>
          </p:nvPicPr>
          <p:blipFill rotWithShape="1">
            <a:blip r:embed="rId3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17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" name="Google Shape;128;p17"/>
            <p:cNvGrpSpPr/>
            <p:nvPr/>
          </p:nvGrpSpPr>
          <p:grpSpPr>
            <a:xfrm>
              <a:off x="4477007" y="263617"/>
              <a:ext cx="3238079" cy="721086"/>
              <a:chOff x="4276725" y="109041"/>
              <a:chExt cx="3638700" cy="810300"/>
            </a:xfrm>
          </p:grpSpPr>
          <p:pic>
            <p:nvPicPr>
              <p:cNvPr id="129" name="Google Shape;129;p17"/>
              <p:cNvPicPr preferRelativeResize="0"/>
              <p:nvPr/>
            </p:nvPicPr>
            <p:blipFill rotWithShape="1">
              <a:blip r:embed="rId4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0" name="Google Shape;130;p17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31" name="Google Shape;131;p17"/>
              <p:cNvPicPr preferRelativeResize="0"/>
              <p:nvPr/>
            </p:nvPicPr>
            <p:blipFill rotWithShape="1">
              <a:blip r:embed="rId5">
                <a:alphaModFix/>
              </a:blip>
              <a:srcRect b="-26163" l="0" r="-26263" t="76"/>
              <a:stretch/>
            </p:blipFill>
            <p:spPr>
              <a:xfrm>
                <a:off x="5604843" y="109041"/>
                <a:ext cx="979500" cy="81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32" name="Google Shape;13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137103"/>
            <a:ext cx="11887201" cy="5355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 flipH="1" rot="-5400000">
            <a:off x="5780206" y="-5781456"/>
            <a:ext cx="631500" cy="121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8"/>
          <p:cNvGrpSpPr/>
          <p:nvPr/>
        </p:nvGrpSpPr>
        <p:grpSpPr>
          <a:xfrm>
            <a:off x="-4762" y="-6"/>
            <a:ext cx="12197919" cy="984708"/>
            <a:chOff x="-4762" y="-6"/>
            <a:chExt cx="12197919" cy="984708"/>
          </a:xfrm>
        </p:grpSpPr>
        <p:pic>
          <p:nvPicPr>
            <p:cNvPr id="139" name="Google Shape;139;p18"/>
            <p:cNvPicPr preferRelativeResize="0"/>
            <p:nvPr/>
          </p:nvPicPr>
          <p:blipFill rotWithShape="1">
            <a:blip r:embed="rId3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" name="Google Shape;140;p18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8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2" name="Google Shape;142;p18"/>
            <p:cNvGrpSpPr/>
            <p:nvPr/>
          </p:nvGrpSpPr>
          <p:grpSpPr>
            <a:xfrm>
              <a:off x="4477007" y="263617"/>
              <a:ext cx="3238079" cy="721086"/>
              <a:chOff x="4276725" y="109041"/>
              <a:chExt cx="3638700" cy="810300"/>
            </a:xfrm>
          </p:grpSpPr>
          <p:pic>
            <p:nvPicPr>
              <p:cNvPr id="143" name="Google Shape;143;p18"/>
              <p:cNvPicPr preferRelativeResize="0"/>
              <p:nvPr/>
            </p:nvPicPr>
            <p:blipFill rotWithShape="1">
              <a:blip r:embed="rId4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4" name="Google Shape;144;p18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45" name="Google Shape;145;p18"/>
              <p:cNvPicPr preferRelativeResize="0"/>
              <p:nvPr/>
            </p:nvPicPr>
            <p:blipFill rotWithShape="1">
              <a:blip r:embed="rId5">
                <a:alphaModFix/>
              </a:blip>
              <a:srcRect b="-26163" l="0" r="-26263" t="76"/>
              <a:stretch/>
            </p:blipFill>
            <p:spPr>
              <a:xfrm>
                <a:off x="5604843" y="109041"/>
                <a:ext cx="979500" cy="81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46" name="Google Shape;14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137103"/>
            <a:ext cx="11887200" cy="4614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/>
          <p:nvPr/>
        </p:nvSpPr>
        <p:spPr>
          <a:xfrm flipH="1" rot="-5400000">
            <a:off x="5780206" y="-5781456"/>
            <a:ext cx="631500" cy="121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2" name="Google Shape;152;p19"/>
          <p:cNvGrpSpPr/>
          <p:nvPr/>
        </p:nvGrpSpPr>
        <p:grpSpPr>
          <a:xfrm>
            <a:off x="-4762" y="-6"/>
            <a:ext cx="12197919" cy="984708"/>
            <a:chOff x="-4762" y="-6"/>
            <a:chExt cx="12197919" cy="984708"/>
          </a:xfrm>
        </p:grpSpPr>
        <p:pic>
          <p:nvPicPr>
            <p:cNvPr id="153" name="Google Shape;153;p19"/>
            <p:cNvPicPr preferRelativeResize="0"/>
            <p:nvPr/>
          </p:nvPicPr>
          <p:blipFill rotWithShape="1">
            <a:blip r:embed="rId3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19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9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6" name="Google Shape;156;p19"/>
            <p:cNvGrpSpPr/>
            <p:nvPr/>
          </p:nvGrpSpPr>
          <p:grpSpPr>
            <a:xfrm>
              <a:off x="4477007" y="263617"/>
              <a:ext cx="3238079" cy="721086"/>
              <a:chOff x="4276725" y="109041"/>
              <a:chExt cx="3638700" cy="810300"/>
            </a:xfrm>
          </p:grpSpPr>
          <p:pic>
            <p:nvPicPr>
              <p:cNvPr id="157" name="Google Shape;157;p19"/>
              <p:cNvPicPr preferRelativeResize="0"/>
              <p:nvPr/>
            </p:nvPicPr>
            <p:blipFill rotWithShape="1">
              <a:blip r:embed="rId4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8" name="Google Shape;158;p19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59" name="Google Shape;159;p19"/>
              <p:cNvPicPr preferRelativeResize="0"/>
              <p:nvPr/>
            </p:nvPicPr>
            <p:blipFill rotWithShape="1">
              <a:blip r:embed="rId5">
                <a:alphaModFix/>
              </a:blip>
              <a:srcRect b="-26163" l="0" r="-26263" t="76"/>
              <a:stretch/>
            </p:blipFill>
            <p:spPr>
              <a:xfrm>
                <a:off x="5604843" y="109041"/>
                <a:ext cx="979500" cy="81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60" name="Google Shape;16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137103"/>
            <a:ext cx="10938121" cy="5568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/>
          <p:nvPr/>
        </p:nvSpPr>
        <p:spPr>
          <a:xfrm flipH="1" rot="-5400000">
            <a:off x="5780206" y="-5781456"/>
            <a:ext cx="631500" cy="121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" name="Google Shape;166;p20"/>
          <p:cNvGrpSpPr/>
          <p:nvPr/>
        </p:nvGrpSpPr>
        <p:grpSpPr>
          <a:xfrm>
            <a:off x="-4762" y="-6"/>
            <a:ext cx="12197919" cy="984708"/>
            <a:chOff x="-4762" y="-6"/>
            <a:chExt cx="12197919" cy="984708"/>
          </a:xfrm>
        </p:grpSpPr>
        <p:pic>
          <p:nvPicPr>
            <p:cNvPr id="167" name="Google Shape;167;p20"/>
            <p:cNvPicPr preferRelativeResize="0"/>
            <p:nvPr/>
          </p:nvPicPr>
          <p:blipFill rotWithShape="1">
            <a:blip r:embed="rId3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20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0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0" name="Google Shape;170;p20"/>
            <p:cNvGrpSpPr/>
            <p:nvPr/>
          </p:nvGrpSpPr>
          <p:grpSpPr>
            <a:xfrm>
              <a:off x="4477007" y="263617"/>
              <a:ext cx="3238079" cy="721086"/>
              <a:chOff x="4276725" y="109041"/>
              <a:chExt cx="3638700" cy="810300"/>
            </a:xfrm>
          </p:grpSpPr>
          <p:pic>
            <p:nvPicPr>
              <p:cNvPr id="171" name="Google Shape;171;p20"/>
              <p:cNvPicPr preferRelativeResize="0"/>
              <p:nvPr/>
            </p:nvPicPr>
            <p:blipFill rotWithShape="1">
              <a:blip r:embed="rId4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2" name="Google Shape;172;p20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73" name="Google Shape;173;p20"/>
              <p:cNvPicPr preferRelativeResize="0"/>
              <p:nvPr/>
            </p:nvPicPr>
            <p:blipFill rotWithShape="1">
              <a:blip r:embed="rId5">
                <a:alphaModFix/>
              </a:blip>
              <a:srcRect b="-26163" l="0" r="-26263" t="76"/>
              <a:stretch/>
            </p:blipFill>
            <p:spPr>
              <a:xfrm>
                <a:off x="5604843" y="109041"/>
                <a:ext cx="979500" cy="81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74" name="Google Shape;17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137103"/>
            <a:ext cx="11887198" cy="4256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/>
          <p:nvPr/>
        </p:nvSpPr>
        <p:spPr>
          <a:xfrm flipH="1" rot="-5400000">
            <a:off x="5780206" y="-5781456"/>
            <a:ext cx="631500" cy="121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" name="Google Shape;180;p21"/>
          <p:cNvGrpSpPr/>
          <p:nvPr/>
        </p:nvGrpSpPr>
        <p:grpSpPr>
          <a:xfrm>
            <a:off x="-4762" y="-6"/>
            <a:ext cx="12197919" cy="984708"/>
            <a:chOff x="-4762" y="-6"/>
            <a:chExt cx="12197919" cy="984708"/>
          </a:xfrm>
        </p:grpSpPr>
        <p:pic>
          <p:nvPicPr>
            <p:cNvPr id="181" name="Google Shape;181;p21"/>
            <p:cNvPicPr preferRelativeResize="0"/>
            <p:nvPr/>
          </p:nvPicPr>
          <p:blipFill rotWithShape="1">
            <a:blip r:embed="rId3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21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1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4" name="Google Shape;184;p21"/>
            <p:cNvGrpSpPr/>
            <p:nvPr/>
          </p:nvGrpSpPr>
          <p:grpSpPr>
            <a:xfrm>
              <a:off x="4477007" y="263617"/>
              <a:ext cx="3238079" cy="721086"/>
              <a:chOff x="4276725" y="109041"/>
              <a:chExt cx="3638700" cy="810300"/>
            </a:xfrm>
          </p:grpSpPr>
          <p:pic>
            <p:nvPicPr>
              <p:cNvPr id="185" name="Google Shape;185;p21"/>
              <p:cNvPicPr preferRelativeResize="0"/>
              <p:nvPr/>
            </p:nvPicPr>
            <p:blipFill rotWithShape="1">
              <a:blip r:embed="rId4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6" name="Google Shape;186;p21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87" name="Google Shape;187;p21"/>
              <p:cNvPicPr preferRelativeResize="0"/>
              <p:nvPr/>
            </p:nvPicPr>
            <p:blipFill rotWithShape="1">
              <a:blip r:embed="rId5">
                <a:alphaModFix/>
              </a:blip>
              <a:srcRect b="-26163" l="0" r="-26263" t="76"/>
              <a:stretch/>
            </p:blipFill>
            <p:spPr>
              <a:xfrm>
                <a:off x="5604843" y="109041"/>
                <a:ext cx="979500" cy="81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88" name="Google Shape;18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137103"/>
            <a:ext cx="11887198" cy="5524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/>
          <p:nvPr/>
        </p:nvSpPr>
        <p:spPr>
          <a:xfrm flipH="1" rot="-5400000">
            <a:off x="5780206" y="-5781456"/>
            <a:ext cx="631500" cy="121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" name="Google Shape;194;p22"/>
          <p:cNvGrpSpPr/>
          <p:nvPr/>
        </p:nvGrpSpPr>
        <p:grpSpPr>
          <a:xfrm>
            <a:off x="-4762" y="-6"/>
            <a:ext cx="12197919" cy="984708"/>
            <a:chOff x="-4762" y="-6"/>
            <a:chExt cx="12197919" cy="984708"/>
          </a:xfrm>
        </p:grpSpPr>
        <p:pic>
          <p:nvPicPr>
            <p:cNvPr id="195" name="Google Shape;195;p22"/>
            <p:cNvPicPr preferRelativeResize="0"/>
            <p:nvPr/>
          </p:nvPicPr>
          <p:blipFill rotWithShape="1">
            <a:blip r:embed="rId3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2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2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8" name="Google Shape;198;p22"/>
            <p:cNvGrpSpPr/>
            <p:nvPr/>
          </p:nvGrpSpPr>
          <p:grpSpPr>
            <a:xfrm>
              <a:off x="4477007" y="263617"/>
              <a:ext cx="3238079" cy="721086"/>
              <a:chOff x="4276725" y="109041"/>
              <a:chExt cx="3638700" cy="810300"/>
            </a:xfrm>
          </p:grpSpPr>
          <p:pic>
            <p:nvPicPr>
              <p:cNvPr id="199" name="Google Shape;199;p22"/>
              <p:cNvPicPr preferRelativeResize="0"/>
              <p:nvPr/>
            </p:nvPicPr>
            <p:blipFill rotWithShape="1">
              <a:blip r:embed="rId4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0" name="Google Shape;200;p22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01" name="Google Shape;201;p22"/>
              <p:cNvPicPr preferRelativeResize="0"/>
              <p:nvPr/>
            </p:nvPicPr>
            <p:blipFill rotWithShape="1">
              <a:blip r:embed="rId5">
                <a:alphaModFix/>
              </a:blip>
              <a:srcRect b="-26163" l="0" r="-26263" t="76"/>
              <a:stretch/>
            </p:blipFill>
            <p:spPr>
              <a:xfrm>
                <a:off x="5604843" y="109041"/>
                <a:ext cx="979500" cy="81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02" name="Google Shape;20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242" y="1137103"/>
            <a:ext cx="11887198" cy="5524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/>
          <p:nvPr/>
        </p:nvSpPr>
        <p:spPr>
          <a:xfrm flipH="1" rot="-5400000">
            <a:off x="5780206" y="-5781456"/>
            <a:ext cx="631500" cy="121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8" name="Google Shape;208;p23"/>
          <p:cNvGrpSpPr/>
          <p:nvPr/>
        </p:nvGrpSpPr>
        <p:grpSpPr>
          <a:xfrm>
            <a:off x="-4762" y="-6"/>
            <a:ext cx="12197919" cy="984708"/>
            <a:chOff x="-4762" y="-6"/>
            <a:chExt cx="12197919" cy="984708"/>
          </a:xfrm>
        </p:grpSpPr>
        <p:pic>
          <p:nvPicPr>
            <p:cNvPr id="209" name="Google Shape;209;p23"/>
            <p:cNvPicPr preferRelativeResize="0"/>
            <p:nvPr/>
          </p:nvPicPr>
          <p:blipFill rotWithShape="1">
            <a:blip r:embed="rId3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23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3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2" name="Google Shape;212;p23"/>
            <p:cNvGrpSpPr/>
            <p:nvPr/>
          </p:nvGrpSpPr>
          <p:grpSpPr>
            <a:xfrm>
              <a:off x="4477007" y="263617"/>
              <a:ext cx="3238079" cy="721086"/>
              <a:chOff x="4276725" y="109041"/>
              <a:chExt cx="3638700" cy="810300"/>
            </a:xfrm>
          </p:grpSpPr>
          <p:pic>
            <p:nvPicPr>
              <p:cNvPr id="213" name="Google Shape;213;p23"/>
              <p:cNvPicPr preferRelativeResize="0"/>
              <p:nvPr/>
            </p:nvPicPr>
            <p:blipFill rotWithShape="1">
              <a:blip r:embed="rId4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4" name="Google Shape;214;p23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15" name="Google Shape;215;p23"/>
              <p:cNvPicPr preferRelativeResize="0"/>
              <p:nvPr/>
            </p:nvPicPr>
            <p:blipFill rotWithShape="1">
              <a:blip r:embed="rId5">
                <a:alphaModFix/>
              </a:blip>
              <a:srcRect b="-26163" l="0" r="-26263" t="76"/>
              <a:stretch/>
            </p:blipFill>
            <p:spPr>
              <a:xfrm>
                <a:off x="5604843" y="109041"/>
                <a:ext cx="979500" cy="81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16" name="Google Shape;216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137103"/>
            <a:ext cx="11848859" cy="5568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"/>
          <p:cNvSpPr/>
          <p:nvPr/>
        </p:nvSpPr>
        <p:spPr>
          <a:xfrm flipH="1" rot="-5400000">
            <a:off x="5780206" y="-5781456"/>
            <a:ext cx="631500" cy="121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2" name="Google Shape;222;p24"/>
          <p:cNvGrpSpPr/>
          <p:nvPr/>
        </p:nvGrpSpPr>
        <p:grpSpPr>
          <a:xfrm>
            <a:off x="-4762" y="-6"/>
            <a:ext cx="12197919" cy="984708"/>
            <a:chOff x="-4762" y="-6"/>
            <a:chExt cx="12197919" cy="984708"/>
          </a:xfrm>
        </p:grpSpPr>
        <p:pic>
          <p:nvPicPr>
            <p:cNvPr id="223" name="Google Shape;223;p24"/>
            <p:cNvPicPr preferRelativeResize="0"/>
            <p:nvPr/>
          </p:nvPicPr>
          <p:blipFill rotWithShape="1">
            <a:blip r:embed="rId3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" name="Google Shape;224;p24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4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6" name="Google Shape;226;p24"/>
            <p:cNvGrpSpPr/>
            <p:nvPr/>
          </p:nvGrpSpPr>
          <p:grpSpPr>
            <a:xfrm>
              <a:off x="4477007" y="263617"/>
              <a:ext cx="3238079" cy="721086"/>
              <a:chOff x="4276725" y="109041"/>
              <a:chExt cx="3638700" cy="810300"/>
            </a:xfrm>
          </p:grpSpPr>
          <p:pic>
            <p:nvPicPr>
              <p:cNvPr id="227" name="Google Shape;227;p24"/>
              <p:cNvPicPr preferRelativeResize="0"/>
              <p:nvPr/>
            </p:nvPicPr>
            <p:blipFill rotWithShape="1">
              <a:blip r:embed="rId4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8" name="Google Shape;228;p24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29" name="Google Shape;229;p24"/>
              <p:cNvPicPr preferRelativeResize="0"/>
              <p:nvPr/>
            </p:nvPicPr>
            <p:blipFill rotWithShape="1">
              <a:blip r:embed="rId5">
                <a:alphaModFix/>
              </a:blip>
              <a:srcRect b="-26163" l="0" r="-26263" t="76"/>
              <a:stretch/>
            </p:blipFill>
            <p:spPr>
              <a:xfrm>
                <a:off x="5604843" y="109041"/>
                <a:ext cx="979500" cy="81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30" name="Google Shape;230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137103"/>
            <a:ext cx="11887199" cy="4368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25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236" name="Google Shape;236;p25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7" name="Google Shape;237;p25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238" name="Google Shape;238;p25"/>
              <p:cNvPicPr preferRelativeResize="0"/>
              <p:nvPr/>
            </p:nvPicPr>
            <p:blipFill rotWithShape="1">
              <a:blip r:embed="rId4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9" name="Google Shape;239;p25"/>
              <p:cNvPicPr preferRelativeResize="0"/>
              <p:nvPr/>
            </p:nvPicPr>
            <p:blipFill rotWithShape="1">
              <a:blip r:embed="rId5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40" name="Google Shape;240;p25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p25"/>
          <p:cNvGrpSpPr/>
          <p:nvPr/>
        </p:nvGrpSpPr>
        <p:grpSpPr>
          <a:xfrm>
            <a:off x="-31245" y="0"/>
            <a:ext cx="12085616" cy="6858000"/>
            <a:chOff x="-31245" y="0"/>
            <a:chExt cx="12085616" cy="6858000"/>
          </a:xfrm>
        </p:grpSpPr>
        <p:pic>
          <p:nvPicPr>
            <p:cNvPr id="242" name="Google Shape;242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23812" y="0"/>
              <a:ext cx="6525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" name="Google Shape;243;p25"/>
            <p:cNvSpPr/>
            <p:nvPr/>
          </p:nvSpPr>
          <p:spPr>
            <a:xfrm flipH="1" rot="10800000">
              <a:off x="-31245" y="0"/>
              <a:ext cx="6336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5"/>
            <p:cNvSpPr txBox="1"/>
            <p:nvPr/>
          </p:nvSpPr>
          <p:spPr>
            <a:xfrm rot="-5400000">
              <a:off x="-173988" y="5138175"/>
              <a:ext cx="879900" cy="33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8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PORTFOLIO</a:t>
              </a:r>
              <a:endParaRPr b="1" i="0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5" name="Google Shape;245;p25"/>
            <p:cNvGrpSpPr/>
            <p:nvPr/>
          </p:nvGrpSpPr>
          <p:grpSpPr>
            <a:xfrm>
              <a:off x="11508216" y="243068"/>
              <a:ext cx="546155" cy="546155"/>
              <a:chOff x="11082052" y="197383"/>
              <a:chExt cx="486600" cy="486600"/>
            </a:xfrm>
          </p:grpSpPr>
          <p:sp>
            <p:nvSpPr>
              <p:cNvPr id="246" name="Google Shape;246;p25"/>
              <p:cNvSpPr/>
              <p:nvPr/>
            </p:nvSpPr>
            <p:spPr>
              <a:xfrm>
                <a:off x="11082052" y="197383"/>
                <a:ext cx="486600" cy="4866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25"/>
              <p:cNvSpPr/>
              <p:nvPr/>
            </p:nvSpPr>
            <p:spPr>
              <a:xfrm>
                <a:off x="11215211" y="330505"/>
                <a:ext cx="220200" cy="2202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8" name="Google Shape;248;p25"/>
            <p:cNvGrpSpPr/>
            <p:nvPr/>
          </p:nvGrpSpPr>
          <p:grpSpPr>
            <a:xfrm>
              <a:off x="4493294" y="113148"/>
              <a:ext cx="3238090" cy="723500"/>
              <a:chOff x="4276725" y="63291"/>
              <a:chExt cx="3638700" cy="813009"/>
            </a:xfrm>
          </p:grpSpPr>
          <p:pic>
            <p:nvPicPr>
              <p:cNvPr id="249" name="Google Shape;249;p25"/>
              <p:cNvPicPr preferRelativeResize="0"/>
              <p:nvPr/>
            </p:nvPicPr>
            <p:blipFill rotWithShape="1">
              <a:blip r:embed="rId7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0" name="Google Shape;250;p25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51" name="Google Shape;251;p25"/>
              <p:cNvPicPr preferRelativeResize="0"/>
              <p:nvPr/>
            </p:nvPicPr>
            <p:blipFill rotWithShape="1">
              <a:blip r:embed="rId8">
                <a:alphaModFix/>
              </a:blip>
              <a:srcRect b="-12260" l="0" r="-12372" t="90"/>
              <a:stretch/>
            </p:blipFill>
            <p:spPr>
              <a:xfrm>
                <a:off x="5606244" y="6329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52" name="Google Shape;252;p25"/>
          <p:cNvGrpSpPr/>
          <p:nvPr/>
        </p:nvGrpSpPr>
        <p:grpSpPr>
          <a:xfrm>
            <a:off x="1714500" y="1143000"/>
            <a:ext cx="8953500" cy="2476500"/>
            <a:chOff x="1714500" y="1143000"/>
            <a:chExt cx="8953500" cy="2476500"/>
          </a:xfrm>
        </p:grpSpPr>
        <p:sp>
          <p:nvSpPr>
            <p:cNvPr id="253" name="Google Shape;253;p25"/>
            <p:cNvSpPr/>
            <p:nvPr/>
          </p:nvSpPr>
          <p:spPr>
            <a:xfrm>
              <a:off x="1714500" y="1333500"/>
              <a:ext cx="8953500" cy="2286000"/>
            </a:xfrm>
            <a:prstGeom prst="roundRect">
              <a:avLst>
                <a:gd fmla="val 3537" name="adj"/>
              </a:avLst>
            </a:prstGeom>
            <a:solidFill>
              <a:srgbClr val="FFFFFF"/>
            </a:solidFill>
            <a:ln cap="flat" cmpd="sng" w="254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5"/>
            <p:cNvSpPr txBox="1"/>
            <p:nvPr/>
          </p:nvSpPr>
          <p:spPr>
            <a:xfrm>
              <a:off x="1905000" y="1524000"/>
              <a:ext cx="8572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Intern Project: AXI4-Lite Verification for ALU Peripheral</a:t>
              </a:r>
              <a:endParaRPr b="1" sz="2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Verify a 32-bit ALU peripheral controlled via AXI4-Lite / Avalon-MM bus.</a:t>
              </a:r>
              <a:endParaRPr b="0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Times New Roman"/>
                  <a:ea typeface="Times New Roman"/>
                  <a:cs typeface="Times New Roman"/>
                  <a:sym typeface="Times New Roman"/>
                </a:rPr>
                <a:t>Đinh Khánh Đăng - Phạm Chí Đạt</a:t>
              </a:r>
              <a:endParaRPr b="1" sz="16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600">
                  <a:latin typeface="Times New Roman"/>
                  <a:ea typeface="Times New Roman"/>
                  <a:cs typeface="Times New Roman"/>
                  <a:sym typeface="Times New Roman"/>
                </a:rPr>
                <a:t>https://github.com/DinhKhanhDang27/AXI4_LITE</a:t>
              </a:r>
              <a:endParaRPr b="1" i="1"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55" name="Google Shape;255;p25"/>
            <p:cNvGrpSpPr/>
            <p:nvPr/>
          </p:nvGrpSpPr>
          <p:grpSpPr>
            <a:xfrm>
              <a:off x="5143500" y="1143000"/>
              <a:ext cx="2095500" cy="381000"/>
              <a:chOff x="0" y="0"/>
              <a:chExt cx="2095500" cy="381000"/>
            </a:xfrm>
          </p:grpSpPr>
          <p:sp>
            <p:nvSpPr>
              <p:cNvPr id="256" name="Google Shape;256;p25"/>
              <p:cNvSpPr/>
              <p:nvPr/>
            </p:nvSpPr>
            <p:spPr>
              <a:xfrm>
                <a:off x="0" y="0"/>
                <a:ext cx="20955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25"/>
              <p:cNvSpPr txBox="1"/>
              <p:nvPr/>
            </p:nvSpPr>
            <p:spPr>
              <a:xfrm>
                <a:off x="0" y="0"/>
                <a:ext cx="2095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INTERN PROJECT</a:t>
                </a:r>
                <a:endPara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58" name="Google Shape;258;p25"/>
          <p:cNvGrpSpPr/>
          <p:nvPr/>
        </p:nvGrpSpPr>
        <p:grpSpPr>
          <a:xfrm>
            <a:off x="1714500" y="4000500"/>
            <a:ext cx="8953500" cy="857400"/>
            <a:chOff x="1714500" y="4000500"/>
            <a:chExt cx="8953500" cy="857400"/>
          </a:xfrm>
        </p:grpSpPr>
        <p:grpSp>
          <p:nvGrpSpPr>
            <p:cNvPr id="259" name="Google Shape;259;p25"/>
            <p:cNvGrpSpPr/>
            <p:nvPr/>
          </p:nvGrpSpPr>
          <p:grpSpPr>
            <a:xfrm>
              <a:off x="1714500" y="4000500"/>
              <a:ext cx="2095500" cy="857400"/>
              <a:chOff x="0" y="0"/>
              <a:chExt cx="2095500" cy="857400"/>
            </a:xfrm>
          </p:grpSpPr>
          <p:sp>
            <p:nvSpPr>
              <p:cNvPr id="260" name="Google Shape;260;p25"/>
              <p:cNvSpPr/>
              <p:nvPr/>
            </p:nvSpPr>
            <p:spPr>
              <a:xfrm>
                <a:off x="0" y="0"/>
                <a:ext cx="20955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E6F4F0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25"/>
              <p:cNvSpPr txBox="1"/>
              <p:nvPr/>
            </p:nvSpPr>
            <p:spPr>
              <a:xfrm>
                <a:off x="95250" y="7620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b="1" sz="11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25"/>
              <p:cNvSpPr txBox="1"/>
              <p:nvPr/>
            </p:nvSpPr>
            <p:spPr>
              <a:xfrm>
                <a:off x="142875" y="238125"/>
                <a:ext cx="18096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RTL Design</a:t>
                </a:r>
                <a:endParaRPr b="1" sz="1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63" name="Google Shape;263;p25"/>
            <p:cNvGrpSpPr/>
            <p:nvPr/>
          </p:nvGrpSpPr>
          <p:grpSpPr>
            <a:xfrm>
              <a:off x="4000500" y="4000500"/>
              <a:ext cx="2095500" cy="857400"/>
              <a:chOff x="0" y="0"/>
              <a:chExt cx="2095500" cy="857400"/>
            </a:xfrm>
          </p:grpSpPr>
          <p:sp>
            <p:nvSpPr>
              <p:cNvPr id="264" name="Google Shape;264;p25"/>
              <p:cNvSpPr/>
              <p:nvPr/>
            </p:nvSpPr>
            <p:spPr>
              <a:xfrm>
                <a:off x="0" y="0"/>
                <a:ext cx="20955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E6F4F0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25"/>
              <p:cNvSpPr txBox="1"/>
              <p:nvPr/>
            </p:nvSpPr>
            <p:spPr>
              <a:xfrm>
                <a:off x="95250" y="7620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02</a:t>
                </a:r>
                <a:endParaRPr b="1" sz="11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25"/>
              <p:cNvSpPr txBox="1"/>
              <p:nvPr/>
            </p:nvSpPr>
            <p:spPr>
              <a:xfrm>
                <a:off x="142875" y="238125"/>
                <a:ext cx="18096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</a:t>
                </a:r>
                <a:r>
                  <a:rPr b="1" lang="en" sz="14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estbench</a:t>
                </a:r>
                <a:endParaRPr b="1" sz="1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67" name="Google Shape;267;p25"/>
            <p:cNvGrpSpPr/>
            <p:nvPr/>
          </p:nvGrpSpPr>
          <p:grpSpPr>
            <a:xfrm>
              <a:off x="6286500" y="4000500"/>
              <a:ext cx="2095500" cy="857400"/>
              <a:chOff x="0" y="0"/>
              <a:chExt cx="2095500" cy="857400"/>
            </a:xfrm>
          </p:grpSpPr>
          <p:sp>
            <p:nvSpPr>
              <p:cNvPr id="268" name="Google Shape;268;p25"/>
              <p:cNvSpPr/>
              <p:nvPr/>
            </p:nvSpPr>
            <p:spPr>
              <a:xfrm>
                <a:off x="0" y="0"/>
                <a:ext cx="20955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E6F4F0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25"/>
              <p:cNvSpPr txBox="1"/>
              <p:nvPr/>
            </p:nvSpPr>
            <p:spPr>
              <a:xfrm>
                <a:off x="95250" y="7620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03</a:t>
                </a:r>
                <a:endParaRPr b="1" sz="11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25"/>
              <p:cNvSpPr txBox="1"/>
              <p:nvPr/>
            </p:nvSpPr>
            <p:spPr>
              <a:xfrm>
                <a:off x="142875" y="238125"/>
                <a:ext cx="18096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Vivado Code Coverage</a:t>
                </a:r>
                <a:endParaRPr b="1" sz="1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1" name="Google Shape;271;p25"/>
            <p:cNvGrpSpPr/>
            <p:nvPr/>
          </p:nvGrpSpPr>
          <p:grpSpPr>
            <a:xfrm>
              <a:off x="8572500" y="4000500"/>
              <a:ext cx="2095500" cy="857400"/>
              <a:chOff x="0" y="0"/>
              <a:chExt cx="2095500" cy="857400"/>
            </a:xfrm>
          </p:grpSpPr>
          <p:sp>
            <p:nvSpPr>
              <p:cNvPr id="272" name="Google Shape;272;p25"/>
              <p:cNvSpPr/>
              <p:nvPr/>
            </p:nvSpPr>
            <p:spPr>
              <a:xfrm>
                <a:off x="0" y="0"/>
                <a:ext cx="20955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E6F4F0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25"/>
              <p:cNvSpPr txBox="1"/>
              <p:nvPr/>
            </p:nvSpPr>
            <p:spPr>
              <a:xfrm>
                <a:off x="95250" y="7620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04</a:t>
                </a:r>
                <a:endParaRPr b="1" sz="11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25"/>
              <p:cNvSpPr txBox="1"/>
              <p:nvPr/>
            </p:nvSpPr>
            <p:spPr>
              <a:xfrm>
                <a:off x="142875" y="238125"/>
                <a:ext cx="18096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Quartus / Qsys Integration</a:t>
                </a:r>
                <a:endParaRPr b="1" sz="1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75" name="Google Shape;275;p25"/>
          <p:cNvGrpSpPr/>
          <p:nvPr/>
        </p:nvGrpSpPr>
        <p:grpSpPr>
          <a:xfrm>
            <a:off x="1714500" y="5095875"/>
            <a:ext cx="8953500" cy="666900"/>
            <a:chOff x="0" y="0"/>
            <a:chExt cx="8953500" cy="666900"/>
          </a:xfrm>
        </p:grpSpPr>
        <p:sp>
          <p:nvSpPr>
            <p:cNvPr id="276" name="Google Shape;276;p25"/>
            <p:cNvSpPr/>
            <p:nvPr/>
          </p:nvSpPr>
          <p:spPr>
            <a:xfrm>
              <a:off x="0" y="0"/>
              <a:ext cx="8953500" cy="666900"/>
            </a:xfrm>
            <a:prstGeom prst="roundRect">
              <a:avLst>
                <a:gd fmla="val 11428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7" name="Google Shape;277;p25"/>
            <p:cNvGrpSpPr/>
            <p:nvPr/>
          </p:nvGrpSpPr>
          <p:grpSpPr>
            <a:xfrm>
              <a:off x="142875" y="142875"/>
              <a:ext cx="1428900" cy="381000"/>
              <a:chOff x="0" y="0"/>
              <a:chExt cx="1428900" cy="381000"/>
            </a:xfrm>
          </p:grpSpPr>
          <p:sp>
            <p:nvSpPr>
              <p:cNvPr id="278" name="Google Shape;278;p25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25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 STATUS</a:t>
                </a:r>
                <a:endPara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0" name="Google Shape;280;p25"/>
            <p:cNvSpPr txBox="1"/>
            <p:nvPr/>
          </p:nvSpPr>
          <p:spPr>
            <a:xfrm>
              <a:off x="1762125" y="0"/>
              <a:ext cx="7000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38EF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RTL modules</a:t>
              </a:r>
              <a:r>
                <a:rPr b="1" lang="en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and </a:t>
              </a:r>
              <a:r>
                <a:rPr b="1" lang="en" sz="1800">
                  <a:solidFill>
                    <a:srgbClr val="38EF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testbenches</a:t>
              </a:r>
              <a:r>
                <a:rPr b="1" lang="en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implemented.</a:t>
              </a:r>
              <a:endParaRPr b="1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6"/>
          <p:cNvSpPr txBox="1"/>
          <p:nvPr/>
        </p:nvSpPr>
        <p:spPr>
          <a:xfrm>
            <a:off x="9349775" y="246450"/>
            <a:ext cx="26169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Scope &amp; System Overview</a:t>
            </a:r>
            <a:endParaRPr b="1" sz="24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6" name="Google Shape;286;p26" title="Untitled Diagram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87" y="152400"/>
            <a:ext cx="9146784" cy="6553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27"/>
          <p:cNvGrpSpPr/>
          <p:nvPr/>
        </p:nvGrpSpPr>
        <p:grpSpPr>
          <a:xfrm>
            <a:off x="-4762" y="-6"/>
            <a:ext cx="12197919" cy="946409"/>
            <a:chOff x="-4762" y="-6"/>
            <a:chExt cx="12197919" cy="946409"/>
          </a:xfrm>
        </p:grpSpPr>
        <p:pic>
          <p:nvPicPr>
            <p:cNvPr id="292" name="Google Shape;292;p27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" name="Google Shape;293;p27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4" name="Google Shape;294;p27"/>
            <p:cNvGrpSpPr/>
            <p:nvPr/>
          </p:nvGrpSpPr>
          <p:grpSpPr>
            <a:xfrm>
              <a:off x="240281" y="141423"/>
              <a:ext cx="2916000" cy="338700"/>
              <a:chOff x="0" y="0"/>
              <a:chExt cx="2916000" cy="338700"/>
            </a:xfrm>
          </p:grpSpPr>
          <p:sp>
            <p:nvSpPr>
              <p:cNvPr id="295" name="Google Shape;295;p27"/>
              <p:cNvSpPr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27"/>
              <p:cNvSpPr txBox="1"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KHOA KỸ THUẬT MÁY TÍNH</a:t>
                </a:r>
                <a:endParaRPr b="1" i="0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7" name="Google Shape;297;p27"/>
            <p:cNvGrpSpPr/>
            <p:nvPr/>
          </p:nvGrpSpPr>
          <p:grpSpPr>
            <a:xfrm>
              <a:off x="4477020" y="263617"/>
              <a:ext cx="3238090" cy="682786"/>
              <a:chOff x="4276725" y="109041"/>
              <a:chExt cx="3638700" cy="767259"/>
            </a:xfrm>
          </p:grpSpPr>
          <p:pic>
            <p:nvPicPr>
              <p:cNvPr id="298" name="Google Shape;298;p27"/>
              <p:cNvPicPr preferRelativeResize="0"/>
              <p:nvPr/>
            </p:nvPicPr>
            <p:blipFill rotWithShape="1">
              <a:blip r:embed="rId5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9" name="Google Shape;299;p27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300" name="Google Shape;300;p27"/>
              <p:cNvPicPr preferRelativeResize="0"/>
              <p:nvPr/>
            </p:nvPicPr>
            <p:blipFill rotWithShape="1">
              <a:blip r:embed="rId6">
                <a:alphaModFix/>
              </a:blip>
              <a:srcRect b="-12260" l="0" r="-12372" t="90"/>
              <a:stretch/>
            </p:blipFill>
            <p:spPr>
              <a:xfrm>
                <a:off x="5604843" y="10904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01" name="Google Shape;301;p27"/>
          <p:cNvGrpSpPr/>
          <p:nvPr/>
        </p:nvGrpSpPr>
        <p:grpSpPr>
          <a:xfrm>
            <a:off x="428625" y="809625"/>
            <a:ext cx="11334900" cy="523800"/>
            <a:chOff x="0" y="0"/>
            <a:chExt cx="11334900" cy="523800"/>
          </a:xfrm>
        </p:grpSpPr>
        <p:sp>
          <p:nvSpPr>
            <p:cNvPr id="302" name="Google Shape;302;p27"/>
            <p:cNvSpPr/>
            <p:nvPr/>
          </p:nvSpPr>
          <p:spPr>
            <a:xfrm>
              <a:off x="0" y="0"/>
              <a:ext cx="11334900" cy="52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7"/>
            <p:cNvSpPr txBox="1"/>
            <p:nvPr/>
          </p:nvSpPr>
          <p:spPr>
            <a:xfrm>
              <a:off x="0" y="0"/>
              <a:ext cx="11334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Project Scope &amp; System Overview</a:t>
              </a:r>
              <a:endParaRPr b="1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04" name="Google Shape;304;p27"/>
          <p:cNvGrpSpPr/>
          <p:nvPr/>
        </p:nvGrpSpPr>
        <p:grpSpPr>
          <a:xfrm>
            <a:off x="1095375" y="1476375"/>
            <a:ext cx="10001400" cy="666900"/>
            <a:chOff x="1095375" y="1476375"/>
            <a:chExt cx="10001400" cy="666900"/>
          </a:xfrm>
        </p:grpSpPr>
        <p:sp>
          <p:nvSpPr>
            <p:cNvPr id="305" name="Google Shape;305;p27"/>
            <p:cNvSpPr/>
            <p:nvPr/>
          </p:nvSpPr>
          <p:spPr>
            <a:xfrm>
              <a:off x="1095375" y="1476375"/>
              <a:ext cx="1619100" cy="666900"/>
            </a:xfrm>
            <a:prstGeom prst="roundRect">
              <a:avLst>
                <a:gd fmla="val 11428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7"/>
            <p:cNvSpPr txBox="1"/>
            <p:nvPr/>
          </p:nvSpPr>
          <p:spPr>
            <a:xfrm>
              <a:off x="1095375" y="1476375"/>
              <a:ext cx="1619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Avalon-MM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Master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7" name="Google Shape;307;p2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762250" y="1766888"/>
              <a:ext cx="3477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Google Shape;308;p27"/>
            <p:cNvSpPr/>
            <p:nvPr/>
          </p:nvSpPr>
          <p:spPr>
            <a:xfrm>
              <a:off x="3143250" y="1476375"/>
              <a:ext cx="2000100" cy="666900"/>
            </a:xfrm>
            <a:prstGeom prst="roundRect">
              <a:avLst>
                <a:gd fmla="val 11428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7"/>
            <p:cNvSpPr txBox="1"/>
            <p:nvPr/>
          </p:nvSpPr>
          <p:spPr>
            <a:xfrm>
              <a:off x="3143250" y="1476375"/>
              <a:ext cx="2000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Avalon-to-AXI4Lite</a:t>
              </a:r>
              <a:endParaRPr b="1" sz="130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Bridge </a:t>
              </a:r>
              <a:r>
                <a:rPr b="1" i="1" lang="en" sz="1300">
                  <a:solidFill>
                    <a:srgbClr val="05624A"/>
                  </a:solidFill>
                </a:rPr>
                <a:t>(Avalon slave - axi4 lite master) </a:t>
              </a:r>
              <a:endParaRPr b="1" i="1" sz="1300">
                <a:solidFill>
                  <a:srgbClr val="05624A"/>
                </a:solidFill>
              </a:endParaRPr>
            </a:p>
          </p:txBody>
        </p:sp>
        <p:pic>
          <p:nvPicPr>
            <p:cNvPr id="310" name="Google Shape;310;p2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191125" y="1766888"/>
              <a:ext cx="3477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" name="Google Shape;311;p27"/>
            <p:cNvSpPr/>
            <p:nvPr/>
          </p:nvSpPr>
          <p:spPr>
            <a:xfrm>
              <a:off x="5572125" y="1476375"/>
              <a:ext cx="1619100" cy="666900"/>
            </a:xfrm>
            <a:prstGeom prst="roundRect">
              <a:avLst>
                <a:gd fmla="val 11428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7"/>
            <p:cNvSpPr txBox="1"/>
            <p:nvPr/>
          </p:nvSpPr>
          <p:spPr>
            <a:xfrm>
              <a:off x="5572125" y="1476375"/>
              <a:ext cx="1619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AXI4-Lite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Slave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3" name="Google Shape;313;p2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239000" y="1766888"/>
              <a:ext cx="3477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" name="Google Shape;314;p27"/>
            <p:cNvSpPr/>
            <p:nvPr/>
          </p:nvSpPr>
          <p:spPr>
            <a:xfrm>
              <a:off x="7620000" y="1476375"/>
              <a:ext cx="1619100" cy="666900"/>
            </a:xfrm>
            <a:prstGeom prst="roundRect">
              <a:avLst>
                <a:gd fmla="val 11428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7"/>
            <p:cNvSpPr txBox="1"/>
            <p:nvPr/>
          </p:nvSpPr>
          <p:spPr>
            <a:xfrm>
              <a:off x="7620000" y="1476375"/>
              <a:ext cx="1619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Register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Bank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6" name="Google Shape;316;p2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286875" y="1766888"/>
              <a:ext cx="3477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" name="Google Shape;317;p27"/>
            <p:cNvSpPr/>
            <p:nvPr/>
          </p:nvSpPr>
          <p:spPr>
            <a:xfrm>
              <a:off x="9667875" y="1476375"/>
              <a:ext cx="1428900" cy="666900"/>
            </a:xfrm>
            <a:prstGeom prst="roundRect">
              <a:avLst>
                <a:gd fmla="val 11428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7"/>
            <p:cNvSpPr txBox="1"/>
            <p:nvPr/>
          </p:nvSpPr>
          <p:spPr>
            <a:xfrm>
              <a:off x="9667875" y="1476375"/>
              <a:ext cx="1428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ALU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Core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9" name="Google Shape;319;p27"/>
          <p:cNvGrpSpPr/>
          <p:nvPr/>
        </p:nvGrpSpPr>
        <p:grpSpPr>
          <a:xfrm>
            <a:off x="428625" y="2381250"/>
            <a:ext cx="5429400" cy="3524400"/>
            <a:chOff x="0" y="0"/>
            <a:chExt cx="5429400" cy="3524400"/>
          </a:xfrm>
        </p:grpSpPr>
        <p:sp>
          <p:nvSpPr>
            <p:cNvPr id="320" name="Google Shape;320;p27"/>
            <p:cNvSpPr/>
            <p:nvPr/>
          </p:nvSpPr>
          <p:spPr>
            <a:xfrm>
              <a:off x="0" y="0"/>
              <a:ext cx="5429400" cy="3524400"/>
            </a:xfrm>
            <a:prstGeom prst="roundRect">
              <a:avLst>
                <a:gd fmla="val 3243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7"/>
            <p:cNvSpPr txBox="1"/>
            <p:nvPr/>
          </p:nvSpPr>
          <p:spPr>
            <a:xfrm>
              <a:off x="285750" y="190500"/>
              <a:ext cx="4857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Top-Level RTL Design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22" name="Google Shape;322;p27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3" name="Google Shape;323;p27"/>
            <p:cNvSpPr txBox="1"/>
            <p:nvPr/>
          </p:nvSpPr>
          <p:spPr>
            <a:xfrm>
              <a:off x="285750" y="762000"/>
              <a:ext cx="48579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5250" spcFirstLastPara="1" rIns="9525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34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top-level hardware design integrates all core modules into a unified, functional system datapath.</a:t>
              </a:r>
              <a:endParaRPr b="0" sz="15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395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TOP-LEVEL RTL FILE:</a:t>
              </a:r>
              <a:endParaRPr b="1" sz="1395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88">
                  <a:solidFill>
                    <a:srgbClr val="05624A"/>
                  </a:solidFill>
                  <a:highlight>
                    <a:srgbClr val="E6F4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avalon_axi4lite_alu.sv</a:t>
              </a:r>
              <a:endParaRPr b="1" sz="1488">
                <a:solidFill>
                  <a:srgbClr val="05624A"/>
                </a:solidFill>
                <a:highlight>
                  <a:srgbClr val="E6F4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395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SYSTEM INTEGRATION:</a:t>
              </a:r>
              <a:endParaRPr b="1" sz="1395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534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Connects the Avalon-MM master interface cleanly to the ALU core.</a:t>
              </a:r>
              <a:endParaRPr b="0" sz="15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34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Manages multi-protocol bus transfers across the register bank.</a:t>
              </a:r>
              <a:endParaRPr b="0" sz="15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4" name="Google Shape;324;p27"/>
          <p:cNvGrpSpPr/>
          <p:nvPr/>
        </p:nvGrpSpPr>
        <p:grpSpPr>
          <a:xfrm>
            <a:off x="6334125" y="2381250"/>
            <a:ext cx="5429400" cy="3524400"/>
            <a:chOff x="0" y="0"/>
            <a:chExt cx="5429400" cy="3524400"/>
          </a:xfrm>
        </p:grpSpPr>
        <p:sp>
          <p:nvSpPr>
            <p:cNvPr id="325" name="Google Shape;325;p27"/>
            <p:cNvSpPr/>
            <p:nvPr/>
          </p:nvSpPr>
          <p:spPr>
            <a:xfrm>
              <a:off x="0" y="0"/>
              <a:ext cx="5429400" cy="3524400"/>
            </a:xfrm>
            <a:prstGeom prst="roundRect">
              <a:avLst>
                <a:gd fmla="val 3243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7"/>
            <p:cNvSpPr txBox="1"/>
            <p:nvPr/>
          </p:nvSpPr>
          <p:spPr>
            <a:xfrm>
              <a:off x="285750" y="190500"/>
              <a:ext cx="4857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Verification Testbenches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27" name="Google Shape;327;p27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8" name="Google Shape;328;p27"/>
            <p:cNvSpPr txBox="1"/>
            <p:nvPr/>
          </p:nvSpPr>
          <p:spPr>
            <a:xfrm>
              <a:off x="285750" y="762000"/>
              <a:ext cx="48579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5250" spcFirstLastPara="1" rIns="9525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Verification relies on three primary targeted testbench environments designed to isolate and validate each module's core interfaces: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562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■ tb_avalon_axi4lite_bridge</a:t>
              </a:r>
              <a:endParaRPr b="1" sz="1500">
                <a:solidFill>
                  <a:srgbClr val="05624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0955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Validates Avalon-MM to AXI4-Lite translation logic accuracy.</a:t>
              </a:r>
              <a:endParaRPr b="0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562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■ tb_axi4lite_slave</a:t>
              </a:r>
              <a:endParaRPr b="1" sz="1500">
                <a:solidFill>
                  <a:srgbClr val="05624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0955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Validates the protocol slave compliance and state transition.</a:t>
              </a:r>
              <a:endParaRPr b="0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562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■ tb_axi_register_bank</a:t>
              </a:r>
              <a:endParaRPr b="1" sz="1500">
                <a:solidFill>
                  <a:srgbClr val="05624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0955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Validates custom register-bank mapping and ALU instructions.</a:t>
              </a:r>
              <a:endParaRPr b="0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9" name="Google Shape;329;p27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330" name="Google Shape;330;p27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1" name="Google Shape;331;p27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332" name="Google Shape;332;p27"/>
              <p:cNvPicPr preferRelativeResize="0"/>
              <p:nvPr/>
            </p:nvPicPr>
            <p:blipFill rotWithShape="1">
              <a:blip r:embed="rId8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3" name="Google Shape;333;p27"/>
              <p:cNvPicPr preferRelativeResize="0"/>
              <p:nvPr/>
            </p:nvPicPr>
            <p:blipFill rotWithShape="1">
              <a:blip r:embed="rId9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34" name="Google Shape;334;p27"/>
            <p:cNvGrpSpPr/>
            <p:nvPr/>
          </p:nvGrpSpPr>
          <p:grpSpPr>
            <a:xfrm>
              <a:off x="4038600" y="6356347"/>
              <a:ext cx="4114800" cy="365100"/>
              <a:chOff x="0" y="0"/>
              <a:chExt cx="4114800" cy="365100"/>
            </a:xfrm>
          </p:grpSpPr>
          <p:sp>
            <p:nvSpPr>
              <p:cNvPr id="335" name="Google Shape;335;p27"/>
              <p:cNvSpPr/>
              <p:nvPr/>
            </p:nvSpPr>
            <p:spPr>
              <a:xfrm>
                <a:off x="0" y="0"/>
                <a:ext cx="4114800" cy="365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27"/>
              <p:cNvSpPr txBox="1"/>
              <p:nvPr/>
            </p:nvSpPr>
            <p:spPr>
              <a:xfrm>
                <a:off x="0" y="0"/>
                <a:ext cx="4114800" cy="3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00" spcFirstLastPara="1" rIns="914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20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Copyrights 2026 CE-UIT. All Rights Reserved.</a:t>
                </a:r>
                <a:endParaRPr b="0" i="0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" name="Google Shape;341;p28"/>
          <p:cNvGrpSpPr/>
          <p:nvPr/>
        </p:nvGrpSpPr>
        <p:grpSpPr>
          <a:xfrm>
            <a:off x="-4762" y="-6"/>
            <a:ext cx="12197919" cy="984711"/>
            <a:chOff x="-4762" y="-6"/>
            <a:chExt cx="12197919" cy="984711"/>
          </a:xfrm>
        </p:grpSpPr>
        <p:pic>
          <p:nvPicPr>
            <p:cNvPr id="342" name="Google Shape;342;p28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3" name="Google Shape;343;p28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8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5" name="Google Shape;345;p28"/>
            <p:cNvGrpSpPr/>
            <p:nvPr/>
          </p:nvGrpSpPr>
          <p:grpSpPr>
            <a:xfrm>
              <a:off x="4477020" y="263617"/>
              <a:ext cx="3238090" cy="721088"/>
              <a:chOff x="4276725" y="109041"/>
              <a:chExt cx="3638700" cy="810300"/>
            </a:xfrm>
          </p:grpSpPr>
          <p:pic>
            <p:nvPicPr>
              <p:cNvPr id="346" name="Google Shape;346;p28"/>
              <p:cNvPicPr preferRelativeResize="0"/>
              <p:nvPr/>
            </p:nvPicPr>
            <p:blipFill rotWithShape="1">
              <a:blip r:embed="rId5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7" name="Google Shape;347;p28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348" name="Google Shape;348;p28"/>
              <p:cNvPicPr preferRelativeResize="0"/>
              <p:nvPr/>
            </p:nvPicPr>
            <p:blipFill rotWithShape="1">
              <a:blip r:embed="rId6">
                <a:alphaModFix/>
              </a:blip>
              <a:srcRect b="-26163" l="0" r="-26263" t="76"/>
              <a:stretch/>
            </p:blipFill>
            <p:spPr>
              <a:xfrm>
                <a:off x="5604843" y="109041"/>
                <a:ext cx="979500" cy="81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49" name="Google Shape;349;p28"/>
          <p:cNvSpPr txBox="1"/>
          <p:nvPr/>
        </p:nvSpPr>
        <p:spPr>
          <a:xfrm>
            <a:off x="523875" y="762000"/>
            <a:ext cx="11144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Under Test (DUT) Architecture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i="1" lang="en" sz="16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Detailed block hierarchy and layered separation of the avalon_axi4lite_alu IP core</a:t>
            </a:r>
            <a:endParaRPr b="0" i="1" sz="160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50" name="Google Shape;350;p28"/>
          <p:cNvGrpSpPr/>
          <p:nvPr/>
        </p:nvGrpSpPr>
        <p:grpSpPr>
          <a:xfrm>
            <a:off x="523875" y="1666875"/>
            <a:ext cx="2619300" cy="2286000"/>
            <a:chOff x="0" y="0"/>
            <a:chExt cx="2619300" cy="2286000"/>
          </a:xfrm>
        </p:grpSpPr>
        <p:sp>
          <p:nvSpPr>
            <p:cNvPr id="351" name="Google Shape;351;p28"/>
            <p:cNvSpPr/>
            <p:nvPr/>
          </p:nvSpPr>
          <p:spPr>
            <a:xfrm>
              <a:off x="0" y="0"/>
              <a:ext cx="26193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8"/>
            <p:cNvSpPr/>
            <p:nvPr/>
          </p:nvSpPr>
          <p:spPr>
            <a:xfrm>
              <a:off x="0" y="0"/>
              <a:ext cx="2619300" cy="428700"/>
            </a:xfrm>
            <a:custGeom>
              <a:rect b="b" l="l" r="r" t="t"/>
              <a:pathLst>
                <a:path extrusionOk="0" h="120000" w="120000">
                  <a:moveTo>
                    <a:pt x="0" y="21333"/>
                  </a:moveTo>
                  <a:cubicBezTo>
                    <a:pt x="0" y="9547"/>
                    <a:pt x="1562" y="0"/>
                    <a:pt x="3491" y="0"/>
                  </a:cubicBezTo>
                  <a:lnTo>
                    <a:pt x="116509" y="0"/>
                  </a:lnTo>
                  <a:cubicBezTo>
                    <a:pt x="118438" y="0"/>
                    <a:pt x="120000" y="9547"/>
                    <a:pt x="120000" y="21333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8"/>
            <p:cNvSpPr txBox="1"/>
            <p:nvPr/>
          </p:nvSpPr>
          <p:spPr>
            <a:xfrm>
              <a:off x="0" y="0"/>
              <a:ext cx="2619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AVALON_AXI4LITE_BRIDGE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28"/>
            <p:cNvSpPr txBox="1"/>
            <p:nvPr/>
          </p:nvSpPr>
          <p:spPr>
            <a:xfrm>
              <a:off x="142875" y="571500"/>
              <a:ext cx="23337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Bus Protocol Layer</a:t>
              </a:r>
              <a:endParaRPr b="0" sz="12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Translates Avalon MM transactions to AXI4-Lite</a:t>
              </a:r>
              <a:endParaRPr b="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Bridges master-slave interface protocols</a:t>
              </a:r>
              <a:endParaRPr b="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55" name="Google Shape;355;p28"/>
          <p:cNvGrpSpPr/>
          <p:nvPr/>
        </p:nvGrpSpPr>
        <p:grpSpPr>
          <a:xfrm>
            <a:off x="3362325" y="1666875"/>
            <a:ext cx="2619300" cy="2286000"/>
            <a:chOff x="0" y="0"/>
            <a:chExt cx="2619300" cy="2286000"/>
          </a:xfrm>
        </p:grpSpPr>
        <p:sp>
          <p:nvSpPr>
            <p:cNvPr id="356" name="Google Shape;356;p28"/>
            <p:cNvSpPr/>
            <p:nvPr/>
          </p:nvSpPr>
          <p:spPr>
            <a:xfrm>
              <a:off x="0" y="0"/>
              <a:ext cx="26193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8"/>
            <p:cNvSpPr/>
            <p:nvPr/>
          </p:nvSpPr>
          <p:spPr>
            <a:xfrm>
              <a:off x="0" y="0"/>
              <a:ext cx="2619300" cy="428700"/>
            </a:xfrm>
            <a:custGeom>
              <a:rect b="b" l="l" r="r" t="t"/>
              <a:pathLst>
                <a:path extrusionOk="0" h="120000" w="120000">
                  <a:moveTo>
                    <a:pt x="0" y="21333"/>
                  </a:moveTo>
                  <a:cubicBezTo>
                    <a:pt x="0" y="9547"/>
                    <a:pt x="1562" y="0"/>
                    <a:pt x="3491" y="0"/>
                  </a:cubicBezTo>
                  <a:lnTo>
                    <a:pt x="116509" y="0"/>
                  </a:lnTo>
                  <a:cubicBezTo>
                    <a:pt x="118438" y="0"/>
                    <a:pt x="120000" y="9547"/>
                    <a:pt x="120000" y="21333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8"/>
            <p:cNvSpPr txBox="1"/>
            <p:nvPr/>
          </p:nvSpPr>
          <p:spPr>
            <a:xfrm>
              <a:off x="0" y="0"/>
              <a:ext cx="2619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AXI4LITE_SLAVE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28"/>
            <p:cNvSpPr txBox="1"/>
            <p:nvPr/>
          </p:nvSpPr>
          <p:spPr>
            <a:xfrm>
              <a:off x="142875" y="571500"/>
              <a:ext cx="23337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Bus Protocol Layer</a:t>
              </a:r>
              <a:endParaRPr b="0" sz="12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Manages standard AXI4-Lite channel handshakes</a:t>
              </a:r>
              <a:endParaRPr b="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Handles bus reads and writes directly</a:t>
              </a:r>
              <a:endParaRPr b="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60" name="Google Shape;360;p28"/>
          <p:cNvGrpSpPr/>
          <p:nvPr/>
        </p:nvGrpSpPr>
        <p:grpSpPr>
          <a:xfrm>
            <a:off x="6200775" y="1666875"/>
            <a:ext cx="2619300" cy="2286000"/>
            <a:chOff x="0" y="0"/>
            <a:chExt cx="2619300" cy="2286000"/>
          </a:xfrm>
        </p:grpSpPr>
        <p:sp>
          <p:nvSpPr>
            <p:cNvPr id="361" name="Google Shape;361;p28"/>
            <p:cNvSpPr/>
            <p:nvPr/>
          </p:nvSpPr>
          <p:spPr>
            <a:xfrm>
              <a:off x="0" y="0"/>
              <a:ext cx="26193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8"/>
            <p:cNvSpPr/>
            <p:nvPr/>
          </p:nvSpPr>
          <p:spPr>
            <a:xfrm>
              <a:off x="0" y="0"/>
              <a:ext cx="2619300" cy="428700"/>
            </a:xfrm>
            <a:custGeom>
              <a:rect b="b" l="l" r="r" t="t"/>
              <a:pathLst>
                <a:path extrusionOk="0" h="120000" w="120000">
                  <a:moveTo>
                    <a:pt x="0" y="21333"/>
                  </a:moveTo>
                  <a:cubicBezTo>
                    <a:pt x="0" y="9547"/>
                    <a:pt x="1562" y="0"/>
                    <a:pt x="3491" y="0"/>
                  </a:cubicBezTo>
                  <a:lnTo>
                    <a:pt x="116509" y="0"/>
                  </a:lnTo>
                  <a:cubicBezTo>
                    <a:pt x="118438" y="0"/>
                    <a:pt x="120000" y="9547"/>
                    <a:pt x="120000" y="21333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8"/>
            <p:cNvSpPr txBox="1"/>
            <p:nvPr/>
          </p:nvSpPr>
          <p:spPr>
            <a:xfrm>
              <a:off x="0" y="0"/>
              <a:ext cx="2619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AXI_REGISTER_BANK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28"/>
            <p:cNvSpPr txBox="1"/>
            <p:nvPr/>
          </p:nvSpPr>
          <p:spPr>
            <a:xfrm>
              <a:off x="142875" y="571500"/>
              <a:ext cx="23337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Register Abstraction</a:t>
              </a:r>
              <a:endParaRPr b="0" sz="12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Stores configuration data and control bits</a:t>
              </a:r>
              <a:endParaRPr b="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Buffers operand values for ALU operations</a:t>
              </a:r>
              <a:endParaRPr b="0" sz="165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65" name="Google Shape;365;p28"/>
          <p:cNvGrpSpPr/>
          <p:nvPr/>
        </p:nvGrpSpPr>
        <p:grpSpPr>
          <a:xfrm>
            <a:off x="9039225" y="1666875"/>
            <a:ext cx="2619300" cy="2286000"/>
            <a:chOff x="0" y="0"/>
            <a:chExt cx="2619300" cy="2286000"/>
          </a:xfrm>
        </p:grpSpPr>
        <p:sp>
          <p:nvSpPr>
            <p:cNvPr id="366" name="Google Shape;366;p28"/>
            <p:cNvSpPr/>
            <p:nvPr/>
          </p:nvSpPr>
          <p:spPr>
            <a:xfrm>
              <a:off x="0" y="0"/>
              <a:ext cx="26193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8"/>
            <p:cNvSpPr/>
            <p:nvPr/>
          </p:nvSpPr>
          <p:spPr>
            <a:xfrm>
              <a:off x="0" y="0"/>
              <a:ext cx="2619300" cy="428700"/>
            </a:xfrm>
            <a:custGeom>
              <a:rect b="b" l="l" r="r" t="t"/>
              <a:pathLst>
                <a:path extrusionOk="0" h="120000" w="120000">
                  <a:moveTo>
                    <a:pt x="0" y="21333"/>
                  </a:moveTo>
                  <a:cubicBezTo>
                    <a:pt x="0" y="9547"/>
                    <a:pt x="1562" y="0"/>
                    <a:pt x="3491" y="0"/>
                  </a:cubicBezTo>
                  <a:lnTo>
                    <a:pt x="116509" y="0"/>
                  </a:lnTo>
                  <a:cubicBezTo>
                    <a:pt x="118438" y="0"/>
                    <a:pt x="120000" y="9547"/>
                    <a:pt x="120000" y="21333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8"/>
            <p:cNvSpPr txBox="1"/>
            <p:nvPr/>
          </p:nvSpPr>
          <p:spPr>
            <a:xfrm>
              <a:off x="0" y="0"/>
              <a:ext cx="2619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ALU_CORE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28"/>
            <p:cNvSpPr txBox="1"/>
            <p:nvPr/>
          </p:nvSpPr>
          <p:spPr>
            <a:xfrm>
              <a:off x="142875" y="571500"/>
              <a:ext cx="23337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 Datapath Layer</a:t>
              </a:r>
              <a:endParaRPr b="0" sz="12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Executes arithmetic and logical hardware operations</a:t>
              </a:r>
              <a:endParaRPr b="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Implements high-speed execution datapath</a:t>
              </a:r>
              <a:endParaRPr b="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70" name="Google Shape;370;p28"/>
          <p:cNvGrpSpPr/>
          <p:nvPr/>
        </p:nvGrpSpPr>
        <p:grpSpPr>
          <a:xfrm>
            <a:off x="523875" y="4143375"/>
            <a:ext cx="4286400" cy="1762200"/>
            <a:chOff x="0" y="0"/>
            <a:chExt cx="4286400" cy="1762200"/>
          </a:xfrm>
        </p:grpSpPr>
        <p:sp>
          <p:nvSpPr>
            <p:cNvPr id="371" name="Google Shape;371;p28"/>
            <p:cNvSpPr/>
            <p:nvPr/>
          </p:nvSpPr>
          <p:spPr>
            <a:xfrm>
              <a:off x="0" y="0"/>
              <a:ext cx="4286400" cy="1762200"/>
            </a:xfrm>
            <a:prstGeom prst="roundRect">
              <a:avLst>
                <a:gd fmla="val 4324" name="adj"/>
              </a:avLst>
            </a:prstGeom>
            <a:solidFill>
              <a:srgbClr val="E6F4F0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8"/>
            <p:cNvSpPr txBox="1"/>
            <p:nvPr/>
          </p:nvSpPr>
          <p:spPr>
            <a:xfrm>
              <a:off x="190500" y="142875"/>
              <a:ext cx="3905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Specifications</a:t>
              </a:r>
              <a:endParaRPr b="1" sz="1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73" name="Google Shape;373;p28"/>
            <p:cNvCxnSpPr/>
            <p:nvPr/>
          </p:nvCxnSpPr>
          <p:spPr>
            <a:xfrm>
              <a:off x="190500" y="495300"/>
              <a:ext cx="3905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74" name="Google Shape;374;p28"/>
            <p:cNvSpPr txBox="1"/>
            <p:nvPr/>
          </p:nvSpPr>
          <p:spPr>
            <a:xfrm>
              <a:off x="190500" y="590550"/>
              <a:ext cx="3905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1" lang="en" sz="13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Width:</a:t>
              </a: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lang="en" sz="13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32-bit data width</a:t>
              </a:r>
              <a:endParaRPr b="0" sz="11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1" lang="en" sz="13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Address Width:</a:t>
              </a: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lang="en" sz="13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6-bit address width</a:t>
              </a:r>
              <a:endParaRPr b="0" sz="11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1" lang="en" sz="13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Reset Signals:</a:t>
              </a: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lang="en" sz="13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Active-low reset_n / aresetn</a:t>
              </a:r>
              <a:endParaRPr b="0" sz="11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75" name="Google Shape;375;p28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376" name="Google Shape;376;p28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7" name="Google Shape;377;p28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378" name="Google Shape;378;p28"/>
              <p:cNvPicPr preferRelativeResize="0"/>
              <p:nvPr/>
            </p:nvPicPr>
            <p:blipFill rotWithShape="1">
              <a:blip r:embed="rId7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9" name="Google Shape;379;p28"/>
              <p:cNvPicPr preferRelativeResize="0"/>
              <p:nvPr/>
            </p:nvPicPr>
            <p:blipFill rotWithShape="1">
              <a:blip r:embed="rId8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80" name="Google Shape;380;p28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9"/>
          <p:cNvSpPr/>
          <p:nvPr>
            <p:ph idx="2" type="pic"/>
          </p:nvPr>
        </p:nvSpPr>
        <p:spPr>
          <a:xfrm>
            <a:off x="-4762" y="0"/>
            <a:ext cx="12196800" cy="6333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29"/>
          <p:cNvSpPr/>
          <p:nvPr/>
        </p:nvSpPr>
        <p:spPr>
          <a:xfrm flipH="1" rot="-5400000">
            <a:off x="5780206" y="-5781456"/>
            <a:ext cx="631500" cy="121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9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9"/>
          <p:cNvSpPr/>
          <p:nvPr>
            <p:ph idx="3" type="pic"/>
          </p:nvPr>
        </p:nvSpPr>
        <p:spPr>
          <a:xfrm>
            <a:off x="4477020" y="302202"/>
            <a:ext cx="3238090" cy="644201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29"/>
          <p:cNvSpPr/>
          <p:nvPr/>
        </p:nvSpPr>
        <p:spPr>
          <a:xfrm>
            <a:off x="4538304" y="357311"/>
            <a:ext cx="3115283" cy="534476"/>
          </a:xfrm>
          <a:prstGeom prst="roundRect">
            <a:avLst>
              <a:gd fmla="val 3959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9"/>
          <p:cNvSpPr/>
          <p:nvPr>
            <p:ph idx="4" type="pic"/>
          </p:nvPr>
        </p:nvSpPr>
        <p:spPr>
          <a:xfrm>
            <a:off x="5658917" y="263617"/>
            <a:ext cx="871660" cy="721088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29"/>
          <p:cNvSpPr txBox="1"/>
          <p:nvPr/>
        </p:nvSpPr>
        <p:spPr>
          <a:xfrm>
            <a:off x="523875" y="857250"/>
            <a:ext cx="11144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 Map Specification</a:t>
            </a:r>
            <a:endParaRPr b="1" sz="28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i="1"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1"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axi_register_bank.sv</a:t>
            </a:r>
            <a:r>
              <a:rPr b="0" i="1"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file specifies the register configuration</a:t>
            </a:r>
            <a:endParaRPr b="0" i="1"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93" name="Google Shape;393;p29"/>
          <p:cNvGrpSpPr/>
          <p:nvPr/>
        </p:nvGrpSpPr>
        <p:grpSpPr>
          <a:xfrm>
            <a:off x="523875" y="1905000"/>
            <a:ext cx="11144400" cy="3429075"/>
            <a:chOff x="523875" y="1905000"/>
            <a:chExt cx="11144400" cy="3429075"/>
          </a:xfrm>
        </p:grpSpPr>
        <p:sp>
          <p:nvSpPr>
            <p:cNvPr id="394" name="Google Shape;394;p29"/>
            <p:cNvSpPr/>
            <p:nvPr/>
          </p:nvSpPr>
          <p:spPr>
            <a:xfrm>
              <a:off x="523875" y="1905000"/>
              <a:ext cx="11144400" cy="3429000"/>
            </a:xfrm>
            <a:prstGeom prst="roundRect">
              <a:avLst>
                <a:gd fmla="val 2222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9"/>
            <p:cNvSpPr/>
            <p:nvPr/>
          </p:nvSpPr>
          <p:spPr>
            <a:xfrm>
              <a:off x="523875" y="1905000"/>
              <a:ext cx="11144400" cy="428700"/>
            </a:xfrm>
            <a:custGeom>
              <a:rect b="b" l="l" r="r" t="t"/>
              <a:pathLst>
                <a:path extrusionOk="0" h="120000" w="120000">
                  <a:moveTo>
                    <a:pt x="0" y="21333"/>
                  </a:moveTo>
                  <a:cubicBezTo>
                    <a:pt x="0" y="9547"/>
                    <a:pt x="367" y="0"/>
                    <a:pt x="821" y="0"/>
                  </a:cubicBezTo>
                  <a:lnTo>
                    <a:pt x="119179" y="0"/>
                  </a:lnTo>
                  <a:cubicBezTo>
                    <a:pt x="119633" y="0"/>
                    <a:pt x="120000" y="9547"/>
                    <a:pt x="120000" y="21333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9"/>
            <p:cNvSpPr/>
            <p:nvPr/>
          </p:nvSpPr>
          <p:spPr>
            <a:xfrm>
              <a:off x="523875" y="2762250"/>
              <a:ext cx="11144400" cy="428700"/>
            </a:xfrm>
            <a:prstGeom prst="rect">
              <a:avLst/>
            </a:prstGeom>
            <a:solidFill>
              <a:srgbClr val="E6F4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9"/>
            <p:cNvSpPr/>
            <p:nvPr/>
          </p:nvSpPr>
          <p:spPr>
            <a:xfrm>
              <a:off x="523875" y="3619500"/>
              <a:ext cx="11144400" cy="428700"/>
            </a:xfrm>
            <a:prstGeom prst="rect">
              <a:avLst/>
            </a:prstGeom>
            <a:solidFill>
              <a:srgbClr val="E6F4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9"/>
            <p:cNvSpPr/>
            <p:nvPr/>
          </p:nvSpPr>
          <p:spPr>
            <a:xfrm>
              <a:off x="523875" y="4476750"/>
              <a:ext cx="11144400" cy="428700"/>
            </a:xfrm>
            <a:prstGeom prst="rect">
              <a:avLst/>
            </a:prstGeom>
            <a:solidFill>
              <a:srgbClr val="E6F4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99" name="Google Shape;399;p29"/>
            <p:cNvCxnSpPr/>
            <p:nvPr/>
          </p:nvCxnSpPr>
          <p:spPr>
            <a:xfrm>
              <a:off x="523875" y="2333625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0" name="Google Shape;400;p29"/>
            <p:cNvCxnSpPr/>
            <p:nvPr/>
          </p:nvCxnSpPr>
          <p:spPr>
            <a:xfrm>
              <a:off x="523875" y="2762250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1" name="Google Shape;401;p29"/>
            <p:cNvCxnSpPr/>
            <p:nvPr/>
          </p:nvCxnSpPr>
          <p:spPr>
            <a:xfrm>
              <a:off x="523875" y="3190875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2" name="Google Shape;402;p29"/>
            <p:cNvCxnSpPr/>
            <p:nvPr/>
          </p:nvCxnSpPr>
          <p:spPr>
            <a:xfrm>
              <a:off x="523875" y="3619500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3" name="Google Shape;403;p29"/>
            <p:cNvCxnSpPr/>
            <p:nvPr/>
          </p:nvCxnSpPr>
          <p:spPr>
            <a:xfrm>
              <a:off x="523875" y="4048125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4" name="Google Shape;404;p29"/>
            <p:cNvCxnSpPr/>
            <p:nvPr/>
          </p:nvCxnSpPr>
          <p:spPr>
            <a:xfrm>
              <a:off x="523875" y="4476750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5" name="Google Shape;405;p29"/>
            <p:cNvCxnSpPr/>
            <p:nvPr/>
          </p:nvCxnSpPr>
          <p:spPr>
            <a:xfrm>
              <a:off x="523875" y="4905375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6" name="Google Shape;406;p29"/>
            <p:cNvCxnSpPr/>
            <p:nvPr/>
          </p:nvCxnSpPr>
          <p:spPr>
            <a:xfrm>
              <a:off x="2238375" y="1905000"/>
              <a:ext cx="0" cy="3429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7" name="Google Shape;407;p29"/>
            <p:cNvCxnSpPr/>
            <p:nvPr/>
          </p:nvCxnSpPr>
          <p:spPr>
            <a:xfrm>
              <a:off x="4333875" y="1905000"/>
              <a:ext cx="0" cy="3429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08" name="Google Shape;408;p29"/>
            <p:cNvSpPr txBox="1"/>
            <p:nvPr/>
          </p:nvSpPr>
          <p:spPr>
            <a:xfrm>
              <a:off x="523875" y="1905000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ADDRESS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9"/>
            <p:cNvSpPr txBox="1"/>
            <p:nvPr/>
          </p:nvSpPr>
          <p:spPr>
            <a:xfrm>
              <a:off x="2238375" y="1905000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NAME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9"/>
            <p:cNvSpPr txBox="1"/>
            <p:nvPr/>
          </p:nvSpPr>
          <p:spPr>
            <a:xfrm>
              <a:off x="4333875" y="1905000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FUNCTION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29"/>
            <p:cNvSpPr txBox="1"/>
            <p:nvPr/>
          </p:nvSpPr>
          <p:spPr>
            <a:xfrm>
              <a:off x="523875" y="2333625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0x00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29"/>
            <p:cNvSpPr txBox="1"/>
            <p:nvPr/>
          </p:nvSpPr>
          <p:spPr>
            <a:xfrm>
              <a:off x="2238375" y="2333625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CTRL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29"/>
            <p:cNvSpPr txBox="1"/>
            <p:nvPr/>
          </p:nvSpPr>
          <p:spPr>
            <a:xfrm>
              <a:off x="4333875" y="2333625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7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write bit 0 to start</a:t>
              </a:r>
              <a:endParaRPr b="0"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4" name="Google Shape;414;p29"/>
            <p:cNvSpPr txBox="1"/>
            <p:nvPr/>
          </p:nvSpPr>
          <p:spPr>
            <a:xfrm>
              <a:off x="523875" y="2762250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0x04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29"/>
            <p:cNvSpPr txBox="1"/>
            <p:nvPr/>
          </p:nvSpPr>
          <p:spPr>
            <a:xfrm>
              <a:off x="2238375" y="2762250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STATUS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29"/>
            <p:cNvSpPr txBox="1"/>
            <p:nvPr/>
          </p:nvSpPr>
          <p:spPr>
            <a:xfrm>
              <a:off x="4333875" y="2762250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7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{error, done, busy}</a:t>
              </a:r>
              <a:endParaRPr b="0"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7" name="Google Shape;417;p29"/>
            <p:cNvSpPr txBox="1"/>
            <p:nvPr/>
          </p:nvSpPr>
          <p:spPr>
            <a:xfrm>
              <a:off x="523875" y="3190875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0x08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29"/>
            <p:cNvSpPr txBox="1"/>
            <p:nvPr/>
          </p:nvSpPr>
          <p:spPr>
            <a:xfrm>
              <a:off x="2238375" y="3190875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29"/>
            <p:cNvSpPr txBox="1"/>
            <p:nvPr/>
          </p:nvSpPr>
          <p:spPr>
            <a:xfrm>
              <a:off x="4333875" y="3190875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7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 A</a:t>
              </a:r>
              <a:endParaRPr b="0"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0" name="Google Shape;420;p29"/>
            <p:cNvSpPr txBox="1"/>
            <p:nvPr/>
          </p:nvSpPr>
          <p:spPr>
            <a:xfrm>
              <a:off x="523875" y="3619500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0x0C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29"/>
            <p:cNvSpPr txBox="1"/>
            <p:nvPr/>
          </p:nvSpPr>
          <p:spPr>
            <a:xfrm>
              <a:off x="2238375" y="3619500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29"/>
            <p:cNvSpPr txBox="1"/>
            <p:nvPr/>
          </p:nvSpPr>
          <p:spPr>
            <a:xfrm>
              <a:off x="4333875" y="3619500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7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 B</a:t>
              </a:r>
              <a:endParaRPr b="0"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3" name="Google Shape;423;p29"/>
            <p:cNvSpPr txBox="1"/>
            <p:nvPr/>
          </p:nvSpPr>
          <p:spPr>
            <a:xfrm>
              <a:off x="523875" y="4048125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0x10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9"/>
            <p:cNvSpPr txBox="1"/>
            <p:nvPr/>
          </p:nvSpPr>
          <p:spPr>
            <a:xfrm>
              <a:off x="2238375" y="4048125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OPCODE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9"/>
            <p:cNvSpPr txBox="1"/>
            <p:nvPr/>
          </p:nvSpPr>
          <p:spPr>
            <a:xfrm>
              <a:off x="4333875" y="4048125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7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opcode 4-bit</a:t>
              </a:r>
              <a:endParaRPr b="0"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6" name="Google Shape;426;p29"/>
            <p:cNvSpPr txBox="1"/>
            <p:nvPr/>
          </p:nvSpPr>
          <p:spPr>
            <a:xfrm>
              <a:off x="523875" y="4476750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0x14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9"/>
            <p:cNvSpPr txBox="1"/>
            <p:nvPr/>
          </p:nvSpPr>
          <p:spPr>
            <a:xfrm>
              <a:off x="2238375" y="4476750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RESULT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29"/>
            <p:cNvSpPr txBox="1"/>
            <p:nvPr/>
          </p:nvSpPr>
          <p:spPr>
            <a:xfrm>
              <a:off x="4333875" y="4476750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7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 result</a:t>
              </a:r>
              <a:endParaRPr b="0"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9" name="Google Shape;429;p29"/>
            <p:cNvSpPr txBox="1"/>
            <p:nvPr/>
          </p:nvSpPr>
          <p:spPr>
            <a:xfrm>
              <a:off x="523875" y="4905375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invalid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29"/>
            <p:cNvSpPr txBox="1"/>
            <p:nvPr/>
          </p:nvSpPr>
          <p:spPr>
            <a:xfrm>
              <a:off x="2238375" y="4905375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default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29"/>
            <p:cNvSpPr txBox="1"/>
            <p:nvPr/>
          </p:nvSpPr>
          <p:spPr>
            <a:xfrm>
              <a:off x="4333875" y="4905375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7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 0 / write ignored</a:t>
              </a:r>
              <a:endParaRPr b="0"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32" name="Google Shape;432;p29"/>
          <p:cNvSpPr txBox="1"/>
          <p:nvPr/>
        </p:nvSpPr>
        <p:spPr>
          <a:xfrm>
            <a:off x="523875" y="5476875"/>
            <a:ext cx="11144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Source: axi_register_bank.sv</a:t>
            </a:r>
            <a:endParaRPr b="1" sz="11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9"/>
          <p:cNvSpPr/>
          <p:nvPr/>
        </p:nvSpPr>
        <p:spPr>
          <a:xfrm>
            <a:off x="0" y="1425"/>
            <a:ext cx="12194400" cy="6863700"/>
          </a:xfrm>
          <a:custGeom>
            <a:rect b="b" l="l" r="r" t="t"/>
            <a:pathLst>
              <a:path extrusionOk="0" h="120000" w="120000">
                <a:moveTo>
                  <a:pt x="0" y="115362"/>
                </a:moveTo>
                <a:cubicBezTo>
                  <a:pt x="0" y="117896"/>
                  <a:pt x="1156" y="119951"/>
                  <a:pt x="2583" y="119951"/>
                </a:cubicBezTo>
                <a:lnTo>
                  <a:pt x="117419" y="119951"/>
                </a:lnTo>
                <a:cubicBezTo>
                  <a:pt x="118843" y="119951"/>
                  <a:pt x="120000" y="117896"/>
                  <a:pt x="120000" y="115362"/>
                </a:cubicBezTo>
                <a:lnTo>
                  <a:pt x="120000" y="120000"/>
                </a:lnTo>
                <a:lnTo>
                  <a:pt x="0" y="12000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4638"/>
                </a:lnTo>
                <a:cubicBezTo>
                  <a:pt x="120000" y="2104"/>
                  <a:pt x="118843" y="49"/>
                  <a:pt x="117419" y="49"/>
                </a:cubicBezTo>
                <a:lnTo>
                  <a:pt x="2583" y="49"/>
                </a:lnTo>
                <a:cubicBezTo>
                  <a:pt x="1156" y="49"/>
                  <a:pt x="0" y="2104"/>
                  <a:pt x="0" y="463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9"/>
          <p:cNvSpPr/>
          <p:nvPr>
            <p:ph idx="5" type="pic"/>
          </p:nvPr>
        </p:nvSpPr>
        <p:spPr>
          <a:xfrm>
            <a:off x="11503192" y="6266643"/>
            <a:ext cx="547839" cy="552553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29"/>
          <p:cNvSpPr/>
          <p:nvPr>
            <p:ph idx="6" type="pic"/>
          </p:nvPr>
        </p:nvSpPr>
        <p:spPr>
          <a:xfrm>
            <a:off x="11650831" y="6419043"/>
            <a:ext cx="252538" cy="247487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29"/>
          <p:cNvSpPr txBox="1"/>
          <p:nvPr/>
        </p:nvSpPr>
        <p:spPr>
          <a:xfrm>
            <a:off x="4038600" y="6356347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Copyrights 2026 CE-UIT. All Rights Reserved.</a:t>
            </a:r>
            <a:endParaRPr b="0"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7" name="Google Shape;437;p29"/>
          <p:cNvGrpSpPr/>
          <p:nvPr/>
        </p:nvGrpSpPr>
        <p:grpSpPr>
          <a:xfrm>
            <a:off x="-4762" y="-6"/>
            <a:ext cx="12197919" cy="946406"/>
            <a:chOff x="-4762" y="-6"/>
            <a:chExt cx="12197919" cy="946406"/>
          </a:xfrm>
        </p:grpSpPr>
        <p:pic>
          <p:nvPicPr>
            <p:cNvPr id="438" name="Google Shape;438;p29"/>
            <p:cNvPicPr preferRelativeResize="0"/>
            <p:nvPr/>
          </p:nvPicPr>
          <p:blipFill rotWithShape="1">
            <a:blip r:embed="rId3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9" name="Google Shape;439;p29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0" name="Google Shape;440;p29"/>
            <p:cNvGrpSpPr/>
            <p:nvPr/>
          </p:nvGrpSpPr>
          <p:grpSpPr>
            <a:xfrm>
              <a:off x="240281" y="141423"/>
              <a:ext cx="2916000" cy="338700"/>
              <a:chOff x="0" y="0"/>
              <a:chExt cx="2916000" cy="338700"/>
            </a:xfrm>
          </p:grpSpPr>
          <p:sp>
            <p:nvSpPr>
              <p:cNvPr id="441" name="Google Shape;441;p29"/>
              <p:cNvSpPr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29"/>
              <p:cNvSpPr txBox="1"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KHOA KỸ THUẬT MÁY TÍNH</a:t>
                </a:r>
                <a:endParaRPr b="1" i="0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3" name="Google Shape;443;p29"/>
            <p:cNvGrpSpPr/>
            <p:nvPr/>
          </p:nvGrpSpPr>
          <p:grpSpPr>
            <a:xfrm>
              <a:off x="4477007" y="263617"/>
              <a:ext cx="3238079" cy="682784"/>
              <a:chOff x="4276725" y="109041"/>
              <a:chExt cx="3638700" cy="767259"/>
            </a:xfrm>
          </p:grpSpPr>
          <p:pic>
            <p:nvPicPr>
              <p:cNvPr id="444" name="Google Shape;444;p29"/>
              <p:cNvPicPr preferRelativeResize="0"/>
              <p:nvPr/>
            </p:nvPicPr>
            <p:blipFill rotWithShape="1">
              <a:blip r:embed="rId4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5" name="Google Shape;445;p29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446" name="Google Shape;446;p29"/>
              <p:cNvPicPr preferRelativeResize="0"/>
              <p:nvPr/>
            </p:nvPicPr>
            <p:blipFill rotWithShape="1">
              <a:blip r:embed="rId5">
                <a:alphaModFix/>
              </a:blip>
              <a:srcRect b="-12260" l="0" r="-12372" t="90"/>
              <a:stretch/>
            </p:blipFill>
            <p:spPr>
              <a:xfrm>
                <a:off x="5604843" y="10904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2" name="Google Shape;452;p30"/>
          <p:cNvGrpSpPr/>
          <p:nvPr/>
        </p:nvGrpSpPr>
        <p:grpSpPr>
          <a:xfrm>
            <a:off x="-4762" y="-6"/>
            <a:ext cx="12197919" cy="891792"/>
            <a:chOff x="-4762" y="-6"/>
            <a:chExt cx="12197919" cy="891792"/>
          </a:xfrm>
        </p:grpSpPr>
        <p:pic>
          <p:nvPicPr>
            <p:cNvPr id="453" name="Google Shape;453;p30"/>
            <p:cNvPicPr preferRelativeResize="0"/>
            <p:nvPr/>
          </p:nvPicPr>
          <p:blipFill rotWithShape="1">
            <a:blip r:embed="rId3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4" name="Google Shape;454;p30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0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6" name="Google Shape;456;p30"/>
            <p:cNvGrpSpPr/>
            <p:nvPr/>
          </p:nvGrpSpPr>
          <p:grpSpPr>
            <a:xfrm>
              <a:off x="4477020" y="263617"/>
              <a:ext cx="3176567" cy="628170"/>
              <a:chOff x="4276725" y="109041"/>
              <a:chExt cx="3569566" cy="705886"/>
            </a:xfrm>
          </p:grpSpPr>
          <p:pic>
            <p:nvPicPr>
              <p:cNvPr id="457" name="Google Shape;457;p3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276725" y="152400"/>
                <a:ext cx="3238200" cy="644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8" name="Google Shape;458;p30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459" name="Google Shape;459;p30"/>
              <p:cNvPicPr preferRelativeResize="0"/>
              <p:nvPr/>
            </p:nvPicPr>
            <p:blipFill rotWithShape="1">
              <a:blip r:embed="rId5">
                <a:alphaModFix/>
              </a:blip>
              <a:srcRect b="-70" l="0" r="0" t="100"/>
              <a:stretch/>
            </p:blipFill>
            <p:spPr>
              <a:xfrm>
                <a:off x="5604843" y="109041"/>
                <a:ext cx="775800" cy="642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60" name="Google Shape;460;p30"/>
          <p:cNvGrpSpPr/>
          <p:nvPr/>
        </p:nvGrpSpPr>
        <p:grpSpPr>
          <a:xfrm>
            <a:off x="0" y="1425"/>
            <a:ext cx="12194400" cy="6885450"/>
            <a:chOff x="0" y="1425"/>
            <a:chExt cx="12194400" cy="6885450"/>
          </a:xfrm>
        </p:grpSpPr>
        <p:sp>
          <p:nvSpPr>
            <p:cNvPr id="461" name="Google Shape;461;p30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2" name="Google Shape;462;p30"/>
            <p:cNvGrpSpPr/>
            <p:nvPr/>
          </p:nvGrpSpPr>
          <p:grpSpPr>
            <a:xfrm>
              <a:off x="11503192" y="6266643"/>
              <a:ext cx="614845" cy="620233"/>
              <a:chOff x="11077575" y="194161"/>
              <a:chExt cx="547800" cy="552600"/>
            </a:xfrm>
          </p:grpSpPr>
          <p:pic>
            <p:nvPicPr>
              <p:cNvPr id="463" name="Google Shape;463;p30"/>
              <p:cNvPicPr preferRelativeResize="0"/>
              <p:nvPr/>
            </p:nvPicPr>
            <p:blipFill rotWithShape="1">
              <a:blip r:embed="rId6">
                <a:alphaModFix/>
              </a:blip>
              <a:srcRect b="10" l="0" r="0" t="0"/>
              <a:stretch/>
            </p:blipFill>
            <p:spPr>
              <a:xfrm>
                <a:off x="11077575" y="194161"/>
                <a:ext cx="547800" cy="552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64" name="Google Shape;464;p30"/>
              <p:cNvPicPr preferRelativeResize="0"/>
              <p:nvPr/>
            </p:nvPicPr>
            <p:blipFill rotWithShape="1">
              <a:blip r:embed="rId7">
                <a:alphaModFix/>
              </a:blip>
              <a:srcRect b="60" l="0" r="0" t="60"/>
              <a:stretch/>
            </p:blipFill>
            <p:spPr>
              <a:xfrm>
                <a:off x="11209115" y="329943"/>
                <a:ext cx="252600" cy="247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65" name="Google Shape;465;p30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6" name="Google Shape;466;p30"/>
          <p:cNvSpPr txBox="1"/>
          <p:nvPr/>
        </p:nvSpPr>
        <p:spPr>
          <a:xfrm>
            <a:off x="285750" y="952500"/>
            <a:ext cx="11620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 Core Functionality &amp; Arithmetic Logic</a:t>
            </a:r>
            <a:endParaRPr b="1" sz="26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67" name="Google Shape;467;p30"/>
          <p:cNvGrpSpPr/>
          <p:nvPr/>
        </p:nvGrpSpPr>
        <p:grpSpPr>
          <a:xfrm>
            <a:off x="428625" y="1762125"/>
            <a:ext cx="5429400" cy="3762300"/>
            <a:chOff x="0" y="0"/>
            <a:chExt cx="5429400" cy="3762300"/>
          </a:xfrm>
        </p:grpSpPr>
        <p:sp>
          <p:nvSpPr>
            <p:cNvPr id="468" name="Google Shape;468;p30"/>
            <p:cNvSpPr/>
            <p:nvPr/>
          </p:nvSpPr>
          <p:spPr>
            <a:xfrm>
              <a:off x="0" y="0"/>
              <a:ext cx="5429400" cy="3762300"/>
            </a:xfrm>
            <a:prstGeom prst="roundRect">
              <a:avLst>
                <a:gd fmla="val 3037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0"/>
            <p:cNvSpPr txBox="1"/>
            <p:nvPr/>
          </p:nvSpPr>
          <p:spPr>
            <a:xfrm>
              <a:off x="285750" y="190500"/>
              <a:ext cx="4857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Arithmetic &amp; Logic Operations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70" name="Google Shape;470;p30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71" name="Google Shape;471;p30"/>
            <p:cNvSpPr txBox="1"/>
            <p:nvPr/>
          </p:nvSpPr>
          <p:spPr>
            <a:xfrm>
              <a:off x="285750" y="714375"/>
              <a:ext cx="48579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</a:t>
              </a:r>
              <a:r>
                <a:rPr b="1" lang="en" sz="1341">
                  <a:solidFill>
                    <a:srgbClr val="0562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alu_core.sv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module implements a highly optimized 32-bit arithmetic unit with 4 supported functions: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3769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341"/>
                <a:buFont typeface="Times New Roman"/>
                <a:buChar char="●"/>
              </a:pPr>
              <a:r>
                <a:rPr b="1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Opcode '0' (ADD)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Performs 32-bit addition of inputs.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3769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341"/>
                <a:buFont typeface="Times New Roman"/>
                <a:buChar char="●"/>
              </a:pPr>
              <a:r>
                <a:rPr b="1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Opcode '1' (SUB)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Performs 32-bit subtraction of inputs.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3769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341"/>
                <a:buFont typeface="Times New Roman"/>
                <a:buChar char="●"/>
              </a:pPr>
              <a:r>
                <a:rPr b="1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Opcode '2' (MUL)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Performs 32-bit multiplication of inputs.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3769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341"/>
                <a:buFont typeface="Times New Roman"/>
                <a:buChar char="●"/>
              </a:pPr>
              <a:r>
                <a:rPr b="1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Opcode '3' (DIV)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Performs 32-bit unsigned division.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72" name="Google Shape;472;p30"/>
            <p:cNvGrpSpPr/>
            <p:nvPr/>
          </p:nvGrpSpPr>
          <p:grpSpPr>
            <a:xfrm>
              <a:off x="285750" y="2667000"/>
              <a:ext cx="2190750" cy="571500"/>
              <a:chOff x="0" y="0"/>
              <a:chExt cx="2190750" cy="571500"/>
            </a:xfrm>
          </p:grpSpPr>
          <p:sp>
            <p:nvSpPr>
              <p:cNvPr id="473" name="Google Shape;473;p30"/>
              <p:cNvSpPr/>
              <p:nvPr/>
            </p:nvSpPr>
            <p:spPr>
              <a:xfrm>
                <a:off x="0" y="0"/>
                <a:ext cx="571500" cy="5715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76200">
                <a:solidFill>
                  <a:srgbClr val="E6F4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30"/>
              <p:cNvSpPr txBox="1"/>
              <p:nvPr/>
            </p:nvSpPr>
            <p:spPr>
              <a:xfrm>
                <a:off x="0" y="0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32</a:t>
                </a:r>
                <a:endParaRPr b="1" sz="15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5" name="Google Shape;475;p30"/>
              <p:cNvSpPr txBox="1"/>
              <p:nvPr/>
            </p:nvSpPr>
            <p:spPr>
              <a:xfrm>
                <a:off x="666750" y="0"/>
                <a:ext cx="1524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Data Width</a:t>
                </a:r>
                <a:endParaRPr b="1" sz="1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888888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32-Bit Operands</a:t>
                </a:r>
                <a:endParaRPr b="0" sz="1050">
                  <a:solidFill>
                    <a:srgbClr val="888888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76" name="Google Shape;476;p30"/>
            <p:cNvGrpSpPr/>
            <p:nvPr/>
          </p:nvGrpSpPr>
          <p:grpSpPr>
            <a:xfrm>
              <a:off x="2667000" y="2667000"/>
              <a:ext cx="2190750" cy="571500"/>
              <a:chOff x="0" y="0"/>
              <a:chExt cx="2190750" cy="571500"/>
            </a:xfrm>
          </p:grpSpPr>
          <p:sp>
            <p:nvSpPr>
              <p:cNvPr id="477" name="Google Shape;477;p30"/>
              <p:cNvSpPr/>
              <p:nvPr/>
            </p:nvSpPr>
            <p:spPr>
              <a:xfrm>
                <a:off x="0" y="0"/>
                <a:ext cx="571500" cy="5715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76200">
                <a:solidFill>
                  <a:srgbClr val="E6F4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30"/>
              <p:cNvSpPr txBox="1"/>
              <p:nvPr/>
            </p:nvSpPr>
            <p:spPr>
              <a:xfrm>
                <a:off x="0" y="0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</a:t>
                </a:r>
                <a:endParaRPr b="1" sz="15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9" name="Google Shape;479;p30"/>
              <p:cNvSpPr txBox="1"/>
              <p:nvPr/>
            </p:nvSpPr>
            <p:spPr>
              <a:xfrm>
                <a:off x="666750" y="0"/>
                <a:ext cx="1524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Opcode Width</a:t>
                </a:r>
                <a:endParaRPr b="1" sz="1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888888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4-Bit Opcode</a:t>
                </a:r>
                <a:endParaRPr b="0" sz="1050">
                  <a:solidFill>
                    <a:srgbClr val="888888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480" name="Google Shape;480;p30"/>
          <p:cNvGrpSpPr/>
          <p:nvPr/>
        </p:nvGrpSpPr>
        <p:grpSpPr>
          <a:xfrm>
            <a:off x="6334125" y="1762125"/>
            <a:ext cx="5429400" cy="3762300"/>
            <a:chOff x="0" y="0"/>
            <a:chExt cx="5429400" cy="3762300"/>
          </a:xfrm>
        </p:grpSpPr>
        <p:sp>
          <p:nvSpPr>
            <p:cNvPr id="481" name="Google Shape;481;p30"/>
            <p:cNvSpPr/>
            <p:nvPr/>
          </p:nvSpPr>
          <p:spPr>
            <a:xfrm>
              <a:off x="0" y="0"/>
              <a:ext cx="5429400" cy="3762300"/>
            </a:xfrm>
            <a:prstGeom prst="roundRect">
              <a:avLst>
                <a:gd fmla="val 3037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0"/>
            <p:cNvSpPr txBox="1"/>
            <p:nvPr/>
          </p:nvSpPr>
          <p:spPr>
            <a:xfrm>
              <a:off x="285750" y="190500"/>
              <a:ext cx="4857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Error Handling &amp; Exception Logic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83" name="Google Shape;483;p30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84" name="Google Shape;484;p30"/>
            <p:cNvSpPr txBox="1"/>
            <p:nvPr/>
          </p:nvSpPr>
          <p:spPr>
            <a:xfrm>
              <a:off x="285750" y="714375"/>
              <a:ext cx="4857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Division-by-Zero Protection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Unsigned division operations automatically monitor the divisor. If division by zero is attempted: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3769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000000"/>
                </a:buClr>
                <a:buSzPts val="1341"/>
                <a:buFont typeface="Times New Roman"/>
                <a:buChar char="●"/>
              </a:pPr>
              <a:r>
                <a:rPr b="1" lang="en" sz="1249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Output defaults to 32'h0 &amp; asserts 'error' flag</a:t>
              </a:r>
              <a:endParaRPr b="1" sz="1249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Invalid Opcode Exception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The hardware verifies opcode ranges in real-time. Any value greater than the defined set asserts error: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3769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341"/>
                <a:buFont typeface="Times New Roman"/>
                <a:buChar char="●"/>
              </a:pPr>
              <a:r>
                <a:rPr b="1" lang="en" sz="1249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Opcode &gt; 3 asserts 'error' output high</a:t>
              </a:r>
              <a:endParaRPr b="1" sz="1249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85" name="Google Shape;485;p30"/>
            <p:cNvGrpSpPr/>
            <p:nvPr/>
          </p:nvGrpSpPr>
          <p:grpSpPr>
            <a:xfrm>
              <a:off x="285750" y="2524125"/>
              <a:ext cx="3476700" cy="971700"/>
              <a:chOff x="285750" y="2524125"/>
              <a:chExt cx="3476700" cy="971700"/>
            </a:xfrm>
          </p:grpSpPr>
          <p:sp>
            <p:nvSpPr>
              <p:cNvPr id="486" name="Google Shape;486;p30"/>
              <p:cNvSpPr/>
              <p:nvPr/>
            </p:nvSpPr>
            <p:spPr>
              <a:xfrm>
                <a:off x="285750" y="2524125"/>
                <a:ext cx="14763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E6F4F0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30"/>
              <p:cNvSpPr txBox="1"/>
              <p:nvPr/>
            </p:nvSpPr>
            <p:spPr>
              <a:xfrm>
                <a:off x="285750" y="2524125"/>
                <a:ext cx="1476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5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DIVISOR == 0</a:t>
                </a:r>
                <a:endParaRPr b="1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Unsigned Div-by-Zero</a:t>
                </a:r>
                <a:endParaRPr b="0" sz="10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30"/>
              <p:cNvSpPr/>
              <p:nvPr/>
            </p:nvSpPr>
            <p:spPr>
              <a:xfrm>
                <a:off x="2381250" y="2524125"/>
                <a:ext cx="13812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30"/>
              <p:cNvSpPr txBox="1"/>
              <p:nvPr/>
            </p:nvSpPr>
            <p:spPr>
              <a:xfrm>
                <a:off x="2381250" y="2524125"/>
                <a:ext cx="13812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Result Output</a:t>
                </a:r>
                <a:endParaRPr b="0" sz="10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32'h00000000</a:t>
                </a:r>
                <a:endParaRPr b="1" sz="12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90" name="Google Shape;490;p30"/>
              <p:cNvSpPr/>
              <p:nvPr/>
            </p:nvSpPr>
            <p:spPr>
              <a:xfrm>
                <a:off x="2381250" y="3095625"/>
                <a:ext cx="13812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30"/>
              <p:cNvSpPr txBox="1"/>
              <p:nvPr/>
            </p:nvSpPr>
            <p:spPr>
              <a:xfrm>
                <a:off x="2381250" y="3095625"/>
                <a:ext cx="13812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A3E2D1"/>
                    </a:solidFill>
                    <a:latin typeface="Arial"/>
                    <a:ea typeface="Arial"/>
                    <a:cs typeface="Arial"/>
                    <a:sym typeface="Arial"/>
                  </a:rPr>
                  <a:t>Error Flag</a:t>
                </a:r>
                <a:endParaRPr b="0" sz="1050">
                  <a:solidFill>
                    <a:srgbClr val="A3E2D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ASSERTED (1'b1)</a:t>
                </a:r>
                <a:endPara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30"/>
              <p:cNvSpPr/>
              <p:nvPr/>
            </p:nvSpPr>
            <p:spPr>
              <a:xfrm>
                <a:off x="1762125" y="2724150"/>
                <a:ext cx="55260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30"/>
              <p:cNvSpPr/>
              <p:nvPr/>
            </p:nvSpPr>
            <p:spPr>
              <a:xfrm>
                <a:off x="2247900" y="2676525"/>
                <a:ext cx="6660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30"/>
              <p:cNvSpPr/>
              <p:nvPr/>
            </p:nvSpPr>
            <p:spPr>
              <a:xfrm>
                <a:off x="1762125" y="2724150"/>
                <a:ext cx="552600" cy="476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41379" y="0"/>
                    </a:lnTo>
                    <a:lnTo>
                      <a:pt x="41379" y="12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30"/>
              <p:cNvSpPr/>
              <p:nvPr/>
            </p:nvSpPr>
            <p:spPr>
              <a:xfrm>
                <a:off x="2247900" y="3152775"/>
                <a:ext cx="6660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96" name="Google Shape;496;p30"/>
          <p:cNvGrpSpPr/>
          <p:nvPr/>
        </p:nvGrpSpPr>
        <p:grpSpPr>
          <a:xfrm>
            <a:off x="4667250" y="5667375"/>
            <a:ext cx="2857500" cy="304800"/>
            <a:chOff x="0" y="0"/>
            <a:chExt cx="2857500" cy="304800"/>
          </a:xfrm>
        </p:grpSpPr>
        <p:sp>
          <p:nvSpPr>
            <p:cNvPr id="497" name="Google Shape;497;p30"/>
            <p:cNvSpPr/>
            <p:nvPr/>
          </p:nvSpPr>
          <p:spPr>
            <a:xfrm>
              <a:off x="0" y="0"/>
              <a:ext cx="2857500" cy="304800"/>
            </a:xfrm>
            <a:prstGeom prst="roundRect">
              <a:avLst>
                <a:gd fmla="val 50000" name="adj"/>
              </a:avLst>
            </a:prstGeom>
            <a:solidFill>
              <a:srgbClr val="E6F4F0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0"/>
            <p:cNvSpPr txBox="1"/>
            <p:nvPr/>
          </p:nvSpPr>
          <p:spPr>
            <a:xfrm>
              <a:off x="0" y="0"/>
              <a:ext cx="2857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Source HDL: </a:t>
              </a:r>
              <a:r>
                <a:rPr b="1" lang="en" sz="1100">
                  <a:solidFill>
                    <a:srgbClr val="0562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alu_core.sv</a:t>
              </a:r>
              <a:endParaRPr b="1" sz="110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1"/>
          <p:cNvGrpSpPr/>
          <p:nvPr/>
        </p:nvGrpSpPr>
        <p:grpSpPr>
          <a:xfrm>
            <a:off x="-4762" y="-6"/>
            <a:ext cx="12197919" cy="984711"/>
            <a:chOff x="-4762" y="-6"/>
            <a:chExt cx="12197919" cy="984711"/>
          </a:xfrm>
        </p:grpSpPr>
        <p:pic>
          <p:nvPicPr>
            <p:cNvPr id="504" name="Google Shape;504;p31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5" name="Google Shape;505;p31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1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7" name="Google Shape;507;p31"/>
            <p:cNvGrpSpPr/>
            <p:nvPr/>
          </p:nvGrpSpPr>
          <p:grpSpPr>
            <a:xfrm>
              <a:off x="4477020" y="263617"/>
              <a:ext cx="3238090" cy="721088"/>
              <a:chOff x="4276725" y="109041"/>
              <a:chExt cx="3638700" cy="810300"/>
            </a:xfrm>
          </p:grpSpPr>
          <p:pic>
            <p:nvPicPr>
              <p:cNvPr id="508" name="Google Shape;508;p31"/>
              <p:cNvPicPr preferRelativeResize="0"/>
              <p:nvPr/>
            </p:nvPicPr>
            <p:blipFill rotWithShape="1">
              <a:blip r:embed="rId5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9" name="Google Shape;509;p31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510" name="Google Shape;510;p31"/>
              <p:cNvPicPr preferRelativeResize="0"/>
              <p:nvPr/>
            </p:nvPicPr>
            <p:blipFill rotWithShape="1">
              <a:blip r:embed="rId6">
                <a:alphaModFix/>
              </a:blip>
              <a:srcRect b="-26163" l="0" r="-26263" t="76"/>
              <a:stretch/>
            </p:blipFill>
            <p:spPr>
              <a:xfrm>
                <a:off x="5604843" y="109041"/>
                <a:ext cx="979500" cy="81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511" name="Google Shape;511;p31"/>
          <p:cNvSpPr txBox="1"/>
          <p:nvPr/>
        </p:nvSpPr>
        <p:spPr>
          <a:xfrm>
            <a:off x="476250" y="904875"/>
            <a:ext cx="112395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AXI4-Lite Slave Interface &amp; Handshaking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12" name="Google Shape;512;p31"/>
          <p:cNvGrpSpPr/>
          <p:nvPr/>
        </p:nvGrpSpPr>
        <p:grpSpPr>
          <a:xfrm>
            <a:off x="476250" y="2047875"/>
            <a:ext cx="5381700" cy="3762300"/>
            <a:chOff x="0" y="0"/>
            <a:chExt cx="5381700" cy="3762300"/>
          </a:xfrm>
        </p:grpSpPr>
        <p:sp>
          <p:nvSpPr>
            <p:cNvPr id="513" name="Google Shape;513;p31"/>
            <p:cNvSpPr/>
            <p:nvPr/>
          </p:nvSpPr>
          <p:spPr>
            <a:xfrm>
              <a:off x="0" y="0"/>
              <a:ext cx="5381700" cy="3762300"/>
            </a:xfrm>
            <a:prstGeom prst="roundRect">
              <a:avLst>
                <a:gd fmla="val 3037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1"/>
            <p:cNvSpPr txBox="1"/>
            <p:nvPr/>
          </p:nvSpPr>
          <p:spPr>
            <a:xfrm>
              <a:off x="285750" y="238125"/>
              <a:ext cx="48102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Write Handshaking Behavior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15" name="Google Shape;515;p31"/>
            <p:cNvCxnSpPr/>
            <p:nvPr/>
          </p:nvCxnSpPr>
          <p:spPr>
            <a:xfrm>
              <a:off x="285750" y="762000"/>
              <a:ext cx="48102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16" name="Google Shape;516;p31"/>
            <p:cNvSpPr txBox="1"/>
            <p:nvPr/>
          </p:nvSpPr>
          <p:spPr>
            <a:xfrm>
              <a:off x="285750" y="952500"/>
              <a:ext cx="48102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axi4lite_slave.sv Protocol Support:</a:t>
              </a:r>
              <a:endParaRPr b="1" sz="1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Supports independent Address Write (AW) and Write Data (W) handshakes.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Scenario 1: AW valid signal asserted before W valid.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Scenario 2: W valid signal asserted before AW valid.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Scenario 3: Concurrent AW and W validation in the same clock cycle.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17" name="Google Shape;517;p31"/>
          <p:cNvGrpSpPr/>
          <p:nvPr/>
        </p:nvGrpSpPr>
        <p:grpSpPr>
          <a:xfrm>
            <a:off x="6334125" y="2047875"/>
            <a:ext cx="5381700" cy="3762300"/>
            <a:chOff x="0" y="0"/>
            <a:chExt cx="5381700" cy="3762300"/>
          </a:xfrm>
        </p:grpSpPr>
        <p:sp>
          <p:nvSpPr>
            <p:cNvPr id="518" name="Google Shape;518;p31"/>
            <p:cNvSpPr/>
            <p:nvPr/>
          </p:nvSpPr>
          <p:spPr>
            <a:xfrm>
              <a:off x="0" y="0"/>
              <a:ext cx="5381700" cy="3762300"/>
            </a:xfrm>
            <a:prstGeom prst="roundRect">
              <a:avLst>
                <a:gd fmla="val 3037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1"/>
            <p:cNvSpPr txBox="1"/>
            <p:nvPr/>
          </p:nvSpPr>
          <p:spPr>
            <a:xfrm>
              <a:off x="285750" y="238125"/>
              <a:ext cx="48102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Response &amp; Read Flow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20" name="Google Shape;520;p31"/>
            <p:cNvCxnSpPr/>
            <p:nvPr/>
          </p:nvCxnSpPr>
          <p:spPr>
            <a:xfrm>
              <a:off x="285750" y="762000"/>
              <a:ext cx="48102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21" name="Google Shape;521;p31"/>
            <p:cNvSpPr txBox="1"/>
            <p:nvPr/>
          </p:nvSpPr>
          <p:spPr>
            <a:xfrm>
              <a:off x="285750" y="952500"/>
              <a:ext cx="48102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Write Response (BRESP) Details:</a:t>
              </a:r>
              <a:endParaRPr b="1" sz="1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write response (BRESP) is hardwired to always return </a:t>
              </a:r>
              <a:r>
                <a:rPr b="1" lang="en" sz="15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OKAY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upon completion.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 Handshaking Flow:</a:t>
              </a:r>
              <a:endParaRPr b="1" sz="1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Initiated by an Address Read (AR) channel handshake.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Followed immediately by an RVALID assertion to transmit read data.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22" name="Google Shape;522;p31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523" name="Google Shape;523;p31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4" name="Google Shape;524;p31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525" name="Google Shape;525;p31"/>
              <p:cNvPicPr preferRelativeResize="0"/>
              <p:nvPr/>
            </p:nvPicPr>
            <p:blipFill rotWithShape="1">
              <a:blip r:embed="rId7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26" name="Google Shape;526;p31"/>
              <p:cNvPicPr preferRelativeResize="0"/>
              <p:nvPr/>
            </p:nvPicPr>
            <p:blipFill rotWithShape="1">
              <a:blip r:embed="rId8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27" name="Google Shape;527;p31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2"/>
          <p:cNvSpPr/>
          <p:nvPr>
            <p:ph idx="2" type="pic"/>
          </p:nvPr>
        </p:nvSpPr>
        <p:spPr>
          <a:xfrm>
            <a:off x="-4762" y="0"/>
            <a:ext cx="12196800" cy="633300"/>
          </a:xfrm>
          <a:prstGeom prst="rect">
            <a:avLst/>
          </a:prstGeom>
          <a:noFill/>
          <a:ln>
            <a:noFill/>
          </a:ln>
        </p:spPr>
      </p:sp>
      <p:sp>
        <p:nvSpPr>
          <p:cNvPr id="533" name="Google Shape;533;p32"/>
          <p:cNvSpPr/>
          <p:nvPr/>
        </p:nvSpPr>
        <p:spPr>
          <a:xfrm flipH="1" rot="-5400000">
            <a:off x="5780206" y="-5781456"/>
            <a:ext cx="631500" cy="121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2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2"/>
          <p:cNvSpPr/>
          <p:nvPr>
            <p:ph idx="3" type="pic"/>
          </p:nvPr>
        </p:nvSpPr>
        <p:spPr>
          <a:xfrm>
            <a:off x="4477020" y="302202"/>
            <a:ext cx="3238090" cy="644201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32"/>
          <p:cNvSpPr/>
          <p:nvPr/>
        </p:nvSpPr>
        <p:spPr>
          <a:xfrm>
            <a:off x="4538304" y="357311"/>
            <a:ext cx="3115283" cy="534476"/>
          </a:xfrm>
          <a:prstGeom prst="roundRect">
            <a:avLst>
              <a:gd fmla="val 3959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2"/>
          <p:cNvSpPr/>
          <p:nvPr>
            <p:ph idx="4" type="pic"/>
          </p:nvPr>
        </p:nvSpPr>
        <p:spPr>
          <a:xfrm>
            <a:off x="5658917" y="263617"/>
            <a:ext cx="871660" cy="721088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32"/>
          <p:cNvSpPr txBox="1"/>
          <p:nvPr/>
        </p:nvSpPr>
        <p:spPr>
          <a:xfrm>
            <a:off x="523875" y="904875"/>
            <a:ext cx="11144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Avalon-MM to AXI4-Lite Bridge Implementation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i="1" lang="en" sz="16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FSM control state machine and bridge control logic mechanics in </a:t>
            </a:r>
            <a:r>
              <a:rPr b="1" i="0" lang="en" sz="160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rPr>
              <a:t>avalon_axi4lite_bridge.sv</a:t>
            </a:r>
            <a:endParaRPr b="0" i="1" sz="160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39" name="Google Shape;539;p32"/>
          <p:cNvGrpSpPr/>
          <p:nvPr/>
        </p:nvGrpSpPr>
        <p:grpSpPr>
          <a:xfrm>
            <a:off x="809625" y="1857375"/>
            <a:ext cx="10572600" cy="666900"/>
            <a:chOff x="809625" y="0"/>
            <a:chExt cx="10572600" cy="666900"/>
          </a:xfrm>
        </p:grpSpPr>
        <p:grpSp>
          <p:nvGrpSpPr>
            <p:cNvPr id="540" name="Google Shape;540;p32"/>
            <p:cNvGrpSpPr/>
            <p:nvPr/>
          </p:nvGrpSpPr>
          <p:grpSpPr>
            <a:xfrm>
              <a:off x="809625" y="0"/>
              <a:ext cx="1809600" cy="666900"/>
              <a:chOff x="0" y="0"/>
              <a:chExt cx="1809600" cy="666900"/>
            </a:xfrm>
          </p:grpSpPr>
          <p:sp>
            <p:nvSpPr>
              <p:cNvPr id="541" name="Google Shape;541;p32"/>
              <p:cNvSpPr/>
              <p:nvPr/>
            </p:nvSpPr>
            <p:spPr>
              <a:xfrm>
                <a:off x="0" y="0"/>
                <a:ext cx="18096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0562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32"/>
              <p:cNvSpPr txBox="1"/>
              <p:nvPr/>
            </p:nvSpPr>
            <p:spPr>
              <a:xfrm>
                <a:off x="0" y="0"/>
                <a:ext cx="18096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STATE 01</a:t>
                </a:r>
                <a:endParaRPr b="1" sz="9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ST_IDLE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43" name="Google Shape;543;p32"/>
            <p:cNvSpPr/>
            <p:nvPr/>
          </p:nvSpPr>
          <p:spPr>
            <a:xfrm>
              <a:off x="2686050" y="285750"/>
              <a:ext cx="2478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92308" y="0"/>
                  </a:moveTo>
                  <a:lnTo>
                    <a:pt x="120000" y="60000"/>
                  </a:lnTo>
                  <a:lnTo>
                    <a:pt x="92308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44" name="Google Shape;544;p32"/>
            <p:cNvGrpSpPr/>
            <p:nvPr/>
          </p:nvGrpSpPr>
          <p:grpSpPr>
            <a:xfrm>
              <a:off x="3000375" y="0"/>
              <a:ext cx="1809600" cy="666900"/>
              <a:chOff x="0" y="0"/>
              <a:chExt cx="1809600" cy="666900"/>
            </a:xfrm>
          </p:grpSpPr>
          <p:sp>
            <p:nvSpPr>
              <p:cNvPr id="545" name="Google Shape;545;p32"/>
              <p:cNvSpPr/>
              <p:nvPr/>
            </p:nvSpPr>
            <p:spPr>
              <a:xfrm>
                <a:off x="0" y="0"/>
                <a:ext cx="18096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0562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32"/>
              <p:cNvSpPr txBox="1"/>
              <p:nvPr/>
            </p:nvSpPr>
            <p:spPr>
              <a:xfrm>
                <a:off x="0" y="0"/>
                <a:ext cx="18096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STATE 02</a:t>
                </a:r>
                <a:endParaRPr b="1" sz="9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ST_WRITE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47" name="Google Shape;547;p32"/>
            <p:cNvSpPr/>
            <p:nvPr/>
          </p:nvSpPr>
          <p:spPr>
            <a:xfrm>
              <a:off x="4876800" y="285750"/>
              <a:ext cx="2478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92308" y="0"/>
                  </a:moveTo>
                  <a:lnTo>
                    <a:pt x="120000" y="60000"/>
                  </a:lnTo>
                  <a:lnTo>
                    <a:pt x="92308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48" name="Google Shape;548;p32"/>
            <p:cNvGrpSpPr/>
            <p:nvPr/>
          </p:nvGrpSpPr>
          <p:grpSpPr>
            <a:xfrm>
              <a:off x="5191125" y="0"/>
              <a:ext cx="1809600" cy="666900"/>
              <a:chOff x="0" y="0"/>
              <a:chExt cx="1809600" cy="666900"/>
            </a:xfrm>
          </p:grpSpPr>
          <p:sp>
            <p:nvSpPr>
              <p:cNvPr id="549" name="Google Shape;549;p32"/>
              <p:cNvSpPr/>
              <p:nvPr/>
            </p:nvSpPr>
            <p:spPr>
              <a:xfrm>
                <a:off x="0" y="0"/>
                <a:ext cx="18096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0562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32"/>
              <p:cNvSpPr txBox="1"/>
              <p:nvPr/>
            </p:nvSpPr>
            <p:spPr>
              <a:xfrm>
                <a:off x="0" y="0"/>
                <a:ext cx="18096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STATE 03</a:t>
                </a:r>
                <a:endParaRPr b="1" sz="9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ST_WRITE_RESP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51" name="Google Shape;551;p32"/>
            <p:cNvSpPr/>
            <p:nvPr/>
          </p:nvSpPr>
          <p:spPr>
            <a:xfrm>
              <a:off x="7067550" y="285750"/>
              <a:ext cx="2478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92308" y="0"/>
                  </a:moveTo>
                  <a:lnTo>
                    <a:pt x="120000" y="60000"/>
                  </a:lnTo>
                  <a:lnTo>
                    <a:pt x="92308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2" name="Google Shape;552;p32"/>
            <p:cNvGrpSpPr/>
            <p:nvPr/>
          </p:nvGrpSpPr>
          <p:grpSpPr>
            <a:xfrm>
              <a:off x="7381875" y="0"/>
              <a:ext cx="1809600" cy="666900"/>
              <a:chOff x="0" y="0"/>
              <a:chExt cx="1809600" cy="666900"/>
            </a:xfrm>
          </p:grpSpPr>
          <p:sp>
            <p:nvSpPr>
              <p:cNvPr id="553" name="Google Shape;553;p32"/>
              <p:cNvSpPr/>
              <p:nvPr/>
            </p:nvSpPr>
            <p:spPr>
              <a:xfrm>
                <a:off x="0" y="0"/>
                <a:ext cx="18096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0562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32"/>
              <p:cNvSpPr txBox="1"/>
              <p:nvPr/>
            </p:nvSpPr>
            <p:spPr>
              <a:xfrm>
                <a:off x="0" y="0"/>
                <a:ext cx="18096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STATE 04</a:t>
                </a:r>
                <a:endParaRPr b="1" sz="9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ST_READ_ADDR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55" name="Google Shape;555;p32"/>
            <p:cNvSpPr/>
            <p:nvPr/>
          </p:nvSpPr>
          <p:spPr>
            <a:xfrm>
              <a:off x="9258300" y="285750"/>
              <a:ext cx="2478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92308" y="0"/>
                  </a:moveTo>
                  <a:lnTo>
                    <a:pt x="120000" y="60000"/>
                  </a:lnTo>
                  <a:lnTo>
                    <a:pt x="92308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6" name="Google Shape;556;p32"/>
            <p:cNvGrpSpPr/>
            <p:nvPr/>
          </p:nvGrpSpPr>
          <p:grpSpPr>
            <a:xfrm>
              <a:off x="9572625" y="0"/>
              <a:ext cx="1809600" cy="666900"/>
              <a:chOff x="0" y="0"/>
              <a:chExt cx="1809600" cy="666900"/>
            </a:xfrm>
          </p:grpSpPr>
          <p:sp>
            <p:nvSpPr>
              <p:cNvPr id="557" name="Google Shape;557;p32"/>
              <p:cNvSpPr/>
              <p:nvPr/>
            </p:nvSpPr>
            <p:spPr>
              <a:xfrm>
                <a:off x="0" y="0"/>
                <a:ext cx="18096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0562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32"/>
              <p:cNvSpPr txBox="1"/>
              <p:nvPr/>
            </p:nvSpPr>
            <p:spPr>
              <a:xfrm>
                <a:off x="0" y="0"/>
                <a:ext cx="18096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STATE 05</a:t>
                </a:r>
                <a:endParaRPr b="1" sz="9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ST_READ_DATA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59" name="Google Shape;559;p32"/>
          <p:cNvGrpSpPr/>
          <p:nvPr/>
        </p:nvGrpSpPr>
        <p:grpSpPr>
          <a:xfrm>
            <a:off x="523875" y="2809875"/>
            <a:ext cx="11144400" cy="2952900"/>
            <a:chOff x="523875" y="0"/>
            <a:chExt cx="11144400" cy="2952900"/>
          </a:xfrm>
        </p:grpSpPr>
        <p:grpSp>
          <p:nvGrpSpPr>
            <p:cNvPr id="560" name="Google Shape;560;p32"/>
            <p:cNvGrpSpPr/>
            <p:nvPr/>
          </p:nvGrpSpPr>
          <p:grpSpPr>
            <a:xfrm>
              <a:off x="523875" y="0"/>
              <a:ext cx="3524400" cy="2952900"/>
              <a:chOff x="0" y="0"/>
              <a:chExt cx="3524400" cy="2952900"/>
            </a:xfrm>
          </p:grpSpPr>
          <p:sp>
            <p:nvSpPr>
              <p:cNvPr id="561" name="Google Shape;561;p32"/>
              <p:cNvSpPr/>
              <p:nvPr/>
            </p:nvSpPr>
            <p:spPr>
              <a:xfrm>
                <a:off x="0" y="0"/>
                <a:ext cx="3524400" cy="2952900"/>
              </a:xfrm>
              <a:prstGeom prst="roundRect">
                <a:avLst>
                  <a:gd fmla="val 3225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32"/>
              <p:cNvSpPr/>
              <p:nvPr/>
            </p:nvSpPr>
            <p:spPr>
              <a:xfrm>
                <a:off x="0" y="0"/>
                <a:ext cx="3524400" cy="523800"/>
              </a:xfrm>
              <a:custGeom>
                <a:rect b="b" l="l" r="r" t="t"/>
                <a:pathLst>
                  <a:path extrusionOk="0" h="120000" w="120000">
                    <a:moveTo>
                      <a:pt x="0" y="21818"/>
                    </a:moveTo>
                    <a:cubicBezTo>
                      <a:pt x="0" y="9818"/>
                      <a:pt x="1459" y="0"/>
                      <a:pt x="3243" y="0"/>
                    </a:cubicBezTo>
                    <a:lnTo>
                      <a:pt x="116757" y="0"/>
                    </a:lnTo>
                    <a:cubicBezTo>
                      <a:pt x="118541" y="0"/>
                      <a:pt x="120000" y="9818"/>
                      <a:pt x="120000" y="21818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32"/>
              <p:cNvSpPr txBox="1"/>
              <p:nvPr/>
            </p:nvSpPr>
            <p:spPr>
              <a:xfrm>
                <a:off x="0" y="0"/>
                <a:ext cx="35244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Waitrequest Assertion</a:t>
                </a:r>
                <a:endParaRPr b="1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32"/>
              <p:cNvSpPr txBox="1"/>
              <p:nvPr/>
            </p:nvSpPr>
            <p:spPr>
              <a:xfrm>
                <a:off x="238125" y="762000"/>
                <a:ext cx="3048000" cy="20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■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Key control logic asserts </a:t>
                </a:r>
                <a:r>
                  <a:rPr b="1" lang="en" sz="155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avs_waitrequest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to 1.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■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The assertion occurs and remains active when the bridge interface is busy.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65" name="Google Shape;565;p32"/>
            <p:cNvGrpSpPr/>
            <p:nvPr/>
          </p:nvGrpSpPr>
          <p:grpSpPr>
            <a:xfrm>
              <a:off x="4333875" y="0"/>
              <a:ext cx="3524400" cy="2952900"/>
              <a:chOff x="0" y="0"/>
              <a:chExt cx="3524400" cy="2952900"/>
            </a:xfrm>
          </p:grpSpPr>
          <p:sp>
            <p:nvSpPr>
              <p:cNvPr id="566" name="Google Shape;566;p32"/>
              <p:cNvSpPr/>
              <p:nvPr/>
            </p:nvSpPr>
            <p:spPr>
              <a:xfrm>
                <a:off x="0" y="0"/>
                <a:ext cx="3524400" cy="2952900"/>
              </a:xfrm>
              <a:prstGeom prst="roundRect">
                <a:avLst>
                  <a:gd fmla="val 3225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32"/>
              <p:cNvSpPr/>
              <p:nvPr/>
            </p:nvSpPr>
            <p:spPr>
              <a:xfrm>
                <a:off x="0" y="0"/>
                <a:ext cx="3524400" cy="523800"/>
              </a:xfrm>
              <a:custGeom>
                <a:rect b="b" l="l" r="r" t="t"/>
                <a:pathLst>
                  <a:path extrusionOk="0" h="120000" w="120000">
                    <a:moveTo>
                      <a:pt x="0" y="21818"/>
                    </a:moveTo>
                    <a:cubicBezTo>
                      <a:pt x="0" y="9818"/>
                      <a:pt x="1459" y="0"/>
                      <a:pt x="3243" y="0"/>
                    </a:cubicBezTo>
                    <a:lnTo>
                      <a:pt x="116757" y="0"/>
                    </a:lnTo>
                    <a:cubicBezTo>
                      <a:pt x="118541" y="0"/>
                      <a:pt x="120000" y="9818"/>
                      <a:pt x="120000" y="21818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32"/>
              <p:cNvSpPr txBox="1"/>
              <p:nvPr/>
            </p:nvSpPr>
            <p:spPr>
              <a:xfrm>
                <a:off x="0" y="0"/>
                <a:ext cx="35244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Phase Handshakes</a:t>
                </a:r>
                <a:endParaRPr b="1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32"/>
              <p:cNvSpPr txBox="1"/>
              <p:nvPr/>
            </p:nvSpPr>
            <p:spPr>
              <a:xfrm>
                <a:off x="238125" y="762000"/>
                <a:ext cx="3048000" cy="20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■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Utilizes internal </a:t>
                </a:r>
                <a:r>
                  <a:rPr b="1" lang="en" sz="155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aw_done_q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and </a:t>
                </a:r>
                <a:r>
                  <a:rPr b="1" lang="en" sz="155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w_done_q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registers.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■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These dedicated registers handle phase-shifted AW/W AXI handshakes.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70" name="Google Shape;570;p32"/>
            <p:cNvGrpSpPr/>
            <p:nvPr/>
          </p:nvGrpSpPr>
          <p:grpSpPr>
            <a:xfrm>
              <a:off x="8143875" y="0"/>
              <a:ext cx="3524400" cy="2952900"/>
              <a:chOff x="0" y="0"/>
              <a:chExt cx="3524400" cy="2952900"/>
            </a:xfrm>
          </p:grpSpPr>
          <p:sp>
            <p:nvSpPr>
              <p:cNvPr id="571" name="Google Shape;571;p32"/>
              <p:cNvSpPr/>
              <p:nvPr/>
            </p:nvSpPr>
            <p:spPr>
              <a:xfrm>
                <a:off x="0" y="0"/>
                <a:ext cx="3524400" cy="2952900"/>
              </a:xfrm>
              <a:prstGeom prst="roundRect">
                <a:avLst>
                  <a:gd fmla="val 3225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32"/>
              <p:cNvSpPr/>
              <p:nvPr/>
            </p:nvSpPr>
            <p:spPr>
              <a:xfrm>
                <a:off x="0" y="0"/>
                <a:ext cx="3524400" cy="523800"/>
              </a:xfrm>
              <a:custGeom>
                <a:rect b="b" l="l" r="r" t="t"/>
                <a:pathLst>
                  <a:path extrusionOk="0" h="120000" w="120000">
                    <a:moveTo>
                      <a:pt x="0" y="21818"/>
                    </a:moveTo>
                    <a:cubicBezTo>
                      <a:pt x="0" y="9818"/>
                      <a:pt x="1459" y="0"/>
                      <a:pt x="3243" y="0"/>
                    </a:cubicBezTo>
                    <a:lnTo>
                      <a:pt x="116757" y="0"/>
                    </a:lnTo>
                    <a:cubicBezTo>
                      <a:pt x="118541" y="0"/>
                      <a:pt x="120000" y="9818"/>
                      <a:pt x="120000" y="21818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32"/>
              <p:cNvSpPr txBox="1"/>
              <p:nvPr/>
            </p:nvSpPr>
            <p:spPr>
              <a:xfrm>
                <a:off x="0" y="0"/>
                <a:ext cx="35244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Read Data Validity</a:t>
                </a:r>
                <a:endParaRPr b="1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32"/>
              <p:cNvSpPr txBox="1"/>
              <p:nvPr/>
            </p:nvSpPr>
            <p:spPr>
              <a:xfrm>
                <a:off x="238125" y="762000"/>
                <a:ext cx="3048000" cy="20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■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The </a:t>
                </a:r>
                <a:r>
                  <a:rPr b="1" lang="en" sz="155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avs_readdatavalid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signal pulses active for exactly one cycle.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■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This signal assertion is triggered upon receiving </a:t>
                </a:r>
                <a:r>
                  <a:rPr b="1" lang="en" sz="155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RVALID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575" name="Google Shape;575;p32"/>
          <p:cNvSpPr/>
          <p:nvPr/>
        </p:nvSpPr>
        <p:spPr>
          <a:xfrm>
            <a:off x="0" y="1425"/>
            <a:ext cx="12194400" cy="6863700"/>
          </a:xfrm>
          <a:custGeom>
            <a:rect b="b" l="l" r="r" t="t"/>
            <a:pathLst>
              <a:path extrusionOk="0" h="120000" w="120000">
                <a:moveTo>
                  <a:pt x="0" y="115362"/>
                </a:moveTo>
                <a:cubicBezTo>
                  <a:pt x="0" y="117896"/>
                  <a:pt x="1156" y="119951"/>
                  <a:pt x="2583" y="119951"/>
                </a:cubicBezTo>
                <a:lnTo>
                  <a:pt x="117419" y="119951"/>
                </a:lnTo>
                <a:cubicBezTo>
                  <a:pt x="118843" y="119951"/>
                  <a:pt x="120000" y="117896"/>
                  <a:pt x="120000" y="115362"/>
                </a:cubicBezTo>
                <a:lnTo>
                  <a:pt x="120000" y="120000"/>
                </a:lnTo>
                <a:lnTo>
                  <a:pt x="0" y="12000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4638"/>
                </a:lnTo>
                <a:cubicBezTo>
                  <a:pt x="120000" y="2104"/>
                  <a:pt x="118843" y="49"/>
                  <a:pt x="117419" y="49"/>
                </a:cubicBezTo>
                <a:lnTo>
                  <a:pt x="2583" y="49"/>
                </a:lnTo>
                <a:cubicBezTo>
                  <a:pt x="1156" y="49"/>
                  <a:pt x="0" y="2104"/>
                  <a:pt x="0" y="463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2"/>
          <p:cNvSpPr/>
          <p:nvPr>
            <p:ph idx="5" type="pic"/>
          </p:nvPr>
        </p:nvSpPr>
        <p:spPr>
          <a:xfrm>
            <a:off x="11503192" y="6266643"/>
            <a:ext cx="547839" cy="552553"/>
          </a:xfrm>
          <a:prstGeom prst="rect">
            <a:avLst/>
          </a:prstGeom>
          <a:noFill/>
          <a:ln>
            <a:noFill/>
          </a:ln>
        </p:spPr>
      </p:sp>
      <p:sp>
        <p:nvSpPr>
          <p:cNvPr id="577" name="Google Shape;577;p32"/>
          <p:cNvSpPr/>
          <p:nvPr>
            <p:ph idx="6" type="pic"/>
          </p:nvPr>
        </p:nvSpPr>
        <p:spPr>
          <a:xfrm>
            <a:off x="-930168" y="6048718"/>
            <a:ext cx="252538" cy="247487"/>
          </a:xfrm>
          <a:prstGeom prst="rect">
            <a:avLst/>
          </a:prstGeom>
          <a:noFill/>
          <a:ln>
            <a:noFill/>
          </a:ln>
        </p:spPr>
      </p:sp>
      <p:sp>
        <p:nvSpPr>
          <p:cNvPr id="578" name="Google Shape;578;p32"/>
          <p:cNvSpPr txBox="1"/>
          <p:nvPr/>
        </p:nvSpPr>
        <p:spPr>
          <a:xfrm>
            <a:off x="4038600" y="6356347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Copyrights 2026 CE-UIT. All Rights Reserved.</a:t>
            </a:r>
            <a:endParaRPr b="0"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9" name="Google Shape;579;p32"/>
          <p:cNvGrpSpPr/>
          <p:nvPr/>
        </p:nvGrpSpPr>
        <p:grpSpPr>
          <a:xfrm>
            <a:off x="-4762" y="-6"/>
            <a:ext cx="12197919" cy="946406"/>
            <a:chOff x="-4762" y="-6"/>
            <a:chExt cx="12197919" cy="946406"/>
          </a:xfrm>
        </p:grpSpPr>
        <p:pic>
          <p:nvPicPr>
            <p:cNvPr id="580" name="Google Shape;580;p32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32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2" name="Google Shape;582;p32"/>
            <p:cNvGrpSpPr/>
            <p:nvPr/>
          </p:nvGrpSpPr>
          <p:grpSpPr>
            <a:xfrm>
              <a:off x="240281" y="141423"/>
              <a:ext cx="2916000" cy="338700"/>
              <a:chOff x="0" y="0"/>
              <a:chExt cx="2916000" cy="338700"/>
            </a:xfrm>
          </p:grpSpPr>
          <p:sp>
            <p:nvSpPr>
              <p:cNvPr id="583" name="Google Shape;583;p32"/>
              <p:cNvSpPr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32"/>
              <p:cNvSpPr txBox="1"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KHOA KỸ THUẬT MÁY TÍNH</a:t>
                </a:r>
                <a:endParaRPr b="1" i="0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5" name="Google Shape;585;p32"/>
            <p:cNvGrpSpPr/>
            <p:nvPr/>
          </p:nvGrpSpPr>
          <p:grpSpPr>
            <a:xfrm>
              <a:off x="4477007" y="263617"/>
              <a:ext cx="3238079" cy="682784"/>
              <a:chOff x="4276725" y="109041"/>
              <a:chExt cx="3638700" cy="767259"/>
            </a:xfrm>
          </p:grpSpPr>
          <p:pic>
            <p:nvPicPr>
              <p:cNvPr id="586" name="Google Shape;586;p32"/>
              <p:cNvPicPr preferRelativeResize="0"/>
              <p:nvPr/>
            </p:nvPicPr>
            <p:blipFill rotWithShape="1">
              <a:blip r:embed="rId5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7" name="Google Shape;587;p32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588" name="Google Shape;588;p32"/>
              <p:cNvPicPr preferRelativeResize="0"/>
              <p:nvPr/>
            </p:nvPicPr>
            <p:blipFill rotWithShape="1">
              <a:blip r:embed="rId6">
                <a:alphaModFix/>
              </a:blip>
              <a:srcRect b="-12260" l="0" r="-12372" t="90"/>
              <a:stretch/>
            </p:blipFill>
            <p:spPr>
              <a:xfrm>
                <a:off x="5604843" y="10904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" name="Google Shape;593;p33"/>
          <p:cNvGrpSpPr/>
          <p:nvPr/>
        </p:nvGrpSpPr>
        <p:grpSpPr>
          <a:xfrm>
            <a:off x="-4762" y="-6"/>
            <a:ext cx="12197919" cy="946409"/>
            <a:chOff x="-4762" y="-6"/>
            <a:chExt cx="12197919" cy="946409"/>
          </a:xfrm>
        </p:grpSpPr>
        <p:pic>
          <p:nvPicPr>
            <p:cNvPr id="594" name="Google Shape;594;p33"/>
            <p:cNvPicPr preferRelativeResize="0"/>
            <p:nvPr/>
          </p:nvPicPr>
          <p:blipFill rotWithShape="1">
            <a:blip r:embed="rId3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33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3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i="0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97" name="Google Shape;597;p33"/>
            <p:cNvGrpSpPr/>
            <p:nvPr/>
          </p:nvGrpSpPr>
          <p:grpSpPr>
            <a:xfrm>
              <a:off x="4477020" y="263617"/>
              <a:ext cx="3238090" cy="682786"/>
              <a:chOff x="4276725" y="109041"/>
              <a:chExt cx="3638700" cy="767259"/>
            </a:xfrm>
          </p:grpSpPr>
          <p:pic>
            <p:nvPicPr>
              <p:cNvPr id="598" name="Google Shape;598;p33"/>
              <p:cNvPicPr preferRelativeResize="0"/>
              <p:nvPr/>
            </p:nvPicPr>
            <p:blipFill rotWithShape="1">
              <a:blip r:embed="rId4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9" name="Google Shape;599;p33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600" name="Google Shape;600;p33"/>
              <p:cNvPicPr preferRelativeResize="0"/>
              <p:nvPr/>
            </p:nvPicPr>
            <p:blipFill rotWithShape="1">
              <a:blip r:embed="rId5">
                <a:alphaModFix/>
              </a:blip>
              <a:srcRect b="-12260" l="0" r="-12372" t="90"/>
              <a:stretch/>
            </p:blipFill>
            <p:spPr>
              <a:xfrm>
                <a:off x="5604843" y="10904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601" name="Google Shape;601;p33"/>
          <p:cNvSpPr txBox="1"/>
          <p:nvPr/>
        </p:nvSpPr>
        <p:spPr>
          <a:xfrm>
            <a:off x="381000" y="1000125"/>
            <a:ext cx="11430000" cy="8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 Strategy &amp; Testbench Framework</a:t>
            </a:r>
            <a:endParaRPr b="1" i="0" sz="28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02" name="Google Shape;602;p33"/>
          <p:cNvGrpSpPr/>
          <p:nvPr/>
        </p:nvGrpSpPr>
        <p:grpSpPr>
          <a:xfrm>
            <a:off x="381000" y="1762125"/>
            <a:ext cx="5572200" cy="1905000"/>
            <a:chOff x="0" y="0"/>
            <a:chExt cx="5572200" cy="1905000"/>
          </a:xfrm>
        </p:grpSpPr>
        <p:sp>
          <p:nvSpPr>
            <p:cNvPr id="603" name="Google Shape;603;p33"/>
            <p:cNvSpPr/>
            <p:nvPr/>
          </p:nvSpPr>
          <p:spPr>
            <a:xfrm>
              <a:off x="0" y="0"/>
              <a:ext cx="55722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3"/>
            <p:cNvSpPr/>
            <p:nvPr/>
          </p:nvSpPr>
          <p:spPr>
            <a:xfrm>
              <a:off x="0" y="0"/>
              <a:ext cx="152400" cy="1905000"/>
            </a:xfrm>
            <a:custGeom>
              <a:rect b="b" l="l" r="r" t="t"/>
              <a:pathLst>
                <a:path extrusionOk="0" h="120000" w="120000">
                  <a:moveTo>
                    <a:pt x="0" y="7200"/>
                  </a:moveTo>
                  <a:cubicBezTo>
                    <a:pt x="0" y="3224"/>
                    <a:pt x="40295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40295" y="120000"/>
                    <a:pt x="0" y="116776"/>
                    <a:pt x="0" y="112800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3"/>
            <p:cNvSpPr/>
            <p:nvPr/>
          </p:nvSpPr>
          <p:spPr>
            <a:xfrm>
              <a:off x="295275" y="723900"/>
              <a:ext cx="457200" cy="4572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3"/>
            <p:cNvSpPr/>
            <p:nvPr/>
          </p:nvSpPr>
          <p:spPr>
            <a:xfrm>
              <a:off x="333375" y="762000"/>
              <a:ext cx="381000" cy="381000"/>
            </a:xfrm>
            <a:prstGeom prst="ellipse">
              <a:avLst/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3"/>
            <p:cNvSpPr txBox="1"/>
            <p:nvPr/>
          </p:nvSpPr>
          <p:spPr>
            <a:xfrm>
              <a:off x="295275" y="7239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33"/>
            <p:cNvSpPr txBox="1"/>
            <p:nvPr/>
          </p:nvSpPr>
          <p:spPr>
            <a:xfrm>
              <a:off x="904875" y="142875"/>
              <a:ext cx="4476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Register Bank Verification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Targeting modular verification of byte-enables and invalid addresses with 80 random iterations per testbench.</a:t>
              </a:r>
              <a:endParaRPr b="0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09" name="Google Shape;609;p33"/>
          <p:cNvGrpSpPr/>
          <p:nvPr/>
        </p:nvGrpSpPr>
        <p:grpSpPr>
          <a:xfrm>
            <a:off x="6238875" y="1762125"/>
            <a:ext cx="5572200" cy="1905000"/>
            <a:chOff x="0" y="0"/>
            <a:chExt cx="5572200" cy="1905000"/>
          </a:xfrm>
        </p:grpSpPr>
        <p:sp>
          <p:nvSpPr>
            <p:cNvPr id="610" name="Google Shape;610;p33"/>
            <p:cNvSpPr/>
            <p:nvPr/>
          </p:nvSpPr>
          <p:spPr>
            <a:xfrm>
              <a:off x="0" y="0"/>
              <a:ext cx="55722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3"/>
            <p:cNvSpPr/>
            <p:nvPr/>
          </p:nvSpPr>
          <p:spPr>
            <a:xfrm>
              <a:off x="0" y="0"/>
              <a:ext cx="152400" cy="1905000"/>
            </a:xfrm>
            <a:custGeom>
              <a:rect b="b" l="l" r="r" t="t"/>
              <a:pathLst>
                <a:path extrusionOk="0" h="120000" w="120000">
                  <a:moveTo>
                    <a:pt x="0" y="7200"/>
                  </a:moveTo>
                  <a:cubicBezTo>
                    <a:pt x="0" y="3224"/>
                    <a:pt x="40295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40295" y="120000"/>
                    <a:pt x="0" y="116776"/>
                    <a:pt x="0" y="112800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3"/>
            <p:cNvSpPr/>
            <p:nvPr/>
          </p:nvSpPr>
          <p:spPr>
            <a:xfrm>
              <a:off x="295275" y="723900"/>
              <a:ext cx="457200" cy="4572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3"/>
            <p:cNvSpPr/>
            <p:nvPr/>
          </p:nvSpPr>
          <p:spPr>
            <a:xfrm>
              <a:off x="333375" y="762000"/>
              <a:ext cx="381000" cy="381000"/>
            </a:xfrm>
            <a:prstGeom prst="ellipse">
              <a:avLst/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3"/>
            <p:cNvSpPr txBox="1"/>
            <p:nvPr/>
          </p:nvSpPr>
          <p:spPr>
            <a:xfrm>
              <a:off x="295275" y="7239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33"/>
            <p:cNvSpPr txBox="1"/>
            <p:nvPr/>
          </p:nvSpPr>
          <p:spPr>
            <a:xfrm>
              <a:off x="904875" y="142875"/>
              <a:ext cx="4476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AXI Slave Verification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Focusing on handshake alignment and stalls. Verified modularly with 80 random iterations per testbench.</a:t>
              </a:r>
              <a:endParaRPr b="0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16" name="Google Shape;616;p33"/>
          <p:cNvGrpSpPr/>
          <p:nvPr/>
        </p:nvGrpSpPr>
        <p:grpSpPr>
          <a:xfrm>
            <a:off x="381000" y="3905250"/>
            <a:ext cx="5572200" cy="1905000"/>
            <a:chOff x="0" y="0"/>
            <a:chExt cx="5572200" cy="1905000"/>
          </a:xfrm>
        </p:grpSpPr>
        <p:sp>
          <p:nvSpPr>
            <p:cNvPr id="617" name="Google Shape;617;p33"/>
            <p:cNvSpPr/>
            <p:nvPr/>
          </p:nvSpPr>
          <p:spPr>
            <a:xfrm>
              <a:off x="0" y="0"/>
              <a:ext cx="55722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33"/>
            <p:cNvSpPr/>
            <p:nvPr/>
          </p:nvSpPr>
          <p:spPr>
            <a:xfrm>
              <a:off x="0" y="0"/>
              <a:ext cx="152400" cy="1905000"/>
            </a:xfrm>
            <a:custGeom>
              <a:rect b="b" l="l" r="r" t="t"/>
              <a:pathLst>
                <a:path extrusionOk="0" h="120000" w="120000">
                  <a:moveTo>
                    <a:pt x="0" y="7200"/>
                  </a:moveTo>
                  <a:cubicBezTo>
                    <a:pt x="0" y="3224"/>
                    <a:pt x="40295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40295" y="120000"/>
                    <a:pt x="0" y="116776"/>
                    <a:pt x="0" y="112800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3"/>
            <p:cNvSpPr/>
            <p:nvPr/>
          </p:nvSpPr>
          <p:spPr>
            <a:xfrm>
              <a:off x="295275" y="723900"/>
              <a:ext cx="457200" cy="4572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3"/>
            <p:cNvSpPr/>
            <p:nvPr/>
          </p:nvSpPr>
          <p:spPr>
            <a:xfrm>
              <a:off x="333375" y="762000"/>
              <a:ext cx="381000" cy="381000"/>
            </a:xfrm>
            <a:prstGeom prst="ellipse">
              <a:avLst/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3"/>
            <p:cNvSpPr txBox="1"/>
            <p:nvPr/>
          </p:nvSpPr>
          <p:spPr>
            <a:xfrm>
              <a:off x="295275" y="7239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33"/>
            <p:cNvSpPr txBox="1"/>
            <p:nvPr/>
          </p:nvSpPr>
          <p:spPr>
            <a:xfrm>
              <a:off x="904875" y="142875"/>
              <a:ext cx="4476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Bridge Verification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Targeting correct Avalon request translation. Driven by 80 random iterations per modular testbench.</a:t>
              </a:r>
              <a:endParaRPr b="0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23" name="Google Shape;623;p33"/>
          <p:cNvGrpSpPr/>
          <p:nvPr/>
        </p:nvGrpSpPr>
        <p:grpSpPr>
          <a:xfrm>
            <a:off x="6238875" y="3905250"/>
            <a:ext cx="5572200" cy="1905000"/>
            <a:chOff x="0" y="0"/>
            <a:chExt cx="5572200" cy="1905000"/>
          </a:xfrm>
        </p:grpSpPr>
        <p:sp>
          <p:nvSpPr>
            <p:cNvPr id="624" name="Google Shape;624;p33"/>
            <p:cNvSpPr/>
            <p:nvPr/>
          </p:nvSpPr>
          <p:spPr>
            <a:xfrm>
              <a:off x="0" y="0"/>
              <a:ext cx="55722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3"/>
            <p:cNvSpPr/>
            <p:nvPr/>
          </p:nvSpPr>
          <p:spPr>
            <a:xfrm>
              <a:off x="0" y="0"/>
              <a:ext cx="152400" cy="1905000"/>
            </a:xfrm>
            <a:custGeom>
              <a:rect b="b" l="l" r="r" t="t"/>
              <a:pathLst>
                <a:path extrusionOk="0" h="120000" w="120000">
                  <a:moveTo>
                    <a:pt x="0" y="7200"/>
                  </a:moveTo>
                  <a:cubicBezTo>
                    <a:pt x="0" y="3224"/>
                    <a:pt x="40295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40295" y="120000"/>
                    <a:pt x="0" y="116776"/>
                    <a:pt x="0" y="112800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3"/>
            <p:cNvSpPr/>
            <p:nvPr/>
          </p:nvSpPr>
          <p:spPr>
            <a:xfrm>
              <a:off x="295275" y="723900"/>
              <a:ext cx="457200" cy="4572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3"/>
            <p:cNvSpPr/>
            <p:nvPr/>
          </p:nvSpPr>
          <p:spPr>
            <a:xfrm>
              <a:off x="333375" y="762000"/>
              <a:ext cx="381000" cy="381000"/>
            </a:xfrm>
            <a:prstGeom prst="ellipse">
              <a:avLst/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3"/>
            <p:cNvSpPr txBox="1"/>
            <p:nvPr/>
          </p:nvSpPr>
          <p:spPr>
            <a:xfrm>
              <a:off x="295275" y="7239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29" name="Google Shape;629;p33"/>
            <p:cNvGrpSpPr/>
            <p:nvPr/>
          </p:nvGrpSpPr>
          <p:grpSpPr>
            <a:xfrm>
              <a:off x="904875" y="142875"/>
              <a:ext cx="4476900" cy="1619100"/>
              <a:chOff x="0" y="0"/>
              <a:chExt cx="4476900" cy="1619100"/>
            </a:xfrm>
          </p:grpSpPr>
          <p:sp>
            <p:nvSpPr>
              <p:cNvPr id="630" name="Google Shape;630;p33"/>
              <p:cNvSpPr txBox="1"/>
              <p:nvPr/>
            </p:nvSpPr>
            <p:spPr>
              <a:xfrm>
                <a:off x="0" y="0"/>
                <a:ext cx="12384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6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240</a:t>
                </a:r>
                <a:endParaRPr b="1" sz="4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Transactions</a:t>
                </a:r>
                <a:endParaRPr b="1" sz="10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33"/>
              <p:cNvSpPr txBox="1"/>
              <p:nvPr/>
            </p:nvSpPr>
            <p:spPr>
              <a:xfrm>
                <a:off x="1333500" y="0"/>
                <a:ext cx="31434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8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Total Scale &amp; Strategy</a:t>
                </a:r>
                <a:endParaRPr b="1" sz="18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Self-checking testbenches use custom </a:t>
                </a:r>
                <a:r>
                  <a:rPr b="0" lang="en" sz="1100">
                    <a:solidFill>
                      <a:srgbClr val="05624A"/>
                    </a:solidFill>
                    <a:highlight>
                      <a:srgbClr val="E6F4F0"/>
                    </a:highlight>
                    <a:latin typeface="Arial"/>
                    <a:ea typeface="Arial"/>
                    <a:cs typeface="Arial"/>
                    <a:sym typeface="Arial"/>
                  </a:rPr>
                  <a:t>check()</a:t>
                </a:r>
                <a:r>
                  <a:rPr b="0" lang="en" sz="13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tasks for PASS/FAIL logging. Stimulus combines directed cases and random patterns.</a:t>
                </a:r>
                <a:endParaRPr b="0" sz="13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632" name="Google Shape;632;p33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633" name="Google Shape;633;p33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34" name="Google Shape;634;p33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635" name="Google Shape;635;p33"/>
              <p:cNvPicPr preferRelativeResize="0"/>
              <p:nvPr/>
            </p:nvPicPr>
            <p:blipFill rotWithShape="1">
              <a:blip r:embed="rId6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36" name="Google Shape;636;p33"/>
              <p:cNvPicPr preferRelativeResize="0"/>
              <p:nvPr/>
            </p:nvPicPr>
            <p:blipFill rotWithShape="1">
              <a:blip r:embed="rId7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37" name="Google Shape;637;p33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2" name="Google Shape;642;p34"/>
          <p:cNvGrpSpPr/>
          <p:nvPr/>
        </p:nvGrpSpPr>
        <p:grpSpPr>
          <a:xfrm>
            <a:off x="-4762" y="-6"/>
            <a:ext cx="12199163" cy="6886881"/>
            <a:chOff x="-4762" y="-6"/>
            <a:chExt cx="12199163" cy="6886881"/>
          </a:xfrm>
        </p:grpSpPr>
        <p:sp>
          <p:nvSpPr>
            <p:cNvPr id="643" name="Google Shape;643;p3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4" name="Google Shape;644;p34"/>
            <p:cNvGrpSpPr/>
            <p:nvPr/>
          </p:nvGrpSpPr>
          <p:grpSpPr>
            <a:xfrm>
              <a:off x="-4762" y="-6"/>
              <a:ext cx="12197919" cy="891792"/>
              <a:chOff x="-4762" y="-6"/>
              <a:chExt cx="12197919" cy="891792"/>
            </a:xfrm>
          </p:grpSpPr>
          <p:pic>
            <p:nvPicPr>
              <p:cNvPr id="645" name="Google Shape;645;p34"/>
              <p:cNvPicPr preferRelativeResize="0"/>
              <p:nvPr/>
            </p:nvPicPr>
            <p:blipFill rotWithShape="1">
              <a:blip r:embed="rId3">
                <a:alphaModFix/>
              </a:blip>
              <a:srcRect b="10" l="0" r="0" t="10"/>
              <a:stretch/>
            </p:blipFill>
            <p:spPr>
              <a:xfrm>
                <a:off x="-4762" y="0"/>
                <a:ext cx="12196800" cy="633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6" name="Google Shape;646;p34"/>
              <p:cNvSpPr/>
              <p:nvPr/>
            </p:nvSpPr>
            <p:spPr>
              <a:xfrm flipH="1" rot="-5400000">
                <a:off x="5780206" y="-5781456"/>
                <a:ext cx="631500" cy="12194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" name="Google Shape;647;p34"/>
              <p:cNvSpPr txBox="1"/>
              <p:nvPr/>
            </p:nvSpPr>
            <p:spPr>
              <a:xfrm>
                <a:off x="240281" y="141423"/>
                <a:ext cx="29160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KHOA KỸ THUẬT MÁY TÍNH</a:t>
                </a:r>
                <a:endParaRPr b="1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48" name="Google Shape;648;p34"/>
              <p:cNvGrpSpPr/>
              <p:nvPr/>
            </p:nvGrpSpPr>
            <p:grpSpPr>
              <a:xfrm>
                <a:off x="4477020" y="263617"/>
                <a:ext cx="3176567" cy="628170"/>
                <a:chOff x="4276725" y="109041"/>
                <a:chExt cx="3569566" cy="705886"/>
              </a:xfrm>
            </p:grpSpPr>
            <p:pic>
              <p:nvPicPr>
                <p:cNvPr id="649" name="Google Shape;649;p34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4276725" y="152400"/>
                  <a:ext cx="3238200" cy="6441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50" name="Google Shape;650;p34"/>
                <p:cNvSpPr/>
                <p:nvPr/>
              </p:nvSpPr>
              <p:spPr>
                <a:xfrm>
                  <a:off x="4345591" y="214327"/>
                  <a:ext cx="3500700" cy="600600"/>
                </a:xfrm>
                <a:prstGeom prst="roundRect">
                  <a:avLst>
                    <a:gd fmla="val 39596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651" name="Google Shape;651;p34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-80" l="0" r="10" t="80"/>
                <a:stretch/>
              </p:blipFill>
              <p:spPr>
                <a:xfrm>
                  <a:off x="5604843" y="109041"/>
                  <a:ext cx="775800" cy="6426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652" name="Google Shape;652;p34"/>
            <p:cNvGrpSpPr/>
            <p:nvPr/>
          </p:nvGrpSpPr>
          <p:grpSpPr>
            <a:xfrm>
              <a:off x="0" y="1425"/>
              <a:ext cx="12194400" cy="6885450"/>
              <a:chOff x="0" y="1425"/>
              <a:chExt cx="12194400" cy="6885450"/>
            </a:xfrm>
          </p:grpSpPr>
          <p:sp>
            <p:nvSpPr>
              <p:cNvPr id="653" name="Google Shape;653;p34"/>
              <p:cNvSpPr/>
              <p:nvPr/>
            </p:nvSpPr>
            <p:spPr>
              <a:xfrm>
                <a:off x="0" y="1425"/>
                <a:ext cx="12194400" cy="6863700"/>
              </a:xfrm>
              <a:custGeom>
                <a:rect b="b" l="l" r="r" t="t"/>
                <a:pathLst>
                  <a:path extrusionOk="0" h="120000" w="120000">
                    <a:moveTo>
                      <a:pt x="0" y="115362"/>
                    </a:moveTo>
                    <a:cubicBezTo>
                      <a:pt x="0" y="117896"/>
                      <a:pt x="1156" y="119951"/>
                      <a:pt x="2583" y="119951"/>
                    </a:cubicBezTo>
                    <a:lnTo>
                      <a:pt x="117419" y="119951"/>
                    </a:lnTo>
                    <a:cubicBezTo>
                      <a:pt x="118843" y="119951"/>
                      <a:pt x="120000" y="117896"/>
                      <a:pt x="120000" y="115362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4638"/>
                    </a:lnTo>
                    <a:cubicBezTo>
                      <a:pt x="120000" y="2104"/>
                      <a:pt x="118843" y="49"/>
                      <a:pt x="117419" y="49"/>
                    </a:cubicBezTo>
                    <a:lnTo>
                      <a:pt x="2583" y="49"/>
                    </a:lnTo>
                    <a:cubicBezTo>
                      <a:pt x="1156" y="49"/>
                      <a:pt x="0" y="2104"/>
                      <a:pt x="0" y="463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54" name="Google Shape;654;p34"/>
              <p:cNvGrpSpPr/>
              <p:nvPr/>
            </p:nvGrpSpPr>
            <p:grpSpPr>
              <a:xfrm>
                <a:off x="11503192" y="6266643"/>
                <a:ext cx="614845" cy="620233"/>
                <a:chOff x="11077575" y="194161"/>
                <a:chExt cx="547800" cy="552600"/>
              </a:xfrm>
            </p:grpSpPr>
            <p:pic>
              <p:nvPicPr>
                <p:cNvPr id="655" name="Google Shape;655;p34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10" l="0" r="0" t="0"/>
                <a:stretch/>
              </p:blipFill>
              <p:spPr>
                <a:xfrm>
                  <a:off x="11077575" y="194161"/>
                  <a:ext cx="547800" cy="5526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56" name="Google Shape;656;p34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60" l="0" r="0" t="60"/>
                <a:stretch/>
              </p:blipFill>
              <p:spPr>
                <a:xfrm>
                  <a:off x="11209115" y="329943"/>
                  <a:ext cx="252600" cy="2475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657" name="Google Shape;657;p34"/>
              <p:cNvSpPr txBox="1"/>
              <p:nvPr/>
            </p:nvSpPr>
            <p:spPr>
              <a:xfrm>
                <a:off x="4038600" y="6356347"/>
                <a:ext cx="4114800" cy="3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00" spcFirstLastPara="1" rIns="914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Copyrights 2026 CE-UIT. All Rights Reserved.</a:t>
                </a:r>
                <a:endParaRPr b="0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58" name="Google Shape;658;p34"/>
          <p:cNvSpPr txBox="1"/>
          <p:nvPr/>
        </p:nvSpPr>
        <p:spPr>
          <a:xfrm>
            <a:off x="476250" y="904875"/>
            <a:ext cx="11239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Verification Scenarios of Register Bank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59" name="Google Shape;659;p34"/>
          <p:cNvGrpSpPr/>
          <p:nvPr/>
        </p:nvGrpSpPr>
        <p:grpSpPr>
          <a:xfrm>
            <a:off x="809625" y="2047875"/>
            <a:ext cx="4810200" cy="2990850"/>
            <a:chOff x="285750" y="285750"/>
            <a:chExt cx="4810200" cy="2990850"/>
          </a:xfrm>
        </p:grpSpPr>
        <p:sp>
          <p:nvSpPr>
            <p:cNvPr id="660" name="Google Shape;660;p34"/>
            <p:cNvSpPr txBox="1"/>
            <p:nvPr/>
          </p:nvSpPr>
          <p:spPr>
            <a:xfrm>
              <a:off x="285750" y="285750"/>
              <a:ext cx="4810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Data-Oriented Verification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661" name="Google Shape;661;p34"/>
            <p:cNvGrpSpPr/>
            <p:nvPr/>
          </p:nvGrpSpPr>
          <p:grpSpPr>
            <a:xfrm>
              <a:off x="333375" y="809625"/>
              <a:ext cx="4762500" cy="571500"/>
              <a:chOff x="333375" y="0"/>
              <a:chExt cx="4762500" cy="571500"/>
            </a:xfrm>
          </p:grpSpPr>
          <p:sp>
            <p:nvSpPr>
              <p:cNvPr id="662" name="Google Shape;662;p34"/>
              <p:cNvSpPr/>
              <p:nvPr/>
            </p:nvSpPr>
            <p:spPr>
              <a:xfrm>
                <a:off x="333375" y="114300"/>
                <a:ext cx="114300" cy="114300"/>
              </a:xfrm>
              <a:prstGeom prst="ellipse">
                <a:avLst/>
              </a:pr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34"/>
              <p:cNvSpPr txBox="1"/>
              <p:nvPr/>
            </p:nvSpPr>
            <p:spPr>
              <a:xfrm>
                <a:off x="523875" y="0"/>
                <a:ext cx="4572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664" name="Google Shape;664;p34"/>
            <p:cNvSpPr/>
            <p:nvPr/>
          </p:nvSpPr>
          <p:spPr>
            <a:xfrm>
              <a:off x="333375" y="1590675"/>
              <a:ext cx="114300" cy="1143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34"/>
            <p:cNvSpPr/>
            <p:nvPr/>
          </p:nvSpPr>
          <p:spPr>
            <a:xfrm>
              <a:off x="333375" y="2257425"/>
              <a:ext cx="114300" cy="1143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34"/>
            <p:cNvSpPr/>
            <p:nvPr/>
          </p:nvSpPr>
          <p:spPr>
            <a:xfrm>
              <a:off x="333375" y="3162300"/>
              <a:ext cx="114300" cy="1143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7" name="Google Shape;667;p34"/>
          <p:cNvGrpSpPr/>
          <p:nvPr/>
        </p:nvGrpSpPr>
        <p:grpSpPr>
          <a:xfrm>
            <a:off x="6286500" y="1762125"/>
            <a:ext cx="5381700" cy="3952800"/>
            <a:chOff x="0" y="0"/>
            <a:chExt cx="5381700" cy="3952800"/>
          </a:xfrm>
        </p:grpSpPr>
        <p:sp>
          <p:nvSpPr>
            <p:cNvPr id="668" name="Google Shape;668;p34"/>
            <p:cNvSpPr/>
            <p:nvPr/>
          </p:nvSpPr>
          <p:spPr>
            <a:xfrm>
              <a:off x="0" y="0"/>
              <a:ext cx="5381700" cy="3952800"/>
            </a:xfrm>
            <a:prstGeom prst="roundRect">
              <a:avLst>
                <a:gd fmla="val 1927" name="adj"/>
              </a:avLst>
            </a:prstGeom>
            <a:solidFill>
              <a:srgbClr val="FFFFFF"/>
            </a:solidFill>
            <a:ln cap="flat" cmpd="sng" w="253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34"/>
            <p:cNvSpPr txBox="1"/>
            <p:nvPr/>
          </p:nvSpPr>
          <p:spPr>
            <a:xfrm>
              <a:off x="285750" y="285750"/>
              <a:ext cx="4810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Protocol-Oriented Control Flows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0" name="Google Shape;670;p34"/>
            <p:cNvSpPr/>
            <p:nvPr/>
          </p:nvSpPr>
          <p:spPr>
            <a:xfrm>
              <a:off x="333375" y="923925"/>
              <a:ext cx="114300" cy="1143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71" name="Google Shape;671;p34"/>
            <p:cNvGrpSpPr/>
            <p:nvPr/>
          </p:nvGrpSpPr>
          <p:grpSpPr>
            <a:xfrm>
              <a:off x="333375" y="1476375"/>
              <a:ext cx="4762500" cy="571500"/>
              <a:chOff x="333375" y="0"/>
              <a:chExt cx="4762500" cy="571500"/>
            </a:xfrm>
          </p:grpSpPr>
          <p:sp>
            <p:nvSpPr>
              <p:cNvPr id="672" name="Google Shape;672;p34"/>
              <p:cNvSpPr/>
              <p:nvPr/>
            </p:nvSpPr>
            <p:spPr>
              <a:xfrm>
                <a:off x="333375" y="114300"/>
                <a:ext cx="114300" cy="114300"/>
              </a:xfrm>
              <a:prstGeom prst="ellipse">
                <a:avLst/>
              </a:pr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34"/>
              <p:cNvSpPr txBox="1"/>
              <p:nvPr/>
            </p:nvSpPr>
            <p:spPr>
              <a:xfrm>
                <a:off x="523875" y="0"/>
                <a:ext cx="4572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State Rejection: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Confirm busy state rejection of unexpected inputs.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74" name="Google Shape;674;p34"/>
            <p:cNvGrpSpPr/>
            <p:nvPr/>
          </p:nvGrpSpPr>
          <p:grpSpPr>
            <a:xfrm>
              <a:off x="333375" y="2143125"/>
              <a:ext cx="4762500" cy="762000"/>
              <a:chOff x="333375" y="0"/>
              <a:chExt cx="4762500" cy="762000"/>
            </a:xfrm>
          </p:grpSpPr>
          <p:sp>
            <p:nvSpPr>
              <p:cNvPr id="675" name="Google Shape;675;p34"/>
              <p:cNvSpPr/>
              <p:nvPr/>
            </p:nvSpPr>
            <p:spPr>
              <a:xfrm>
                <a:off x="333375" y="114300"/>
                <a:ext cx="114300" cy="114300"/>
              </a:xfrm>
              <a:prstGeom prst="ellipse">
                <a:avLst/>
              </a:pr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34"/>
              <p:cNvSpPr txBox="1"/>
              <p:nvPr/>
            </p:nvSpPr>
            <p:spPr>
              <a:xfrm>
                <a:off x="523875" y="0"/>
                <a:ext cx="4572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STATUS Done: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Verify STATUS done states transition and assert correctly.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677" name="Google Shape;677;p34"/>
            <p:cNvGrpSpPr/>
            <p:nvPr/>
          </p:nvGrpSpPr>
          <p:grpSpPr>
            <a:xfrm>
              <a:off x="333375" y="3048000"/>
              <a:ext cx="4762500" cy="571500"/>
              <a:chOff x="333375" y="0"/>
              <a:chExt cx="4762500" cy="571500"/>
            </a:xfrm>
          </p:grpSpPr>
          <p:sp>
            <p:nvSpPr>
              <p:cNvPr id="678" name="Google Shape;678;p34"/>
              <p:cNvSpPr/>
              <p:nvPr/>
            </p:nvSpPr>
            <p:spPr>
              <a:xfrm>
                <a:off x="333375" y="114300"/>
                <a:ext cx="114300" cy="114300"/>
              </a:xfrm>
              <a:prstGeom prst="ellipse">
                <a:avLst/>
              </a:pr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34"/>
              <p:cNvSpPr txBox="1"/>
              <p:nvPr/>
            </p:nvSpPr>
            <p:spPr>
              <a:xfrm>
                <a:off x="523875" y="0"/>
                <a:ext cx="4572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Address Limits: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Verify invalid address boundaries return 0 on read.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680" name="Google Shape;680;p34"/>
          <p:cNvSpPr txBox="1"/>
          <p:nvPr/>
        </p:nvSpPr>
        <p:spPr>
          <a:xfrm>
            <a:off x="1134363" y="2571750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Reset Defaults:</a:t>
            </a:r>
            <a:r>
              <a:rPr b="0" lang="en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Core directed tests verify that operand, status, and result registers default to 0 on reset.</a:t>
            </a:r>
            <a:endParaRPr b="0" sz="15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1" name="Google Shape;681;p34"/>
          <p:cNvSpPr txBox="1"/>
          <p:nvPr/>
        </p:nvSpPr>
        <p:spPr>
          <a:xfrm>
            <a:off x="1134375" y="3325100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32-Bit Access:</a:t>
            </a:r>
            <a:r>
              <a:rPr b="0" lang="en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Tests confirm full 32-bit reads/writes on Operands A (Adress 08)  and B (Adress 0C).</a:t>
            </a:r>
            <a:endParaRPr b="0" sz="15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2" name="Google Shape;682;p34"/>
          <p:cNvSpPr txBox="1"/>
          <p:nvPr/>
        </p:nvSpPr>
        <p:spPr>
          <a:xfrm>
            <a:off x="1177575" y="4024325"/>
            <a:ext cx="4485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Byte-Enables:</a:t>
            </a:r>
            <a:r>
              <a:rPr b="0" lang="en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Writing 0xAAAA5555 to 0x11223344 with strobe 4'b0101 (5 in dec)  yields 0x11AA3355.</a:t>
            </a:r>
            <a:endParaRPr b="0" sz="15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3" name="Google Shape;683;p34"/>
          <p:cNvSpPr txBox="1"/>
          <p:nvPr/>
        </p:nvSpPr>
        <p:spPr>
          <a:xfrm>
            <a:off x="1177575" y="4885875"/>
            <a:ext cx="4442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Opcode Masking: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Verify that writes to the OPCODE register keep only </a:t>
            </a:r>
            <a:r>
              <a:rPr lang="en" sz="15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wr_data[3:0]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For example, writing </a:t>
            </a:r>
            <a:r>
              <a:rPr lang="en" sz="15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0xFFFF_FF03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lang="en" sz="15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wr_strb=4'b1111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must read back </a:t>
            </a:r>
            <a:r>
              <a:rPr lang="en" sz="15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0x00000003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9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4" name="Google Shape;684;p34"/>
          <p:cNvSpPr txBox="1"/>
          <p:nvPr/>
        </p:nvSpPr>
        <p:spPr>
          <a:xfrm>
            <a:off x="6852350" y="2571750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Timing Control:</a:t>
            </a:r>
            <a:r>
              <a:rPr lang="en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</a:t>
            </a: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CTRL.START=1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</a:t>
            </a: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start_pulse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asserted for exactly 1 clock cycle; </a:t>
            </a: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STATUS.BUSY=1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" sz="2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5"/>
          <p:cNvSpPr txBox="1"/>
          <p:nvPr/>
        </p:nvSpPr>
        <p:spPr>
          <a:xfrm>
            <a:off x="0" y="-43300"/>
            <a:ext cx="11239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Verification Scenarios of RegisterBank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0" name="Google Shape;690;p35"/>
          <p:cNvSpPr txBox="1"/>
          <p:nvPr/>
        </p:nvSpPr>
        <p:spPr>
          <a:xfrm>
            <a:off x="257638" y="4812275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Reset Defaults:</a:t>
            </a:r>
            <a:r>
              <a:rPr b="0" lang="en" sz="1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Core directed tests verify that operand, status, and result registers default to 0 on reset.</a:t>
            </a:r>
            <a:endParaRPr b="0" sz="18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1" name="Google Shape;69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63" y="500063"/>
            <a:ext cx="5133975" cy="414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8638" y="565025"/>
            <a:ext cx="6679162" cy="2908766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35"/>
          <p:cNvSpPr txBox="1"/>
          <p:nvPr/>
        </p:nvSpPr>
        <p:spPr>
          <a:xfrm>
            <a:off x="6522225" y="3649800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32-Bit Access:</a:t>
            </a:r>
            <a:r>
              <a:rPr b="0" lang="en" sz="1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Tests confirm full 32-bit reads/writes on Operands A (Adress 08)  and B (Adress 0C).</a:t>
            </a:r>
            <a:endParaRPr b="0" sz="18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6"/>
          <p:cNvSpPr txBox="1"/>
          <p:nvPr/>
        </p:nvSpPr>
        <p:spPr>
          <a:xfrm>
            <a:off x="0" y="-43300"/>
            <a:ext cx="11239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Verification Scenarios of RegisterBank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9" name="Google Shape;69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00" y="408000"/>
            <a:ext cx="9172575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36"/>
          <p:cNvSpPr txBox="1"/>
          <p:nvPr/>
        </p:nvSpPr>
        <p:spPr>
          <a:xfrm>
            <a:off x="9422350" y="766300"/>
            <a:ext cx="25650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Byte-Enables:</a:t>
            </a:r>
            <a:r>
              <a:rPr b="0" lang="en" sz="1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Writing 0xAAAA5555 to 0x11223344 with strobe 4'b0101 (5 in dec)  yields 0x11AA3355.</a:t>
            </a:r>
            <a:endParaRPr b="0" sz="18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01" name="Google Shape;70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522675"/>
            <a:ext cx="7620000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36"/>
          <p:cNvSpPr txBox="1"/>
          <p:nvPr/>
        </p:nvSpPr>
        <p:spPr>
          <a:xfrm>
            <a:off x="8036900" y="4366325"/>
            <a:ext cx="3734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Opcode Masking: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Verify that writes to the OPCODE register keep only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wr_data[3:0]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writing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0xFFFF_FF03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wr_strb=4'b1111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must read back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0x00000003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225" y="433825"/>
            <a:ext cx="445770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37"/>
          <p:cNvSpPr txBox="1"/>
          <p:nvPr/>
        </p:nvSpPr>
        <p:spPr>
          <a:xfrm>
            <a:off x="0" y="-43300"/>
            <a:ext cx="11239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Verification Scenarios of RegisterBank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9" name="Google Shape;709;p37"/>
          <p:cNvSpPr txBox="1"/>
          <p:nvPr/>
        </p:nvSpPr>
        <p:spPr>
          <a:xfrm>
            <a:off x="5066425" y="1045575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Timing Control:</a:t>
            </a:r>
            <a:r>
              <a:rPr lang="en" sz="1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Pulse Timing:</a:t>
            </a: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Write </a:t>
            </a:r>
            <a:r>
              <a:rPr lang="en" sz="19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CTRL.START=1</a:t>
            </a: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</a:t>
            </a:r>
            <a:r>
              <a:rPr lang="en" sz="19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start_pulse</a:t>
            </a: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asserted for exactly 1 clock cycle; </a:t>
            </a:r>
            <a:r>
              <a:rPr lang="en" sz="19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STATUS.BUSY=1</a:t>
            </a: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" sz="2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3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0" name="Google Shape;71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350" y="3598700"/>
            <a:ext cx="7947339" cy="272805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37"/>
          <p:cNvSpPr txBox="1"/>
          <p:nvPr/>
        </p:nvSpPr>
        <p:spPr>
          <a:xfrm>
            <a:off x="8283775" y="3027200"/>
            <a:ext cx="3779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Rejection:</a:t>
            </a:r>
            <a:r>
              <a:rPr b="0" lang="en"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Confirm busy state rejection of unexpected inputs.</a:t>
            </a:r>
            <a:endParaRPr b="0" sz="17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ts val="1750"/>
              <a:buFont typeface="Times New Roman"/>
              <a:buChar char="-"/>
            </a:pPr>
            <a:r>
              <a:rPr b="1" lang="en" sz="1750">
                <a:latin typeface="Times New Roman"/>
                <a:ea typeface="Times New Roman"/>
                <a:cs typeface="Times New Roman"/>
                <a:sym typeface="Times New Roman"/>
              </a:rPr>
              <a:t>0.145 us</a:t>
            </a:r>
            <a:r>
              <a:rPr lang="en" sz="1750">
                <a:latin typeface="Times New Roman"/>
                <a:ea typeface="Times New Roman"/>
                <a:cs typeface="Times New Roman"/>
                <a:sym typeface="Times New Roman"/>
              </a:rPr>
              <a:t>: The first start command is accepted; start_pulse = 1 and STATUS = 0x1.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ts val="1750"/>
              <a:buFont typeface="Times New Roman"/>
              <a:buChar char="-"/>
            </a:pPr>
            <a:r>
              <a:rPr b="1" lang="en" sz="1750">
                <a:latin typeface="Times New Roman"/>
                <a:ea typeface="Times New Roman"/>
                <a:cs typeface="Times New Roman"/>
                <a:sym typeface="Times New Roman"/>
              </a:rPr>
              <a:t>0.155 us</a:t>
            </a:r>
            <a:r>
              <a:rPr lang="en" sz="1750">
                <a:latin typeface="Times New Roman"/>
                <a:ea typeface="Times New Roman"/>
                <a:cs typeface="Times New Roman"/>
                <a:sym typeface="Times New Roman"/>
              </a:rPr>
              <a:t>: start_pulse is cleared to 0, while STATUS remains 0x1.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ts val="1750"/>
              <a:buFont typeface="Times New Roman"/>
              <a:buChar char="-"/>
            </a:pPr>
            <a:r>
              <a:rPr b="1" lang="en" sz="1750">
                <a:latin typeface="Times New Roman"/>
                <a:ea typeface="Times New Roman"/>
                <a:cs typeface="Times New Roman"/>
                <a:sym typeface="Times New Roman"/>
              </a:rPr>
              <a:t>0.160-0.170 us:</a:t>
            </a:r>
            <a:r>
              <a:rPr lang="en" sz="1750">
                <a:latin typeface="Times New Roman"/>
                <a:ea typeface="Times New Roman"/>
                <a:cs typeface="Times New Roman"/>
                <a:sym typeface="Times New Roman"/>
              </a:rPr>
              <a:t> A second CTRL = 1 write is issued while the register bank is busy.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ts val="1750"/>
              <a:buFont typeface="Times New Roman"/>
              <a:buChar char="-"/>
            </a:pPr>
            <a:r>
              <a:rPr b="1" lang="en" sz="1750">
                <a:latin typeface="Times New Roman"/>
                <a:ea typeface="Times New Roman"/>
                <a:cs typeface="Times New Roman"/>
                <a:sym typeface="Times New Roman"/>
              </a:rPr>
              <a:t>0.175 us</a:t>
            </a:r>
            <a:r>
              <a:rPr lang="en" sz="1750">
                <a:latin typeface="Times New Roman"/>
                <a:ea typeface="Times New Roman"/>
                <a:cs typeface="Times New Roman"/>
                <a:sym typeface="Times New Roman"/>
              </a:rPr>
              <a:t>: start_pulse remains 0, confirming that the restart request is rejected.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8"/>
          <p:cNvSpPr txBox="1"/>
          <p:nvPr/>
        </p:nvSpPr>
        <p:spPr>
          <a:xfrm>
            <a:off x="0" y="-43300"/>
            <a:ext cx="11239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Verification Scenarios of RegisterBank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7" name="Google Shape;717;p38"/>
          <p:cNvSpPr txBox="1"/>
          <p:nvPr/>
        </p:nvSpPr>
        <p:spPr>
          <a:xfrm>
            <a:off x="316050" y="4349050"/>
            <a:ext cx="457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 Done:</a:t>
            </a:r>
            <a:r>
              <a:rPr b="0" lang="en"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Verify STATUS done states transition and assert correctly.</a:t>
            </a:r>
            <a:endParaRPr b="0" sz="17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verifies that when the ALU core completes successfully (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core_done=1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core_error=0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the register bank must clear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busy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set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done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keep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deasserted, and latch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core_result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the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register. </a:t>
            </a:r>
            <a:endParaRPr sz="22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8" name="Google Shape;71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700" y="482900"/>
            <a:ext cx="5429250" cy="372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1950" y="482900"/>
            <a:ext cx="4562475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38"/>
          <p:cNvSpPr txBox="1"/>
          <p:nvPr/>
        </p:nvSpPr>
        <p:spPr>
          <a:xfrm>
            <a:off x="6443750" y="3777550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 Limits:</a:t>
            </a:r>
            <a:r>
              <a:rPr b="0" lang="en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Verify invalid address (3c -  not a </a:t>
            </a:r>
            <a:r>
              <a:rPr lang="en" sz="1950">
                <a:latin typeface="Times New Roman"/>
                <a:ea typeface="Times New Roman"/>
                <a:cs typeface="Times New Roman"/>
                <a:sym typeface="Times New Roman"/>
              </a:rPr>
              <a:t>valid </a:t>
            </a:r>
            <a:r>
              <a:rPr lang="en" sz="1950">
                <a:latin typeface="Times New Roman"/>
                <a:ea typeface="Times New Roman"/>
                <a:cs typeface="Times New Roman"/>
                <a:sym typeface="Times New Roman"/>
              </a:rPr>
              <a:t>address</a:t>
            </a:r>
            <a:r>
              <a:rPr lang="en" sz="1950">
                <a:latin typeface="Times New Roman"/>
                <a:ea typeface="Times New Roman"/>
                <a:cs typeface="Times New Roman"/>
                <a:sym typeface="Times New Roman"/>
              </a:rPr>
              <a:t> in Register Bank</a:t>
            </a:r>
            <a:r>
              <a:rPr b="0" lang="en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boundaries return 0 on read. </a:t>
            </a:r>
            <a:r>
              <a:rPr lang="en" sz="1950">
                <a:latin typeface="Times New Roman"/>
                <a:ea typeface="Times New Roman"/>
                <a:cs typeface="Times New Roman"/>
                <a:sym typeface="Times New Roman"/>
              </a:rPr>
              <a:t>And not effect to operands A or B. </a:t>
            </a:r>
            <a:endParaRPr b="0" sz="19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5" name="Google Shape;725;p39"/>
          <p:cNvGrpSpPr/>
          <p:nvPr/>
        </p:nvGrpSpPr>
        <p:grpSpPr>
          <a:xfrm>
            <a:off x="-4762" y="-6"/>
            <a:ext cx="12197919" cy="946409"/>
            <a:chOff x="-4762" y="-6"/>
            <a:chExt cx="12197919" cy="946409"/>
          </a:xfrm>
        </p:grpSpPr>
        <p:pic>
          <p:nvPicPr>
            <p:cNvPr id="726" name="Google Shape;726;p39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7" name="Google Shape;727;p39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8" name="Google Shape;728;p39"/>
            <p:cNvGrpSpPr/>
            <p:nvPr/>
          </p:nvGrpSpPr>
          <p:grpSpPr>
            <a:xfrm>
              <a:off x="240281" y="141423"/>
              <a:ext cx="2916000" cy="338700"/>
              <a:chOff x="0" y="0"/>
              <a:chExt cx="2916000" cy="338700"/>
            </a:xfrm>
          </p:grpSpPr>
          <p:sp>
            <p:nvSpPr>
              <p:cNvPr id="729" name="Google Shape;729;p39"/>
              <p:cNvSpPr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39"/>
              <p:cNvSpPr txBox="1"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KHOA KỸ THUẬT MÁY TÍNH</a:t>
                </a:r>
                <a:endParaRPr b="1" i="0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1" name="Google Shape;731;p39"/>
            <p:cNvGrpSpPr/>
            <p:nvPr/>
          </p:nvGrpSpPr>
          <p:grpSpPr>
            <a:xfrm>
              <a:off x="4477020" y="263617"/>
              <a:ext cx="3238090" cy="682786"/>
              <a:chOff x="4276725" y="109041"/>
              <a:chExt cx="3638700" cy="767259"/>
            </a:xfrm>
          </p:grpSpPr>
          <p:pic>
            <p:nvPicPr>
              <p:cNvPr id="732" name="Google Shape;732;p39"/>
              <p:cNvPicPr preferRelativeResize="0"/>
              <p:nvPr/>
            </p:nvPicPr>
            <p:blipFill rotWithShape="1">
              <a:blip r:embed="rId5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33" name="Google Shape;733;p39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734" name="Google Shape;734;p39"/>
              <p:cNvPicPr preferRelativeResize="0"/>
              <p:nvPr/>
            </p:nvPicPr>
            <p:blipFill rotWithShape="1">
              <a:blip r:embed="rId6">
                <a:alphaModFix/>
              </a:blip>
              <a:srcRect b="-12260" l="0" r="-12372" t="90"/>
              <a:stretch/>
            </p:blipFill>
            <p:spPr>
              <a:xfrm>
                <a:off x="5604843" y="10904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35" name="Google Shape;735;p39"/>
          <p:cNvGrpSpPr/>
          <p:nvPr/>
        </p:nvGrpSpPr>
        <p:grpSpPr>
          <a:xfrm>
            <a:off x="285750" y="1000125"/>
            <a:ext cx="11620500" cy="714300"/>
            <a:chOff x="0" y="0"/>
            <a:chExt cx="11620500" cy="714300"/>
          </a:xfrm>
        </p:grpSpPr>
        <p:sp>
          <p:nvSpPr>
            <p:cNvPr id="736" name="Google Shape;736;p39"/>
            <p:cNvSpPr/>
            <p:nvPr/>
          </p:nvSpPr>
          <p:spPr>
            <a:xfrm>
              <a:off x="0" y="0"/>
              <a:ext cx="116205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9"/>
            <p:cNvSpPr txBox="1"/>
            <p:nvPr/>
          </p:nvSpPr>
          <p:spPr>
            <a:xfrm>
              <a:off x="0" y="0"/>
              <a:ext cx="11620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Protocol &amp; Bridge Verification Scenarios</a:t>
              </a:r>
              <a:endParaRPr b="1" i="0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738" name="Google Shape;738;p39"/>
          <p:cNvGrpSpPr/>
          <p:nvPr/>
        </p:nvGrpSpPr>
        <p:grpSpPr>
          <a:xfrm>
            <a:off x="428625" y="1809750"/>
            <a:ext cx="5429400" cy="4095900"/>
            <a:chOff x="0" y="0"/>
            <a:chExt cx="5429400" cy="4095900"/>
          </a:xfrm>
        </p:grpSpPr>
        <p:sp>
          <p:nvSpPr>
            <p:cNvPr id="739" name="Google Shape;739;p39"/>
            <p:cNvSpPr/>
            <p:nvPr/>
          </p:nvSpPr>
          <p:spPr>
            <a:xfrm>
              <a:off x="0" y="0"/>
              <a:ext cx="5429400" cy="4095900"/>
            </a:xfrm>
            <a:prstGeom prst="roundRect">
              <a:avLst>
                <a:gd fmla="val 2790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40" name="Google Shape;740;p39"/>
            <p:cNvGrpSpPr/>
            <p:nvPr/>
          </p:nvGrpSpPr>
          <p:grpSpPr>
            <a:xfrm>
              <a:off x="285750" y="190500"/>
              <a:ext cx="4857900" cy="428700"/>
              <a:chOff x="0" y="0"/>
              <a:chExt cx="4857900" cy="428700"/>
            </a:xfrm>
          </p:grpSpPr>
          <p:sp>
            <p:nvSpPr>
              <p:cNvPr id="741" name="Google Shape;741;p39"/>
              <p:cNvSpPr/>
              <p:nvPr/>
            </p:nvSpPr>
            <p:spPr>
              <a:xfrm>
                <a:off x="0" y="0"/>
                <a:ext cx="4857900" cy="42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39"/>
              <p:cNvSpPr txBox="1"/>
              <p:nvPr/>
            </p:nvSpPr>
            <p:spPr>
              <a:xfrm>
                <a:off x="0" y="0"/>
                <a:ext cx="4857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2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AXI4-Lite Slave Tests</a:t>
                </a:r>
                <a:endParaRPr b="1" i="0" sz="22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743" name="Google Shape;743;p39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44" name="Google Shape;744;p39"/>
            <p:cNvGrpSpPr/>
            <p:nvPr/>
          </p:nvGrpSpPr>
          <p:grpSpPr>
            <a:xfrm>
              <a:off x="285750" y="762000"/>
              <a:ext cx="4857900" cy="2190900"/>
              <a:chOff x="0" y="0"/>
              <a:chExt cx="4857900" cy="2190900"/>
            </a:xfrm>
          </p:grpSpPr>
          <p:sp>
            <p:nvSpPr>
              <p:cNvPr id="745" name="Google Shape;745;p39"/>
              <p:cNvSpPr/>
              <p:nvPr/>
            </p:nvSpPr>
            <p:spPr>
              <a:xfrm>
                <a:off x="0" y="0"/>
                <a:ext cx="4857900" cy="2190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39"/>
              <p:cNvSpPr txBox="1"/>
              <p:nvPr/>
            </p:nvSpPr>
            <p:spPr>
              <a:xfrm>
                <a:off x="0" y="0"/>
                <a:ext cx="48579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5250" spcFirstLastPara="1" rIns="95250" wrap="square" tIns="0">
                <a:noAutofit/>
              </a:bodyPr>
              <a:lstStyle/>
              <a:p>
                <a:pPr indent="-190500" lvl="0" marL="1905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550">
                    <a:solidFill>
                      <a:srgbClr val="43B69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■</a:t>
                </a:r>
                <a:r>
                  <a:rPr b="0" i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Verify AW-before-W, W-before-AW (generating exactly one valid write pulse), and same-cycle AW/W writes.</a:t>
                </a:r>
                <a:endParaRPr b="0" i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190500" lvl="0" marL="190500" marR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b="1" i="0" lang="en" sz="1550">
                    <a:solidFill>
                      <a:srgbClr val="43B69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■</a:t>
                </a:r>
                <a:r>
                  <a:rPr b="0" i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Confirm ARVALID/ARREADY handshakes and back-to-back recovery during read transactions.</a:t>
                </a:r>
                <a:endParaRPr b="0" i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190500" lvl="0" marL="190500" marR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747" name="Google Shape;747;p39"/>
            <p:cNvGrpSpPr/>
            <p:nvPr/>
          </p:nvGrpSpPr>
          <p:grpSpPr>
            <a:xfrm>
              <a:off x="381000" y="2809875"/>
              <a:ext cx="4581525" cy="1019175"/>
              <a:chOff x="381000" y="2809875"/>
              <a:chExt cx="4581525" cy="1019175"/>
            </a:xfrm>
          </p:grpSpPr>
          <p:sp>
            <p:nvSpPr>
              <p:cNvPr id="748" name="Google Shape;748;p39"/>
              <p:cNvSpPr/>
              <p:nvPr/>
            </p:nvSpPr>
            <p:spPr>
              <a:xfrm>
                <a:off x="381000" y="3095625"/>
                <a:ext cx="9525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39"/>
              <p:cNvSpPr txBox="1"/>
              <p:nvPr/>
            </p:nvSpPr>
            <p:spPr>
              <a:xfrm>
                <a:off x="381000" y="3095625"/>
                <a:ext cx="952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Master</a:t>
                </a:r>
                <a:endParaRPr b="1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50" name="Google Shape;750;p39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333500" y="3214688"/>
                <a:ext cx="7335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1" name="Google Shape;751;p39"/>
              <p:cNvSpPr txBox="1"/>
              <p:nvPr/>
            </p:nvSpPr>
            <p:spPr>
              <a:xfrm>
                <a:off x="1333500" y="2809875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AW/W, AR</a:t>
                </a:r>
                <a:endParaRPr b="1" sz="10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52" name="Google Shape;752;p39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362075" y="3367088"/>
                <a:ext cx="7335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3" name="Google Shape;753;p39"/>
              <p:cNvSpPr txBox="1"/>
              <p:nvPr/>
            </p:nvSpPr>
            <p:spPr>
              <a:xfrm>
                <a:off x="1333500" y="3448050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READY</a:t>
                </a:r>
                <a:endParaRPr b="1" sz="10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39"/>
              <p:cNvSpPr/>
              <p:nvPr/>
            </p:nvSpPr>
            <p:spPr>
              <a:xfrm>
                <a:off x="2095500" y="3095625"/>
                <a:ext cx="11430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39"/>
              <p:cNvSpPr txBox="1"/>
              <p:nvPr/>
            </p:nvSpPr>
            <p:spPr>
              <a:xfrm>
                <a:off x="2095500" y="3095625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AXI Slave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56" name="Google Shape;756;p39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3286125" y="3290888"/>
                <a:ext cx="4287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7" name="Google Shape;757;p39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705225" y="3086100"/>
                <a:ext cx="1257300" cy="495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8" name="Google Shape;758;p39"/>
              <p:cNvSpPr txBox="1"/>
              <p:nvPr/>
            </p:nvSpPr>
            <p:spPr>
              <a:xfrm>
                <a:off x="3714750" y="3095625"/>
                <a:ext cx="1238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Directed</a:t>
                </a:r>
                <a:endParaRPr b="1" sz="12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Scenarios</a:t>
                </a:r>
                <a:endParaRPr b="0" sz="10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59" name="Google Shape;759;p39"/>
          <p:cNvGrpSpPr/>
          <p:nvPr/>
        </p:nvGrpSpPr>
        <p:grpSpPr>
          <a:xfrm>
            <a:off x="6334125" y="1809750"/>
            <a:ext cx="5429400" cy="4095900"/>
            <a:chOff x="0" y="0"/>
            <a:chExt cx="5429400" cy="4095900"/>
          </a:xfrm>
        </p:grpSpPr>
        <p:sp>
          <p:nvSpPr>
            <p:cNvPr id="760" name="Google Shape;760;p39"/>
            <p:cNvSpPr/>
            <p:nvPr/>
          </p:nvSpPr>
          <p:spPr>
            <a:xfrm>
              <a:off x="0" y="0"/>
              <a:ext cx="5429400" cy="4095900"/>
            </a:xfrm>
            <a:prstGeom prst="roundRect">
              <a:avLst>
                <a:gd fmla="val 2790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61" name="Google Shape;761;p39"/>
            <p:cNvGrpSpPr/>
            <p:nvPr/>
          </p:nvGrpSpPr>
          <p:grpSpPr>
            <a:xfrm>
              <a:off x="285750" y="190500"/>
              <a:ext cx="4857900" cy="428700"/>
              <a:chOff x="0" y="0"/>
              <a:chExt cx="4857900" cy="428700"/>
            </a:xfrm>
          </p:grpSpPr>
          <p:sp>
            <p:nvSpPr>
              <p:cNvPr id="762" name="Google Shape;762;p39"/>
              <p:cNvSpPr/>
              <p:nvPr/>
            </p:nvSpPr>
            <p:spPr>
              <a:xfrm>
                <a:off x="0" y="0"/>
                <a:ext cx="4857900" cy="42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39"/>
              <p:cNvSpPr txBox="1"/>
              <p:nvPr/>
            </p:nvSpPr>
            <p:spPr>
              <a:xfrm>
                <a:off x="0" y="0"/>
                <a:ext cx="4857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2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Avalon Bridge Tests</a:t>
                </a:r>
                <a:endParaRPr b="1" i="0" sz="22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764" name="Google Shape;764;p39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65" name="Google Shape;765;p39"/>
            <p:cNvGrpSpPr/>
            <p:nvPr/>
          </p:nvGrpSpPr>
          <p:grpSpPr>
            <a:xfrm>
              <a:off x="285750" y="762000"/>
              <a:ext cx="4857900" cy="2190900"/>
              <a:chOff x="0" y="0"/>
              <a:chExt cx="4857900" cy="2190900"/>
            </a:xfrm>
          </p:grpSpPr>
          <p:sp>
            <p:nvSpPr>
              <p:cNvPr id="766" name="Google Shape;766;p39"/>
              <p:cNvSpPr/>
              <p:nvPr/>
            </p:nvSpPr>
            <p:spPr>
              <a:xfrm>
                <a:off x="0" y="0"/>
                <a:ext cx="4857900" cy="2190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39"/>
              <p:cNvSpPr txBox="1"/>
              <p:nvPr/>
            </p:nvSpPr>
            <p:spPr>
              <a:xfrm>
                <a:off x="0" y="0"/>
                <a:ext cx="48579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5250" spcFirstLastPara="1" rIns="95250" wrap="square" tIns="0">
                <a:noAutofit/>
              </a:bodyPr>
              <a:lstStyle/>
              <a:p>
                <a:pPr indent="-190500" lvl="0" marL="1905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550">
                    <a:solidFill>
                      <a:srgbClr val="43B69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■</a:t>
                </a:r>
                <a:r>
                  <a:rPr b="0" i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Validate write timing variations and delayed read responses.</a:t>
                </a:r>
                <a:endParaRPr b="0" i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190500" lvl="0" marL="190500" marR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768" name="Google Shape;768;p39"/>
            <p:cNvGrpSpPr/>
            <p:nvPr/>
          </p:nvGrpSpPr>
          <p:grpSpPr>
            <a:xfrm>
              <a:off x="381000" y="2809875"/>
              <a:ext cx="4476900" cy="1019175"/>
              <a:chOff x="381000" y="2809875"/>
              <a:chExt cx="4476900" cy="1019175"/>
            </a:xfrm>
          </p:grpSpPr>
          <p:sp>
            <p:nvSpPr>
              <p:cNvPr id="769" name="Google Shape;769;p39"/>
              <p:cNvSpPr/>
              <p:nvPr/>
            </p:nvSpPr>
            <p:spPr>
              <a:xfrm>
                <a:off x="381000" y="3095625"/>
                <a:ext cx="10479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39"/>
              <p:cNvSpPr txBox="1"/>
              <p:nvPr/>
            </p:nvSpPr>
            <p:spPr>
              <a:xfrm>
                <a:off x="381000" y="3095625"/>
                <a:ext cx="1047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AXI Master</a:t>
                </a:r>
                <a:endParaRPr b="1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71" name="Google Shape;771;p39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1428750" y="3214688"/>
                <a:ext cx="6381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2" name="Google Shape;772;p39"/>
              <p:cNvSpPr txBox="1"/>
              <p:nvPr/>
            </p:nvSpPr>
            <p:spPr>
              <a:xfrm>
                <a:off x="1428750" y="2809875"/>
                <a:ext cx="666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AXI4-Lite</a:t>
                </a:r>
                <a:endParaRPr b="1" sz="10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39"/>
              <p:cNvSpPr/>
              <p:nvPr/>
            </p:nvSpPr>
            <p:spPr>
              <a:xfrm>
                <a:off x="2095500" y="3095625"/>
                <a:ext cx="10479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39"/>
              <p:cNvSpPr txBox="1"/>
              <p:nvPr/>
            </p:nvSpPr>
            <p:spPr>
              <a:xfrm>
                <a:off x="2095500" y="3095625"/>
                <a:ext cx="1047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AXI-Avalon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Bridge</a:t>
                </a:r>
                <a:endParaRPr b="0" sz="10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75" name="Google Shape;775;p39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3143250" y="3214688"/>
                <a:ext cx="6381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6" name="Google Shape;776;p39"/>
              <p:cNvSpPr txBox="1"/>
              <p:nvPr/>
            </p:nvSpPr>
            <p:spPr>
              <a:xfrm>
                <a:off x="3143250" y="2809875"/>
                <a:ext cx="666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Avalon</a:t>
                </a:r>
                <a:endParaRPr b="1" sz="10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77" name="Google Shape;777;p39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3171825" y="3367088"/>
                <a:ext cx="6381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8" name="Google Shape;778;p39"/>
              <p:cNvSpPr txBox="1"/>
              <p:nvPr/>
            </p:nvSpPr>
            <p:spPr>
              <a:xfrm>
                <a:off x="3143250" y="3448050"/>
                <a:ext cx="666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79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waitrequest</a:t>
                </a:r>
                <a:endParaRPr b="1" sz="879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39"/>
              <p:cNvSpPr/>
              <p:nvPr/>
            </p:nvSpPr>
            <p:spPr>
              <a:xfrm>
                <a:off x="3810000" y="3095625"/>
                <a:ext cx="10479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39"/>
              <p:cNvSpPr txBox="1"/>
              <p:nvPr/>
            </p:nvSpPr>
            <p:spPr>
              <a:xfrm>
                <a:off x="3810000" y="3095625"/>
                <a:ext cx="1047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Slave Core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81" name="Google Shape;781;p39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782" name="Google Shape;782;p39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83" name="Google Shape;783;p39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784" name="Google Shape;784;p39"/>
              <p:cNvPicPr preferRelativeResize="0"/>
              <p:nvPr/>
            </p:nvPicPr>
            <p:blipFill rotWithShape="1">
              <a:blip r:embed="rId13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85" name="Google Shape;785;p39"/>
              <p:cNvPicPr preferRelativeResize="0"/>
              <p:nvPr/>
            </p:nvPicPr>
            <p:blipFill rotWithShape="1">
              <a:blip r:embed="rId14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86" name="Google Shape;786;p39"/>
            <p:cNvGrpSpPr/>
            <p:nvPr/>
          </p:nvGrpSpPr>
          <p:grpSpPr>
            <a:xfrm>
              <a:off x="4038600" y="6356347"/>
              <a:ext cx="4114800" cy="365100"/>
              <a:chOff x="0" y="0"/>
              <a:chExt cx="4114800" cy="365100"/>
            </a:xfrm>
          </p:grpSpPr>
          <p:sp>
            <p:nvSpPr>
              <p:cNvPr id="787" name="Google Shape;787;p39"/>
              <p:cNvSpPr/>
              <p:nvPr/>
            </p:nvSpPr>
            <p:spPr>
              <a:xfrm>
                <a:off x="0" y="0"/>
                <a:ext cx="4114800" cy="365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39"/>
              <p:cNvSpPr txBox="1"/>
              <p:nvPr/>
            </p:nvSpPr>
            <p:spPr>
              <a:xfrm>
                <a:off x="0" y="0"/>
                <a:ext cx="4114800" cy="3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00" spcFirstLastPara="1" rIns="914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20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Copyrights 2026 CE-UIT. All Rights Reserved.</a:t>
                </a:r>
                <a:endParaRPr b="0" i="0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3" name="Google Shape;79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4375" y="-120400"/>
            <a:ext cx="4857750" cy="1247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4" name="Google Shape;794;p40"/>
          <p:cNvGrpSpPr/>
          <p:nvPr/>
        </p:nvGrpSpPr>
        <p:grpSpPr>
          <a:xfrm>
            <a:off x="0" y="47625"/>
            <a:ext cx="11620500" cy="714300"/>
            <a:chOff x="0" y="0"/>
            <a:chExt cx="11620500" cy="714300"/>
          </a:xfrm>
        </p:grpSpPr>
        <p:sp>
          <p:nvSpPr>
            <p:cNvPr id="795" name="Google Shape;795;p40"/>
            <p:cNvSpPr/>
            <p:nvPr/>
          </p:nvSpPr>
          <p:spPr>
            <a:xfrm>
              <a:off x="0" y="0"/>
              <a:ext cx="116205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40"/>
            <p:cNvSpPr txBox="1"/>
            <p:nvPr/>
          </p:nvSpPr>
          <p:spPr>
            <a:xfrm>
              <a:off x="0" y="0"/>
              <a:ext cx="11620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Protocol &amp; Bridge Verification Scenarios</a:t>
              </a:r>
              <a:endParaRPr b="1" i="0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 axi 4 lite </a:t>
              </a:r>
              <a:r>
                <a:rPr b="1" lang="en" sz="2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slave</a:t>
              </a:r>
              <a:r>
                <a:rPr b="1" lang="en" sz="2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 </a:t>
              </a:r>
              <a:endParaRPr b="1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797" name="Google Shape;79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68450" y="1127363"/>
            <a:ext cx="4781550" cy="34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3100" y="1084200"/>
            <a:ext cx="3962400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75500" y="2716413"/>
            <a:ext cx="3647396" cy="1872987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40"/>
          <p:cNvSpPr txBox="1"/>
          <p:nvPr/>
        </p:nvSpPr>
        <p:spPr>
          <a:xfrm>
            <a:off x="242875" y="4589400"/>
            <a:ext cx="11839800" cy="21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952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Verify that the slave handles all AW/W ordering cases: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AW-before-W: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address arrives before data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W-before-AW: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arrives before address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Same-cycle AW/W: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address and data arrive together.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all cases, the slave waits until both address and data are received, then generates exactly one internal write pulse: </a:t>
            </a: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wr_en = 1 for one clock cycle; 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ensures each write transaction is committed once, independent of AW/W arrival order.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19050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50">
              <a:solidFill>
                <a:srgbClr val="43B69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Google Shape;80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4175" y="0"/>
            <a:ext cx="4991100" cy="571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6" name="Google Shape;806;p41"/>
          <p:cNvGrpSpPr/>
          <p:nvPr/>
        </p:nvGrpSpPr>
        <p:grpSpPr>
          <a:xfrm>
            <a:off x="0" y="0"/>
            <a:ext cx="11720775" cy="761925"/>
            <a:chOff x="0" y="-47625"/>
            <a:chExt cx="11720775" cy="761925"/>
          </a:xfrm>
        </p:grpSpPr>
        <p:sp>
          <p:nvSpPr>
            <p:cNvPr id="807" name="Google Shape;807;p41"/>
            <p:cNvSpPr/>
            <p:nvPr/>
          </p:nvSpPr>
          <p:spPr>
            <a:xfrm>
              <a:off x="0" y="0"/>
              <a:ext cx="116205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41"/>
            <p:cNvSpPr txBox="1"/>
            <p:nvPr/>
          </p:nvSpPr>
          <p:spPr>
            <a:xfrm>
              <a:off x="100275" y="-47625"/>
              <a:ext cx="11620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Protocol &amp; Bridge Verification Scenarios</a:t>
              </a:r>
              <a:endParaRPr b="1" i="0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(axi 4 lite slave)</a:t>
              </a:r>
              <a:endParaRPr b="1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09" name="Google Shape;809;p41"/>
          <p:cNvSpPr txBox="1"/>
          <p:nvPr/>
        </p:nvSpPr>
        <p:spPr>
          <a:xfrm>
            <a:off x="5408600" y="586925"/>
            <a:ext cx="6312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 = 6'h04                             </a:t>
            </a:r>
            <a:r>
              <a:rPr b="1" i="1" lang="en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 = 6'h14</a:t>
            </a:r>
            <a:endParaRPr b="1" i="1"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= 32'hCAFE_BABE        </a:t>
            </a:r>
            <a:r>
              <a:rPr b="1" i="1" lang="en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= 32'h1234_5678</a:t>
            </a:r>
            <a:endParaRPr b="1" i="1"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= "read transaction"     </a:t>
            </a:r>
            <a:r>
              <a:rPr b="1" i="1" lang="en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= "back-to-back read"</a:t>
            </a:r>
            <a:endParaRPr b="1" i="1"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10" name="Google Shape;81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5400" y="1562100"/>
            <a:ext cx="8467725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41"/>
          <p:cNvSpPr txBox="1"/>
          <p:nvPr/>
        </p:nvSpPr>
        <p:spPr>
          <a:xfrm>
            <a:off x="275225" y="3693950"/>
            <a:ext cx="11839800" cy="21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95250" wrap="square" tIns="0">
            <a:noAutofit/>
          </a:bodyPr>
          <a:lstStyle/>
          <a:p>
            <a:pPr indent="-19050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testcase verifies the AXI4-Lite slave read channel using two consecutive read transactions.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First, the test calls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axi_read(6'h04, 32'hCAFE_BABE, "read transaction")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where the master drives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s_axi_araddr = 6'h04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asserts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s_axi_arvalid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the slave accepts the request when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s_axi_arready = 1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then returns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s_axi_rvalid = 1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s_axi_rdata = 32'hCAFE_BABE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s_axi_rresp = 2'b00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the first read response is completed with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s_axi_rready = 1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test immediately calls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axi_read(6'h14, 32'h1234_5678, "back-to-back read")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check that the slave has recovered and can accept another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ARVALID/ARREADY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handshake, then return the expected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RDATA = 32'h1234_5678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confirms correct read address handshaking, read response generation, and back-to-back read recovery. </a:t>
            </a:r>
            <a:endParaRPr b="1" sz="2750">
              <a:solidFill>
                <a:srgbClr val="43B69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42"/>
          <p:cNvSpPr txBox="1"/>
          <p:nvPr/>
        </p:nvSpPr>
        <p:spPr>
          <a:xfrm>
            <a:off x="140375" y="0"/>
            <a:ext cx="11620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 &amp; Bridge Verification Scenarios (bridge)</a:t>
            </a:r>
            <a:endParaRPr b="1" i="0" sz="24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7" name="Google Shape;817;p42"/>
          <p:cNvSpPr/>
          <p:nvPr/>
        </p:nvSpPr>
        <p:spPr>
          <a:xfrm>
            <a:off x="94350" y="636875"/>
            <a:ext cx="7545600" cy="1380300"/>
          </a:xfrm>
          <a:prstGeom prst="roundRect">
            <a:avLst>
              <a:gd fmla="val 2790" name="adj"/>
            </a:avLst>
          </a:prstGeom>
          <a:solidFill>
            <a:srgbClr val="FFFFFF"/>
          </a:solidFill>
          <a:ln cap="flat" cmpd="sng" w="19050">
            <a:solidFill>
              <a:srgbClr val="43B6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5624A"/>
                </a:solidFill>
              </a:rPr>
              <a:t>avalon_write</a:t>
            </a:r>
            <a:r>
              <a:rPr lang="en" sz="1600"/>
              <a:t>(6'h08, 32'hAAAA_5555, 4'b1111, 0, 0, 2, </a:t>
            </a:r>
            <a:r>
              <a:rPr b="1" lang="en" sz="1600"/>
              <a:t>"write AW/W same cycle"</a:t>
            </a:r>
            <a:r>
              <a:rPr lang="en" sz="1600"/>
              <a:t>);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5624A"/>
                </a:solidFill>
              </a:rPr>
              <a:t>avalon_write</a:t>
            </a:r>
            <a:r>
              <a:rPr lang="en" sz="1600"/>
              <a:t>(6'h0C, 32'h1111_2222, 4'b0011, 0, 3, 1, </a:t>
            </a:r>
            <a:r>
              <a:rPr b="1" lang="en" sz="1600"/>
              <a:t>"write AW before W"</a:t>
            </a:r>
            <a:r>
              <a:rPr lang="en" sz="1600"/>
              <a:t>);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5624A"/>
                </a:solidFill>
              </a:rPr>
              <a:t>avalon_write_w_firs</a:t>
            </a:r>
            <a:r>
              <a:rPr lang="en" sz="1600"/>
              <a:t>t(6'h10, 32'h0000_0002, 4'b1111);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5624A"/>
                </a:solidFill>
              </a:rPr>
              <a:t>avalon_read</a:t>
            </a:r>
            <a:r>
              <a:rPr lang="en" sz="1600"/>
              <a:t>(6'h14, 32'hDEAD_BEEF, 2, 3, </a:t>
            </a:r>
            <a:r>
              <a:rPr b="1" lang="en" sz="1600"/>
              <a:t>"read with delays"</a:t>
            </a:r>
            <a:r>
              <a:rPr lang="en" sz="1600"/>
              <a:t>);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818" name="Google Shape;81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26443"/>
            <a:ext cx="5170885" cy="4536025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42"/>
          <p:cNvSpPr txBox="1"/>
          <p:nvPr/>
        </p:nvSpPr>
        <p:spPr>
          <a:xfrm>
            <a:off x="5547900" y="2071800"/>
            <a:ext cx="6644100" cy="45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5624A"/>
                </a:solidFill>
              </a:rPr>
              <a:t>avalon_write</a:t>
            </a:r>
            <a:r>
              <a:rPr lang="en" sz="1600">
                <a:solidFill>
                  <a:schemeClr val="dk1"/>
                </a:solidFill>
              </a:rPr>
              <a:t>(6'h08, 32'hAAAA_5555, 4'b1111, 0, 0, 2, </a:t>
            </a:r>
            <a:r>
              <a:rPr b="1" lang="en" sz="1600">
                <a:solidFill>
                  <a:schemeClr val="dk1"/>
                </a:solidFill>
              </a:rPr>
              <a:t>"write AW/W same cycle"</a:t>
            </a:r>
            <a:r>
              <a:rPr lang="en" sz="1600">
                <a:solidFill>
                  <a:schemeClr val="dk1"/>
                </a:solidFill>
              </a:rPr>
              <a:t>);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1: Write AW/W Same Cycle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verifies that an Avalon-MM write is correctly converted into an AXI4-Lite write transaction. The test drives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avs_write=1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one clock with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avs_address=0x08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avs_writedata=0xAAAA_5555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avs_byteenable=4'b1111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The bridge is expected to assert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avs_waitrequest=1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while busy, drive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m_axi_awvalid=1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m_axi_awaddr=0x08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drive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m_axi_wvalid=1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m_axi_wdata=0xAAAA_5555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m_axi_wstrb=4'b1111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AWVALID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WVALID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must stay stable until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AWREADY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WREADY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handshakes occur. 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Then the bridge asserts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m_axi_bready=1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waits for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m_axi_bvalid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completes the write response, and returns to idle with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avs_waitrequest=0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output: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bridge completes the AXI write transaction successfully, keeps address/data stable until handshake, then returns to idle with </a:t>
            </a: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avs_waitrequest = 0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4" name="Google Shape;82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375" y="804075"/>
            <a:ext cx="6143625" cy="5429250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43"/>
          <p:cNvSpPr txBox="1"/>
          <p:nvPr/>
        </p:nvSpPr>
        <p:spPr>
          <a:xfrm>
            <a:off x="140375" y="0"/>
            <a:ext cx="11620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 &amp; Bridge Verification Scenarios (bridge)</a:t>
            </a:r>
            <a:endParaRPr b="1" i="0" sz="24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6" name="Google Shape;826;p43"/>
          <p:cNvSpPr txBox="1"/>
          <p:nvPr/>
        </p:nvSpPr>
        <p:spPr>
          <a:xfrm>
            <a:off x="6691200" y="217125"/>
            <a:ext cx="5500800" cy="6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5624A"/>
                </a:solidFill>
              </a:rPr>
              <a:t>avalon_write</a:t>
            </a:r>
            <a:r>
              <a:rPr lang="en" sz="1600">
                <a:solidFill>
                  <a:schemeClr val="dk1"/>
                </a:solidFill>
              </a:rPr>
              <a:t>(6'h0C, 32'h1111_2222, 4'b0011, 0, 3, 1, </a:t>
            </a:r>
            <a:r>
              <a:rPr b="1" lang="en" sz="1600">
                <a:solidFill>
                  <a:schemeClr val="dk1"/>
                </a:solidFill>
              </a:rPr>
              <a:t>"write AW before W"</a:t>
            </a:r>
            <a:r>
              <a:rPr lang="en" sz="1600">
                <a:solidFill>
                  <a:schemeClr val="dk1"/>
                </a:solidFill>
              </a:rPr>
              <a:t>);</a:t>
            </a:r>
            <a:endParaRPr sz="1600">
              <a:solidFill>
                <a:srgbClr val="0562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2: Write AW Before W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verifies that the bridge correctly handles an AXI4-Lite write when the address channel completes before the data channel. The test drives an Avalon-MM write with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avs_address=0x0C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avs_writedata=0x1111_2222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avs_byteenable=4'b0011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aw_delay=0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testbench asserts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m_axi_awready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immediately, so the bridge handshakes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m_axi_awvalid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m_axi_awaddr=0x0C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first.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w_delay=3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m_axi_wready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delayed by three clock cycles, so the bridge must keep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m_axi_wvalid=1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m_axi_wdata=0x1111_2222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m_axi_wstrb=4'b0011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stable while waiting.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the W handshake,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b_delay=1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delays the write response by one clock cycle; the bridge asserts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m_axi_bready=1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waits for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m_axi_bvalid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completes the response, and returns to idle with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avs_waitrequest=0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44"/>
          <p:cNvSpPr txBox="1"/>
          <p:nvPr/>
        </p:nvSpPr>
        <p:spPr>
          <a:xfrm>
            <a:off x="140375" y="0"/>
            <a:ext cx="11620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 &amp; Bridge Verification Scenarios (bridge)</a:t>
            </a:r>
            <a:endParaRPr b="1" i="0" sz="24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2" name="Google Shape;832;p44"/>
          <p:cNvSpPr txBox="1"/>
          <p:nvPr/>
        </p:nvSpPr>
        <p:spPr>
          <a:xfrm>
            <a:off x="6691200" y="217125"/>
            <a:ext cx="5500800" cy="6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avalon_write_w_firs</a:t>
            </a: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t(6'h10, 32'h0000_0002, 4'b1111);</a:t>
            </a:r>
            <a:endParaRPr sz="22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3: Write W Before AW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verifies that the bridge correctly handles an AXI4-Lite write when the data channel is accepted before the address channel.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test drives an Avalon-MM write with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avs_address=0x10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avs_writedata=0x0000_0002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avs_byteenable=4'b1111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testbench asserts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m_axi_wready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first, so the W channel handshakes before the AW channel; after this handshake, the bridge must deassert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m_axi_wvalid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because the write data has already been accepted.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the same time, it must keep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m_axi_awvalid=1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m_axi_awaddr=0x10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stable until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m_axi_awready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asserted.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Once the AW handshake completes, the bridge waits for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m_axi_bvalid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m_axi_bready=1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completes the write response, and returns to idle. 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33" name="Google Shape;83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66700"/>
            <a:ext cx="6386399" cy="4479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/>
        </p:nvSpPr>
        <p:spPr>
          <a:xfrm>
            <a:off x="140375" y="0"/>
            <a:ext cx="11620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 &amp; Bridge Verification Scenarios (bridge)</a:t>
            </a:r>
            <a:endParaRPr b="1" i="0" sz="24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9" name="Google Shape;839;p45"/>
          <p:cNvSpPr txBox="1"/>
          <p:nvPr/>
        </p:nvSpPr>
        <p:spPr>
          <a:xfrm>
            <a:off x="6691200" y="217125"/>
            <a:ext cx="5500800" cy="6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5624A"/>
                </a:solidFill>
              </a:rPr>
              <a:t>avalon_read</a:t>
            </a:r>
            <a:r>
              <a:rPr lang="en" sz="1600">
                <a:solidFill>
                  <a:schemeClr val="dk1"/>
                </a:solidFill>
              </a:rPr>
              <a:t>(6'h14, 32'hDEAD_BEEF, 2, 3, </a:t>
            </a:r>
            <a:r>
              <a:rPr b="1" lang="en" sz="1600">
                <a:solidFill>
                  <a:schemeClr val="dk1"/>
                </a:solidFill>
              </a:rPr>
              <a:t>"read with delays"</a:t>
            </a:r>
            <a:r>
              <a:rPr lang="en" sz="1600">
                <a:solidFill>
                  <a:schemeClr val="dk1"/>
                </a:solidFill>
              </a:rPr>
              <a:t>);</a:t>
            </a:r>
            <a:endParaRPr sz="22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4: Read With Delays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verifies that the bridge correctly converts an Avalon-MM read request into an AXI4-Lite read transaction while handling delayed address and data responses.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test drives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avs_read=1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one clock cycle with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avs_address=0x14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ar_delay=2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testbench delays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m_axi_arready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two clock cycles, so the bridge must keep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m_axi_arvalid=1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m_axi_araddr=0x14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stable until the AR handshake occurs.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the address is accepted,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r_delay=3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delays the read data response, so the bridge must assert and hold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m_axi_rready=1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while waiting for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m_axi_rvalid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testbench returns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m_axi_rdata=0xDEAD_BEEF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m_axi_rvalid=1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bridge outputs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avs_readdata=0xDEAD_BEEF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asserts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avs_readdatavalid=1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exactly one clock cycle, then returns to idle. </a:t>
            </a:r>
            <a:endParaRPr sz="4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0" name="Google Shape;84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66700"/>
            <a:ext cx="6386400" cy="4882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5" name="Google Shape;845;p46"/>
          <p:cNvGrpSpPr/>
          <p:nvPr/>
        </p:nvGrpSpPr>
        <p:grpSpPr>
          <a:xfrm>
            <a:off x="-4762" y="-6"/>
            <a:ext cx="12197919" cy="984711"/>
            <a:chOff x="-4762" y="-6"/>
            <a:chExt cx="12197919" cy="984711"/>
          </a:xfrm>
        </p:grpSpPr>
        <p:pic>
          <p:nvPicPr>
            <p:cNvPr id="846" name="Google Shape;846;p46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7" name="Google Shape;847;p46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46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9" name="Google Shape;849;p46"/>
            <p:cNvGrpSpPr/>
            <p:nvPr/>
          </p:nvGrpSpPr>
          <p:grpSpPr>
            <a:xfrm>
              <a:off x="4477020" y="263617"/>
              <a:ext cx="3238090" cy="721088"/>
              <a:chOff x="4276725" y="109041"/>
              <a:chExt cx="3638700" cy="810300"/>
            </a:xfrm>
          </p:grpSpPr>
          <p:pic>
            <p:nvPicPr>
              <p:cNvPr id="850" name="Google Shape;850;p46"/>
              <p:cNvPicPr preferRelativeResize="0"/>
              <p:nvPr/>
            </p:nvPicPr>
            <p:blipFill rotWithShape="1">
              <a:blip r:embed="rId5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51" name="Google Shape;851;p46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852" name="Google Shape;852;p46"/>
              <p:cNvPicPr preferRelativeResize="0"/>
              <p:nvPr/>
            </p:nvPicPr>
            <p:blipFill rotWithShape="1">
              <a:blip r:embed="rId6">
                <a:alphaModFix/>
              </a:blip>
              <a:srcRect b="-26163" l="0" r="-26263" t="76"/>
              <a:stretch/>
            </p:blipFill>
            <p:spPr>
              <a:xfrm>
                <a:off x="5604843" y="109041"/>
                <a:ext cx="979500" cy="81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853" name="Google Shape;853;p46"/>
          <p:cNvSpPr txBox="1"/>
          <p:nvPr/>
        </p:nvSpPr>
        <p:spPr>
          <a:xfrm>
            <a:off x="476250" y="904875"/>
            <a:ext cx="1123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Coverage Report &amp; Synthesis Analysis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54" name="Google Shape;854;p46"/>
          <p:cNvGrpSpPr/>
          <p:nvPr/>
        </p:nvGrpSpPr>
        <p:grpSpPr>
          <a:xfrm>
            <a:off x="476250" y="1619250"/>
            <a:ext cx="3429000" cy="4333800"/>
            <a:chOff x="0" y="0"/>
            <a:chExt cx="3429000" cy="4333800"/>
          </a:xfrm>
        </p:grpSpPr>
        <p:sp>
          <p:nvSpPr>
            <p:cNvPr id="855" name="Google Shape;855;p46"/>
            <p:cNvSpPr/>
            <p:nvPr/>
          </p:nvSpPr>
          <p:spPr>
            <a:xfrm>
              <a:off x="0" y="0"/>
              <a:ext cx="3429000" cy="43338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46"/>
            <p:cNvSpPr/>
            <p:nvPr/>
          </p:nvSpPr>
          <p:spPr>
            <a:xfrm>
              <a:off x="0" y="0"/>
              <a:ext cx="3429000" cy="428700"/>
            </a:xfrm>
            <a:custGeom>
              <a:rect b="b" l="l" r="r" t="t"/>
              <a:pathLst>
                <a:path extrusionOk="0" h="120000" w="120000">
                  <a:moveTo>
                    <a:pt x="0" y="32000"/>
                  </a:moveTo>
                  <a:cubicBezTo>
                    <a:pt x="0" y="14327"/>
                    <a:pt x="1791" y="0"/>
                    <a:pt x="4000" y="0"/>
                  </a:cubicBezTo>
                  <a:lnTo>
                    <a:pt x="116000" y="0"/>
                  </a:lnTo>
                  <a:cubicBezTo>
                    <a:pt x="118209" y="0"/>
                    <a:pt x="120000" y="14327"/>
                    <a:pt x="120000" y="32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46"/>
            <p:cNvSpPr txBox="1"/>
            <p:nvPr/>
          </p:nvSpPr>
          <p:spPr>
            <a:xfrm>
              <a:off x="0" y="0"/>
              <a:ext cx="3429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SYNTHESIS &amp; COVERAGE OVERVIEW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46"/>
            <p:cNvSpPr txBox="1"/>
            <p:nvPr/>
          </p:nvSpPr>
          <p:spPr>
            <a:xfrm>
              <a:off x="190500" y="619125"/>
              <a:ext cx="30480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Vivado Simulator Analysis</a:t>
              </a:r>
              <a:endParaRPr b="1" sz="1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" sz="19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Standalone target RTL modules achieved </a:t>
              </a:r>
              <a:r>
                <a:rPr b="1" lang="en" sz="19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100% statement and branch coverage</a:t>
              </a:r>
              <a:r>
                <a:rPr lang="en" sz="19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sz="19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" sz="19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</a:t>
              </a:r>
              <a:r>
                <a:rPr b="1" lang="en" sz="17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tb_avalon_axi4lite_bridge</a:t>
              </a:r>
              <a:r>
                <a:rPr lang="en" sz="19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report hit </a:t>
              </a:r>
              <a:r>
                <a:rPr b="1" lang="en" sz="19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98.75% Statement</a:t>
              </a:r>
              <a:r>
                <a:rPr lang="en" sz="19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and </a:t>
              </a:r>
              <a:r>
                <a:rPr b="1" lang="en" sz="19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92.86% Branch</a:t>
              </a:r>
              <a:r>
                <a:rPr lang="en" sz="19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coverage.</a:t>
              </a:r>
              <a:endParaRPr sz="19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t/>
              </a:r>
              <a:endParaRPr sz="12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59" name="Google Shape;859;p46"/>
          <p:cNvSpPr/>
          <p:nvPr/>
        </p:nvSpPr>
        <p:spPr>
          <a:xfrm>
            <a:off x="4095750" y="1619250"/>
            <a:ext cx="7620000" cy="4333800"/>
          </a:xfrm>
          <a:prstGeom prst="roundRect">
            <a:avLst>
              <a:gd fmla="val 2637" name="adj"/>
            </a:avLst>
          </a:prstGeom>
          <a:solidFill>
            <a:srgbClr val="FFFFFF"/>
          </a:solidFill>
          <a:ln cap="flat" cmpd="sng" w="19050">
            <a:solidFill>
              <a:srgbClr val="43B6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46"/>
          <p:cNvSpPr/>
          <p:nvPr/>
        </p:nvSpPr>
        <p:spPr>
          <a:xfrm>
            <a:off x="4095750" y="1619250"/>
            <a:ext cx="7620000" cy="428700"/>
          </a:xfrm>
          <a:custGeom>
            <a:rect b="b" l="l" r="r" t="t"/>
            <a:pathLst>
              <a:path extrusionOk="0" h="120000" w="120000">
                <a:moveTo>
                  <a:pt x="0" y="32000"/>
                </a:moveTo>
                <a:cubicBezTo>
                  <a:pt x="0" y="14327"/>
                  <a:pt x="806" y="0"/>
                  <a:pt x="1800" y="0"/>
                </a:cubicBezTo>
                <a:lnTo>
                  <a:pt x="118200" y="0"/>
                </a:lnTo>
                <a:cubicBezTo>
                  <a:pt x="119194" y="0"/>
                  <a:pt x="120000" y="14327"/>
                  <a:pt x="120000" y="32000"/>
                </a:cubicBez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562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46"/>
          <p:cNvSpPr/>
          <p:nvPr/>
        </p:nvSpPr>
        <p:spPr>
          <a:xfrm>
            <a:off x="4105275" y="3333750"/>
            <a:ext cx="7601100" cy="1285800"/>
          </a:xfrm>
          <a:prstGeom prst="rect">
            <a:avLst/>
          </a:prstGeom>
          <a:solidFill>
            <a:srgbClr val="E6F4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2" name="Google Shape;862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1738" y="2047875"/>
            <a:ext cx="9600" cy="390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" name="Google Shape;863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48738" y="2047875"/>
            <a:ext cx="9600" cy="390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4" name="Google Shape;864;p46"/>
          <p:cNvCxnSpPr/>
          <p:nvPr/>
        </p:nvCxnSpPr>
        <p:spPr>
          <a:xfrm>
            <a:off x="4095750" y="2047875"/>
            <a:ext cx="76200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43B6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5" name="Google Shape;865;p46"/>
          <p:cNvCxnSpPr/>
          <p:nvPr/>
        </p:nvCxnSpPr>
        <p:spPr>
          <a:xfrm>
            <a:off x="4095750" y="3333750"/>
            <a:ext cx="7620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6" name="Google Shape;866;p46"/>
          <p:cNvCxnSpPr/>
          <p:nvPr/>
        </p:nvCxnSpPr>
        <p:spPr>
          <a:xfrm>
            <a:off x="4095750" y="4619625"/>
            <a:ext cx="7620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7" name="Google Shape;867;p46"/>
          <p:cNvSpPr txBox="1"/>
          <p:nvPr/>
        </p:nvSpPr>
        <p:spPr>
          <a:xfrm>
            <a:off x="4286250" y="1619250"/>
            <a:ext cx="18096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 MODULE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46"/>
          <p:cNvSpPr txBox="1"/>
          <p:nvPr/>
        </p:nvSpPr>
        <p:spPr>
          <a:xfrm>
            <a:off x="6477000" y="1619250"/>
            <a:ext cx="2286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TESTBENCH REPORT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46"/>
          <p:cNvSpPr txBox="1"/>
          <p:nvPr/>
        </p:nvSpPr>
        <p:spPr>
          <a:xfrm>
            <a:off x="9144000" y="1619250"/>
            <a:ext cx="2381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RTL STANDALONE TARGET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46"/>
          <p:cNvSpPr txBox="1"/>
          <p:nvPr/>
        </p:nvSpPr>
        <p:spPr>
          <a:xfrm>
            <a:off x="4286250" y="2047875"/>
            <a:ext cx="18096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rPr>
              <a:t>axi_register_bank</a:t>
            </a:r>
            <a:endParaRPr b="1" sz="1250">
              <a:solidFill>
                <a:srgbClr val="0562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71" name="Google Shape;871;p46"/>
          <p:cNvGraphicFramePr/>
          <p:nvPr/>
        </p:nvGraphicFramePr>
        <p:xfrm>
          <a:off x="6477000" y="204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{25467813-AE3C-4626-B8AB-363680384C72}</a:tableStyleId>
              </a:tblPr>
              <a:tblGrid>
                <a:gridCol w="1143000"/>
                <a:gridCol w="1143000"/>
              </a:tblGrid>
              <a:tr h="6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Statement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98.46%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Branch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91.30%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Condition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777777"/>
                          </a:solidFill>
                        </a:rPr>
                        <a:t>0%</a:t>
                      </a:r>
                      <a:endParaRPr b="1" sz="1400">
                        <a:solidFill>
                          <a:srgbClr val="777777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Toggle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00000"/>
                          </a:solidFill>
                        </a:rPr>
                        <a:t>30.93%</a:t>
                      </a:r>
                      <a:endParaRPr b="1" sz="1400">
                        <a:solidFill>
                          <a:srgbClr val="000000"/>
                        </a:solidFill>
                      </a:endParaRPr>
                    </a:p>
                  </a:txBody>
                  <a:tcPr marT="47625" marB="47625" marR="0" marL="0"/>
                </a:tc>
              </a:tr>
            </a:tbl>
          </a:graphicData>
        </a:graphic>
      </p:graphicFrame>
      <p:graphicFrame>
        <p:nvGraphicFramePr>
          <p:cNvPr id="872" name="Google Shape;872;p46"/>
          <p:cNvGraphicFramePr/>
          <p:nvPr/>
        </p:nvGraphicFramePr>
        <p:xfrm>
          <a:off x="9144000" y="204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{25467813-AE3C-4626-B8AB-363680384C72}</a:tableStyleId>
              </a:tblPr>
              <a:tblGrid>
                <a:gridCol w="1190625"/>
                <a:gridCol w="1190625"/>
              </a:tblGrid>
              <a:tr h="6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Statement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Branch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Condition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777777"/>
                          </a:solidFill>
                        </a:rPr>
                        <a:t>0%</a:t>
                      </a:r>
                      <a:endParaRPr b="1" sz="1400">
                        <a:solidFill>
                          <a:srgbClr val="777777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Toggle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00000"/>
                          </a:solidFill>
                        </a:rPr>
                        <a:t>44.73%</a:t>
                      </a:r>
                      <a:endParaRPr b="1" sz="1400">
                        <a:solidFill>
                          <a:srgbClr val="000000"/>
                        </a:solidFill>
                      </a:endParaRPr>
                    </a:p>
                  </a:txBody>
                  <a:tcPr marT="47625" marB="47625" marR="0" marL="0"/>
                </a:tc>
              </a:tr>
            </a:tbl>
          </a:graphicData>
        </a:graphic>
      </p:graphicFrame>
      <p:sp>
        <p:nvSpPr>
          <p:cNvPr id="873" name="Google Shape;873;p46"/>
          <p:cNvSpPr txBox="1"/>
          <p:nvPr/>
        </p:nvSpPr>
        <p:spPr>
          <a:xfrm>
            <a:off x="4286250" y="3333750"/>
            <a:ext cx="18096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rPr>
              <a:t>axi4lite_slave</a:t>
            </a:r>
            <a:endParaRPr b="1" sz="1250">
              <a:solidFill>
                <a:srgbClr val="0562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74" name="Google Shape;874;p46"/>
          <p:cNvGraphicFramePr/>
          <p:nvPr/>
        </p:nvGraphicFramePr>
        <p:xfrm>
          <a:off x="6477000" y="3333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{25467813-AE3C-4626-B8AB-363680384C72}</a:tableStyleId>
              </a:tblPr>
              <a:tblGrid>
                <a:gridCol w="1143000"/>
                <a:gridCol w="1143000"/>
              </a:tblGrid>
              <a:tr h="6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Statement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98.61%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Branch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90.48%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Condition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777777"/>
                          </a:solidFill>
                        </a:rPr>
                        <a:t>0%</a:t>
                      </a:r>
                      <a:endParaRPr b="1" sz="1400">
                        <a:solidFill>
                          <a:srgbClr val="777777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Toggle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00000"/>
                          </a:solidFill>
                        </a:rPr>
                        <a:t>15.30%</a:t>
                      </a:r>
                      <a:endParaRPr b="1" sz="1400">
                        <a:solidFill>
                          <a:srgbClr val="000000"/>
                        </a:solidFill>
                      </a:endParaRPr>
                    </a:p>
                  </a:txBody>
                  <a:tcPr marT="47625" marB="47625" marR="0" marL="0"/>
                </a:tc>
              </a:tr>
            </a:tbl>
          </a:graphicData>
        </a:graphic>
      </p:graphicFrame>
      <p:graphicFrame>
        <p:nvGraphicFramePr>
          <p:cNvPr id="875" name="Google Shape;875;p46"/>
          <p:cNvGraphicFramePr/>
          <p:nvPr/>
        </p:nvGraphicFramePr>
        <p:xfrm>
          <a:off x="9144000" y="3333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{25467813-AE3C-4626-B8AB-363680384C72}</a:tableStyleId>
              </a:tblPr>
              <a:tblGrid>
                <a:gridCol w="1190625"/>
                <a:gridCol w="1190625"/>
              </a:tblGrid>
              <a:tr h="6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Statement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Branch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Condition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777777"/>
                          </a:solidFill>
                        </a:rPr>
                        <a:t>0%</a:t>
                      </a:r>
                      <a:endParaRPr b="1" sz="1400">
                        <a:solidFill>
                          <a:srgbClr val="777777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Toggle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15.69%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</a:tr>
            </a:tbl>
          </a:graphicData>
        </a:graphic>
      </p:graphicFrame>
      <p:sp>
        <p:nvSpPr>
          <p:cNvPr id="876" name="Google Shape;876;p46"/>
          <p:cNvSpPr txBox="1"/>
          <p:nvPr/>
        </p:nvSpPr>
        <p:spPr>
          <a:xfrm>
            <a:off x="4286250" y="4619625"/>
            <a:ext cx="18096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rPr>
              <a:t>avalon_axi4lite_bridge</a:t>
            </a:r>
            <a:endParaRPr b="1" sz="1250">
              <a:solidFill>
                <a:srgbClr val="0562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77" name="Google Shape;877;p46"/>
          <p:cNvGraphicFramePr/>
          <p:nvPr/>
        </p:nvGraphicFramePr>
        <p:xfrm>
          <a:off x="6477000" y="461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{25467813-AE3C-4626-B8AB-363680384C72}</a:tableStyleId>
              </a:tblPr>
              <a:tblGrid>
                <a:gridCol w="1143000"/>
                <a:gridCol w="1143000"/>
              </a:tblGrid>
              <a:tr h="66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Statement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98.75%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Branch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92.86%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Condition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00000"/>
                          </a:solidFill>
                        </a:rPr>
                        <a:t>52.38%</a:t>
                      </a:r>
                      <a:endParaRPr b="1" sz="1400">
                        <a:solidFill>
                          <a:srgbClr val="000000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Toggle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00000"/>
                          </a:solidFill>
                        </a:rPr>
                        <a:t>20.73%</a:t>
                      </a:r>
                      <a:endParaRPr b="1" sz="1400">
                        <a:solidFill>
                          <a:srgbClr val="000000"/>
                        </a:solidFill>
                      </a:endParaRPr>
                    </a:p>
                  </a:txBody>
                  <a:tcPr marT="47625" marB="47625" marR="0" marL="0"/>
                </a:tc>
              </a:tr>
            </a:tbl>
          </a:graphicData>
        </a:graphic>
      </p:graphicFrame>
      <p:graphicFrame>
        <p:nvGraphicFramePr>
          <p:cNvPr id="878" name="Google Shape;878;p46"/>
          <p:cNvGraphicFramePr/>
          <p:nvPr/>
        </p:nvGraphicFramePr>
        <p:xfrm>
          <a:off x="9144000" y="461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{25467813-AE3C-4626-B8AB-363680384C72}</a:tableStyleId>
              </a:tblPr>
              <a:tblGrid>
                <a:gridCol w="1190625"/>
                <a:gridCol w="1190625"/>
              </a:tblGrid>
              <a:tr h="66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Statement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Branch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Condition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Toggle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00000"/>
                          </a:solidFill>
                        </a:rPr>
                        <a:t>29.92%</a:t>
                      </a:r>
                      <a:endParaRPr b="1" sz="1400">
                        <a:solidFill>
                          <a:srgbClr val="000000"/>
                        </a:solidFill>
                      </a:endParaRPr>
                    </a:p>
                  </a:txBody>
                  <a:tcPr marT="47625" marB="47625" marR="0" marL="0"/>
                </a:tc>
              </a:tr>
            </a:tbl>
          </a:graphicData>
        </a:graphic>
      </p:graphicFrame>
      <p:grpSp>
        <p:nvGrpSpPr>
          <p:cNvPr id="879" name="Google Shape;879;p46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880" name="Google Shape;880;p46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81" name="Google Shape;881;p46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882" name="Google Shape;882;p46"/>
              <p:cNvPicPr preferRelativeResize="0"/>
              <p:nvPr/>
            </p:nvPicPr>
            <p:blipFill rotWithShape="1">
              <a:blip r:embed="rId8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3" name="Google Shape;883;p46"/>
              <p:cNvPicPr preferRelativeResize="0"/>
              <p:nvPr/>
            </p:nvPicPr>
            <p:blipFill rotWithShape="1">
              <a:blip r:embed="rId9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84" name="Google Shape;884;p46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5" name="Google Shape;885;p46"/>
          <p:cNvSpPr txBox="1"/>
          <p:nvPr/>
        </p:nvSpPr>
        <p:spPr>
          <a:xfrm>
            <a:off x="476250" y="6356347"/>
            <a:ext cx="428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Vivado Simulator Coverage Report 2023.1, 17/07/2026</a:t>
            </a:r>
            <a:endParaRPr b="0" sz="11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0" name="Google Shape;890;p47"/>
          <p:cNvGrpSpPr/>
          <p:nvPr/>
        </p:nvGrpSpPr>
        <p:grpSpPr>
          <a:xfrm>
            <a:off x="523875" y="904875"/>
            <a:ext cx="11144400" cy="857400"/>
            <a:chOff x="0" y="0"/>
            <a:chExt cx="11144400" cy="857400"/>
          </a:xfrm>
        </p:grpSpPr>
        <p:sp>
          <p:nvSpPr>
            <p:cNvPr id="891" name="Google Shape;891;p47"/>
            <p:cNvSpPr/>
            <p:nvPr/>
          </p:nvSpPr>
          <p:spPr>
            <a:xfrm>
              <a:off x="0" y="0"/>
              <a:ext cx="111444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47"/>
            <p:cNvSpPr txBox="1"/>
            <p:nvPr/>
          </p:nvSpPr>
          <p:spPr>
            <a:xfrm>
              <a:off x="0" y="0"/>
              <a:ext cx="11144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8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FPGA Implementation &amp; Platform Integration</a:t>
              </a:r>
              <a:endParaRPr b="1" i="0" sz="2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1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Cyclone IV E platform target and Qsys system design integration</a:t>
              </a:r>
              <a:endParaRPr b="1" i="0" sz="1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93" name="Google Shape;893;p47"/>
          <p:cNvSpPr/>
          <p:nvPr>
            <p:ph idx="2" type="pic"/>
          </p:nvPr>
        </p:nvSpPr>
        <p:spPr>
          <a:xfrm>
            <a:off x="-4762" y="0"/>
            <a:ext cx="12196800" cy="633300"/>
          </a:xfrm>
          <a:prstGeom prst="rect">
            <a:avLst/>
          </a:prstGeom>
          <a:noFill/>
          <a:ln>
            <a:noFill/>
          </a:ln>
        </p:spPr>
      </p:sp>
      <p:sp>
        <p:nvSpPr>
          <p:cNvPr id="894" name="Google Shape;894;p47"/>
          <p:cNvSpPr/>
          <p:nvPr/>
        </p:nvSpPr>
        <p:spPr>
          <a:xfrm flipH="1" rot="-5400000">
            <a:off x="5780206" y="-5781456"/>
            <a:ext cx="631500" cy="121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47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47"/>
          <p:cNvSpPr/>
          <p:nvPr>
            <p:ph idx="3" type="pic"/>
          </p:nvPr>
        </p:nvSpPr>
        <p:spPr>
          <a:xfrm>
            <a:off x="4477020" y="302202"/>
            <a:ext cx="3238090" cy="644201"/>
          </a:xfrm>
          <a:prstGeom prst="rect">
            <a:avLst/>
          </a:prstGeom>
          <a:noFill/>
          <a:ln>
            <a:noFill/>
          </a:ln>
        </p:spPr>
      </p:sp>
      <p:sp>
        <p:nvSpPr>
          <p:cNvPr id="897" name="Google Shape;897;p47"/>
          <p:cNvSpPr/>
          <p:nvPr/>
        </p:nvSpPr>
        <p:spPr>
          <a:xfrm>
            <a:off x="4538304" y="357311"/>
            <a:ext cx="3115283" cy="534476"/>
          </a:xfrm>
          <a:prstGeom prst="roundRect">
            <a:avLst>
              <a:gd fmla="val 3959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47"/>
          <p:cNvSpPr/>
          <p:nvPr>
            <p:ph idx="4" type="pic"/>
          </p:nvPr>
        </p:nvSpPr>
        <p:spPr>
          <a:xfrm>
            <a:off x="5658917" y="263617"/>
            <a:ext cx="871660" cy="721088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899" name="Google Shape;899;p47"/>
          <p:cNvGrpSpPr/>
          <p:nvPr/>
        </p:nvGrpSpPr>
        <p:grpSpPr>
          <a:xfrm>
            <a:off x="523875" y="1857375"/>
            <a:ext cx="2571900" cy="4000500"/>
            <a:chOff x="0" y="0"/>
            <a:chExt cx="2571900" cy="4000500"/>
          </a:xfrm>
        </p:grpSpPr>
        <p:sp>
          <p:nvSpPr>
            <p:cNvPr id="900" name="Google Shape;900;p47"/>
            <p:cNvSpPr/>
            <p:nvPr/>
          </p:nvSpPr>
          <p:spPr>
            <a:xfrm>
              <a:off x="0" y="0"/>
              <a:ext cx="2571900" cy="4000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47"/>
            <p:cNvSpPr/>
            <p:nvPr/>
          </p:nvSpPr>
          <p:spPr>
            <a:xfrm>
              <a:off x="190500" y="238125"/>
              <a:ext cx="571500" cy="47700"/>
            </a:xfrm>
            <a:prstGeom prst="roundRect">
              <a:avLst>
                <a:gd fmla="val 50000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47"/>
            <p:cNvSpPr txBox="1"/>
            <p:nvPr/>
          </p:nvSpPr>
          <p:spPr>
            <a:xfrm>
              <a:off x="190500" y="428625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FPGA Platform</a:t>
              </a:r>
              <a:endParaRPr b="1" sz="1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03" name="Google Shape;903;p47"/>
            <p:cNvCxnSpPr/>
            <p:nvPr/>
          </p:nvCxnSpPr>
          <p:spPr>
            <a:xfrm>
              <a:off x="190500" y="1000125"/>
              <a:ext cx="21909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6F4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04" name="Google Shape;904;p47"/>
            <p:cNvSpPr txBox="1"/>
            <p:nvPr/>
          </p:nvSpPr>
          <p:spPr>
            <a:xfrm>
              <a:off x="190500" y="1143000"/>
              <a:ext cx="2190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PLATFORM FAMILY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Cyclone IV E</a:t>
              </a:r>
              <a:endParaRPr b="1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TARGET ROLE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Low-power, low-cost system design and hardware verification prototyping.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SUPPORTED TOOLCHAIN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Quartus Prime design software integration.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05" name="Google Shape;905;p47"/>
          <p:cNvGrpSpPr/>
          <p:nvPr/>
        </p:nvGrpSpPr>
        <p:grpSpPr>
          <a:xfrm>
            <a:off x="3381375" y="1857375"/>
            <a:ext cx="2571900" cy="4000500"/>
            <a:chOff x="0" y="0"/>
            <a:chExt cx="2571900" cy="4000500"/>
          </a:xfrm>
        </p:grpSpPr>
        <p:sp>
          <p:nvSpPr>
            <p:cNvPr id="906" name="Google Shape;906;p47"/>
            <p:cNvSpPr/>
            <p:nvPr/>
          </p:nvSpPr>
          <p:spPr>
            <a:xfrm>
              <a:off x="0" y="0"/>
              <a:ext cx="2571900" cy="4000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47"/>
            <p:cNvSpPr/>
            <p:nvPr/>
          </p:nvSpPr>
          <p:spPr>
            <a:xfrm>
              <a:off x="190500" y="238125"/>
              <a:ext cx="571500" cy="47700"/>
            </a:xfrm>
            <a:prstGeom prst="roundRect">
              <a:avLst>
                <a:gd fmla="val 50000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47"/>
            <p:cNvSpPr txBox="1"/>
            <p:nvPr/>
          </p:nvSpPr>
          <p:spPr>
            <a:xfrm>
              <a:off x="190500" y="428625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Target Device</a:t>
              </a:r>
              <a:endParaRPr b="1" sz="1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09" name="Google Shape;909;p47"/>
            <p:cNvCxnSpPr/>
            <p:nvPr/>
          </p:nvCxnSpPr>
          <p:spPr>
            <a:xfrm>
              <a:off x="190500" y="1000125"/>
              <a:ext cx="21909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6F4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10" name="Google Shape;910;p47"/>
            <p:cNvSpPr txBox="1"/>
            <p:nvPr/>
          </p:nvSpPr>
          <p:spPr>
            <a:xfrm>
              <a:off x="190500" y="1143000"/>
              <a:ext cx="2190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DEVICE PART NUMBER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EP4CE22F17C6</a:t>
              </a:r>
              <a:endParaRPr b="1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HARDWARE RESOURCES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22,320 Logic Elements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154 M9K Memory Blocks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75 Embedded Multipliers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153 Max User I/O Pins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11" name="Google Shape;911;p47"/>
          <p:cNvGrpSpPr/>
          <p:nvPr/>
        </p:nvGrpSpPr>
        <p:grpSpPr>
          <a:xfrm>
            <a:off x="6238875" y="1857375"/>
            <a:ext cx="2571900" cy="4000500"/>
            <a:chOff x="0" y="0"/>
            <a:chExt cx="2571900" cy="4000500"/>
          </a:xfrm>
        </p:grpSpPr>
        <p:sp>
          <p:nvSpPr>
            <p:cNvPr id="912" name="Google Shape;912;p47"/>
            <p:cNvSpPr/>
            <p:nvPr/>
          </p:nvSpPr>
          <p:spPr>
            <a:xfrm>
              <a:off x="0" y="0"/>
              <a:ext cx="2571900" cy="4000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47"/>
            <p:cNvSpPr/>
            <p:nvPr/>
          </p:nvSpPr>
          <p:spPr>
            <a:xfrm>
              <a:off x="190500" y="238125"/>
              <a:ext cx="571500" cy="47700"/>
            </a:xfrm>
            <a:prstGeom prst="roundRect">
              <a:avLst>
                <a:gd fmla="val 50000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47"/>
            <p:cNvSpPr txBox="1"/>
            <p:nvPr/>
          </p:nvSpPr>
          <p:spPr>
            <a:xfrm>
              <a:off x="190500" y="428625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Top Entity &amp; Clock</a:t>
              </a:r>
              <a:endParaRPr b="1" sz="1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15" name="Google Shape;915;p47"/>
            <p:cNvCxnSpPr/>
            <p:nvPr/>
          </p:nvCxnSpPr>
          <p:spPr>
            <a:xfrm>
              <a:off x="190500" y="1000125"/>
              <a:ext cx="21909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6F4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16" name="Google Shape;916;p47"/>
            <p:cNvSpPr txBox="1"/>
            <p:nvPr/>
          </p:nvSpPr>
          <p:spPr>
            <a:xfrm>
              <a:off x="190500" y="1143000"/>
              <a:ext cx="2190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DESIGN TOP ENTITY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AXI_LITE_RESEARCH</a:t>
              </a:r>
              <a:endParaRPr b="1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SYSTEM CLOCK CONFIG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Signal: </a:t>
              </a:r>
              <a:r>
                <a:rPr b="1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CLOCK_50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FPGA Pin: </a:t>
              </a:r>
              <a:r>
                <a:rPr b="1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Pin R8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Frequency: 50 MHz input reference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17" name="Google Shape;917;p47"/>
          <p:cNvGrpSpPr/>
          <p:nvPr/>
        </p:nvGrpSpPr>
        <p:grpSpPr>
          <a:xfrm>
            <a:off x="9096375" y="1857375"/>
            <a:ext cx="2571900" cy="4000500"/>
            <a:chOff x="0" y="0"/>
            <a:chExt cx="2571900" cy="4000500"/>
          </a:xfrm>
        </p:grpSpPr>
        <p:sp>
          <p:nvSpPr>
            <p:cNvPr id="918" name="Google Shape;918;p47"/>
            <p:cNvSpPr/>
            <p:nvPr/>
          </p:nvSpPr>
          <p:spPr>
            <a:xfrm>
              <a:off x="0" y="0"/>
              <a:ext cx="2571900" cy="4000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47"/>
            <p:cNvSpPr/>
            <p:nvPr/>
          </p:nvSpPr>
          <p:spPr>
            <a:xfrm>
              <a:off x="190500" y="238125"/>
              <a:ext cx="571500" cy="47700"/>
            </a:xfrm>
            <a:prstGeom prst="roundRect">
              <a:avLst>
                <a:gd fmla="val 50000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47"/>
            <p:cNvSpPr txBox="1"/>
            <p:nvPr/>
          </p:nvSpPr>
          <p:spPr>
            <a:xfrm>
              <a:off x="190500" y="428625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IP &amp; Integration</a:t>
              </a:r>
              <a:endParaRPr b="1" sz="1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21" name="Google Shape;921;p47"/>
            <p:cNvCxnSpPr/>
            <p:nvPr/>
          </p:nvCxnSpPr>
          <p:spPr>
            <a:xfrm>
              <a:off x="190500" y="1000125"/>
              <a:ext cx="21909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6F4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22" name="Google Shape;922;p47"/>
            <p:cNvSpPr txBox="1"/>
            <p:nvPr/>
          </p:nvSpPr>
          <p:spPr>
            <a:xfrm>
              <a:off x="190500" y="1143000"/>
              <a:ext cx="2190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IP PACKAGING</a:t>
              </a:r>
              <a:endParaRPr b="0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Platform Designer IP packaged via </a:t>
              </a:r>
              <a:r>
                <a:rPr b="1" lang="en" sz="11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ALU_AXI4_LITE_hw.tcl</a:t>
              </a:r>
              <a:r>
                <a:rPr b="0" lang="en" sz="1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incorporating all </a:t>
              </a:r>
              <a:r>
                <a:rPr b="1" lang="en" sz="13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RTL files</a:t>
              </a:r>
              <a:r>
                <a:rPr b="0" lang="en" sz="1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b="0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QSYS SYSTEM CONFIG</a:t>
              </a:r>
              <a:endParaRPr b="0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System generation configuration path:</a:t>
              </a:r>
              <a:endParaRPr b="0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quartus/system.qsys</a:t>
              </a:r>
              <a:endParaRPr b="1" sz="110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3" name="Google Shape;923;p47"/>
          <p:cNvSpPr/>
          <p:nvPr/>
        </p:nvSpPr>
        <p:spPr>
          <a:xfrm>
            <a:off x="0" y="1425"/>
            <a:ext cx="12194400" cy="6863700"/>
          </a:xfrm>
          <a:custGeom>
            <a:rect b="b" l="l" r="r" t="t"/>
            <a:pathLst>
              <a:path extrusionOk="0" h="120000" w="120000">
                <a:moveTo>
                  <a:pt x="0" y="115362"/>
                </a:moveTo>
                <a:cubicBezTo>
                  <a:pt x="0" y="117896"/>
                  <a:pt x="1156" y="119951"/>
                  <a:pt x="2583" y="119951"/>
                </a:cubicBezTo>
                <a:lnTo>
                  <a:pt x="117419" y="119951"/>
                </a:lnTo>
                <a:cubicBezTo>
                  <a:pt x="118843" y="119951"/>
                  <a:pt x="120000" y="117896"/>
                  <a:pt x="120000" y="115362"/>
                </a:cubicBezTo>
                <a:lnTo>
                  <a:pt x="120000" y="120000"/>
                </a:lnTo>
                <a:lnTo>
                  <a:pt x="0" y="12000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4638"/>
                </a:lnTo>
                <a:cubicBezTo>
                  <a:pt x="120000" y="2104"/>
                  <a:pt x="118843" y="49"/>
                  <a:pt x="117419" y="49"/>
                </a:cubicBezTo>
                <a:lnTo>
                  <a:pt x="2583" y="49"/>
                </a:lnTo>
                <a:cubicBezTo>
                  <a:pt x="1156" y="49"/>
                  <a:pt x="0" y="2104"/>
                  <a:pt x="0" y="463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47"/>
          <p:cNvSpPr/>
          <p:nvPr>
            <p:ph idx="5" type="pic"/>
          </p:nvPr>
        </p:nvSpPr>
        <p:spPr>
          <a:xfrm>
            <a:off x="11503192" y="6266643"/>
            <a:ext cx="547839" cy="552553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47"/>
          <p:cNvSpPr/>
          <p:nvPr>
            <p:ph idx="6" type="pic"/>
          </p:nvPr>
        </p:nvSpPr>
        <p:spPr>
          <a:xfrm>
            <a:off x="11650831" y="6419043"/>
            <a:ext cx="252538" cy="247487"/>
          </a:xfrm>
          <a:prstGeom prst="rect">
            <a:avLst/>
          </a:prstGeom>
          <a:noFill/>
          <a:ln>
            <a:noFill/>
          </a:ln>
        </p:spPr>
      </p:sp>
      <p:sp>
        <p:nvSpPr>
          <p:cNvPr id="926" name="Google Shape;926;p47"/>
          <p:cNvSpPr txBox="1"/>
          <p:nvPr/>
        </p:nvSpPr>
        <p:spPr>
          <a:xfrm>
            <a:off x="4038600" y="6356347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Copyrights 2026 CE-UIT. All Rights Reserved.</a:t>
            </a:r>
            <a:endParaRPr b="0"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7" name="Google Shape;927;p47"/>
          <p:cNvGrpSpPr/>
          <p:nvPr/>
        </p:nvGrpSpPr>
        <p:grpSpPr>
          <a:xfrm>
            <a:off x="-4762" y="-6"/>
            <a:ext cx="12197919" cy="946406"/>
            <a:chOff x="-4762" y="-6"/>
            <a:chExt cx="12197919" cy="946406"/>
          </a:xfrm>
        </p:grpSpPr>
        <p:pic>
          <p:nvPicPr>
            <p:cNvPr id="928" name="Google Shape;928;p47"/>
            <p:cNvPicPr preferRelativeResize="0"/>
            <p:nvPr/>
          </p:nvPicPr>
          <p:blipFill rotWithShape="1">
            <a:blip r:embed="rId3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9" name="Google Shape;929;p47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30" name="Google Shape;930;p47"/>
            <p:cNvGrpSpPr/>
            <p:nvPr/>
          </p:nvGrpSpPr>
          <p:grpSpPr>
            <a:xfrm>
              <a:off x="240281" y="141423"/>
              <a:ext cx="2916000" cy="338700"/>
              <a:chOff x="0" y="0"/>
              <a:chExt cx="2916000" cy="338700"/>
            </a:xfrm>
          </p:grpSpPr>
          <p:sp>
            <p:nvSpPr>
              <p:cNvPr id="931" name="Google Shape;931;p47"/>
              <p:cNvSpPr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47"/>
              <p:cNvSpPr txBox="1"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KHOA KỸ THUẬT MÁY TÍNH</a:t>
                </a:r>
                <a:endParaRPr b="1" i="0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3" name="Google Shape;933;p47"/>
            <p:cNvGrpSpPr/>
            <p:nvPr/>
          </p:nvGrpSpPr>
          <p:grpSpPr>
            <a:xfrm>
              <a:off x="4477007" y="263617"/>
              <a:ext cx="3238079" cy="682784"/>
              <a:chOff x="4276725" y="109041"/>
              <a:chExt cx="3638700" cy="767259"/>
            </a:xfrm>
          </p:grpSpPr>
          <p:pic>
            <p:nvPicPr>
              <p:cNvPr id="934" name="Google Shape;934;p47"/>
              <p:cNvPicPr preferRelativeResize="0"/>
              <p:nvPr/>
            </p:nvPicPr>
            <p:blipFill rotWithShape="1">
              <a:blip r:embed="rId4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35" name="Google Shape;935;p47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936" name="Google Shape;936;p47"/>
              <p:cNvPicPr preferRelativeResize="0"/>
              <p:nvPr/>
            </p:nvPicPr>
            <p:blipFill rotWithShape="1">
              <a:blip r:embed="rId5">
                <a:alphaModFix/>
              </a:blip>
              <a:srcRect b="-12260" l="0" r="-12372" t="90"/>
              <a:stretch/>
            </p:blipFill>
            <p:spPr>
              <a:xfrm>
                <a:off x="5604843" y="10904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1" name="Google Shape;941;p48" title="Untitled Diagram.drawi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300" y="194525"/>
            <a:ext cx="9956326" cy="6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48"/>
          <p:cNvSpPr txBox="1"/>
          <p:nvPr/>
        </p:nvSpPr>
        <p:spPr>
          <a:xfrm>
            <a:off x="10121800" y="60800"/>
            <a:ext cx="20154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ASM&amp; Result</a:t>
            </a:r>
            <a:endParaRPr b="1" sz="24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43" name="Google Shape;943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5100" y="1474500"/>
            <a:ext cx="5286975" cy="165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8" name="Google Shape;948;p49"/>
          <p:cNvGrpSpPr/>
          <p:nvPr/>
        </p:nvGrpSpPr>
        <p:grpSpPr>
          <a:xfrm>
            <a:off x="-4762" y="-6"/>
            <a:ext cx="12197919" cy="891792"/>
            <a:chOff x="-4762" y="-6"/>
            <a:chExt cx="12197919" cy="891792"/>
          </a:xfrm>
        </p:grpSpPr>
        <p:pic>
          <p:nvPicPr>
            <p:cNvPr id="949" name="Google Shape;949;p49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0" name="Google Shape;950;p49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49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2" name="Google Shape;952;p49"/>
            <p:cNvGrpSpPr/>
            <p:nvPr/>
          </p:nvGrpSpPr>
          <p:grpSpPr>
            <a:xfrm>
              <a:off x="4477020" y="263617"/>
              <a:ext cx="3176567" cy="628170"/>
              <a:chOff x="4276725" y="109041"/>
              <a:chExt cx="3569566" cy="705886"/>
            </a:xfrm>
          </p:grpSpPr>
          <p:pic>
            <p:nvPicPr>
              <p:cNvPr id="953" name="Google Shape;953;p4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276725" y="152400"/>
                <a:ext cx="3238200" cy="644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4" name="Google Shape;954;p49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955" name="Google Shape;955;p49"/>
              <p:cNvPicPr preferRelativeResize="0"/>
              <p:nvPr/>
            </p:nvPicPr>
            <p:blipFill rotWithShape="1">
              <a:blip r:embed="rId6">
                <a:alphaModFix/>
              </a:blip>
              <a:srcRect b="-80" l="0" r="10" t="80"/>
              <a:stretch/>
            </p:blipFill>
            <p:spPr>
              <a:xfrm>
                <a:off x="5604843" y="109041"/>
                <a:ext cx="775800" cy="642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956" name="Google Shape;956;p49"/>
          <p:cNvGrpSpPr/>
          <p:nvPr/>
        </p:nvGrpSpPr>
        <p:grpSpPr>
          <a:xfrm>
            <a:off x="0" y="1425"/>
            <a:ext cx="12194400" cy="6885450"/>
            <a:chOff x="0" y="1425"/>
            <a:chExt cx="12194400" cy="6885450"/>
          </a:xfrm>
        </p:grpSpPr>
        <p:sp>
          <p:nvSpPr>
            <p:cNvPr id="957" name="Google Shape;957;p49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58" name="Google Shape;958;p49"/>
            <p:cNvGrpSpPr/>
            <p:nvPr/>
          </p:nvGrpSpPr>
          <p:grpSpPr>
            <a:xfrm>
              <a:off x="11503192" y="6266643"/>
              <a:ext cx="614845" cy="620233"/>
              <a:chOff x="11077575" y="194161"/>
              <a:chExt cx="547800" cy="552600"/>
            </a:xfrm>
          </p:grpSpPr>
          <p:pic>
            <p:nvPicPr>
              <p:cNvPr id="959" name="Google Shape;959;p49"/>
              <p:cNvPicPr preferRelativeResize="0"/>
              <p:nvPr/>
            </p:nvPicPr>
            <p:blipFill rotWithShape="1">
              <a:blip r:embed="rId7">
                <a:alphaModFix/>
              </a:blip>
              <a:srcRect b="10" l="0" r="0" t="0"/>
              <a:stretch/>
            </p:blipFill>
            <p:spPr>
              <a:xfrm>
                <a:off x="11077575" y="194161"/>
                <a:ext cx="547800" cy="552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60" name="Google Shape;960;p49"/>
              <p:cNvPicPr preferRelativeResize="0"/>
              <p:nvPr/>
            </p:nvPicPr>
            <p:blipFill rotWithShape="1">
              <a:blip r:embed="rId8">
                <a:alphaModFix/>
              </a:blip>
              <a:srcRect b="60" l="0" r="0" t="60"/>
              <a:stretch/>
            </p:blipFill>
            <p:spPr>
              <a:xfrm>
                <a:off x="11209115" y="329943"/>
                <a:ext cx="252600" cy="247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61" name="Google Shape;961;p49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2" name="Google Shape;962;p49"/>
          <p:cNvSpPr txBox="1"/>
          <p:nvPr/>
        </p:nvSpPr>
        <p:spPr>
          <a:xfrm>
            <a:off x="476250" y="1047750"/>
            <a:ext cx="1123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Future Outlook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63" name="Google Shape;963;p49"/>
          <p:cNvGrpSpPr/>
          <p:nvPr/>
        </p:nvGrpSpPr>
        <p:grpSpPr>
          <a:xfrm>
            <a:off x="476250" y="1857375"/>
            <a:ext cx="5334000" cy="4000500"/>
            <a:chOff x="0" y="0"/>
            <a:chExt cx="5334000" cy="4000500"/>
          </a:xfrm>
        </p:grpSpPr>
        <p:sp>
          <p:nvSpPr>
            <p:cNvPr id="964" name="Google Shape;964;p49"/>
            <p:cNvSpPr/>
            <p:nvPr/>
          </p:nvSpPr>
          <p:spPr>
            <a:xfrm>
              <a:off x="0" y="0"/>
              <a:ext cx="5334000" cy="40005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49"/>
            <p:cNvSpPr txBox="1"/>
            <p:nvPr/>
          </p:nvSpPr>
          <p:spPr>
            <a:xfrm>
              <a:off x="285750" y="238125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Project Achievements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66" name="Google Shape;966;p49"/>
            <p:cNvCxnSpPr/>
            <p:nvPr/>
          </p:nvCxnSpPr>
          <p:spPr>
            <a:xfrm>
              <a:off x="285750" y="714375"/>
              <a:ext cx="47625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67" name="Google Shape;967;p49"/>
            <p:cNvSpPr txBox="1"/>
            <p:nvPr/>
          </p:nvSpPr>
          <p:spPr>
            <a:xfrm>
              <a:off x="285750" y="904875"/>
              <a:ext cx="4762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5250" spcFirstLastPara="1" rIns="0" wrap="square" tIns="0">
              <a:noAutofit/>
            </a:bodyPr>
            <a:lstStyle/>
            <a:p>
              <a:pPr indent="-3270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Successfully verified register behavior, AXI4-Lite compliance, and Avalon-to-AXI translation.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70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Robust testbenches uncovered boundary corner cases.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70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Standalone RTL blocks scored 100% in branch and statement coverage.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8" name="Google Shape;968;p49"/>
            <p:cNvSpPr/>
            <p:nvPr/>
          </p:nvSpPr>
          <p:spPr>
            <a:xfrm>
              <a:off x="381000" y="3143250"/>
              <a:ext cx="571500" cy="571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76200">
              <a:solidFill>
                <a:srgbClr val="E6F4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69" name="Google Shape;969;p4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42900" y="3105150"/>
              <a:ext cx="647700" cy="64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0" name="Google Shape;970;p49"/>
            <p:cNvSpPr txBox="1"/>
            <p:nvPr/>
          </p:nvSpPr>
          <p:spPr>
            <a:xfrm>
              <a:off x="381000" y="314325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100%</a:t>
              </a:r>
              <a:endParaRPr b="1" sz="13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1" name="Google Shape;971;p49"/>
            <p:cNvSpPr txBox="1"/>
            <p:nvPr/>
          </p:nvSpPr>
          <p:spPr>
            <a:xfrm>
              <a:off x="1095375" y="3095625"/>
              <a:ext cx="3952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RTL Coverage Achieved</a:t>
              </a:r>
              <a:endParaRPr b="1" sz="13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Branch &amp; statement standalone block results</a:t>
              </a:r>
              <a:endParaRPr b="0"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2" name="Google Shape;972;p49"/>
          <p:cNvGrpSpPr/>
          <p:nvPr/>
        </p:nvGrpSpPr>
        <p:grpSpPr>
          <a:xfrm>
            <a:off x="6381750" y="1857375"/>
            <a:ext cx="5334000" cy="4000500"/>
            <a:chOff x="0" y="0"/>
            <a:chExt cx="5334000" cy="4000500"/>
          </a:xfrm>
        </p:grpSpPr>
        <p:sp>
          <p:nvSpPr>
            <p:cNvPr id="973" name="Google Shape;973;p49"/>
            <p:cNvSpPr/>
            <p:nvPr/>
          </p:nvSpPr>
          <p:spPr>
            <a:xfrm>
              <a:off x="0" y="0"/>
              <a:ext cx="5334000" cy="40005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49"/>
            <p:cNvSpPr txBox="1"/>
            <p:nvPr/>
          </p:nvSpPr>
          <p:spPr>
            <a:xfrm>
              <a:off x="285750" y="238125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Future Enhancements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75" name="Google Shape;975;p49"/>
            <p:cNvCxnSpPr/>
            <p:nvPr/>
          </p:nvCxnSpPr>
          <p:spPr>
            <a:xfrm>
              <a:off x="285750" y="714375"/>
              <a:ext cx="47625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76" name="Google Shape;976;p49"/>
            <p:cNvSpPr txBox="1"/>
            <p:nvPr/>
          </p:nvSpPr>
          <p:spPr>
            <a:xfrm>
              <a:off x="285750" y="904875"/>
              <a:ext cx="4762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5250" spcFirstLastPara="1" rIns="0" wrap="square" tIns="0">
              <a:noAutofit/>
            </a:bodyPr>
            <a:lstStyle/>
            <a:p>
              <a:pPr indent="-3270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Implement end-to-end transaction testing for </a:t>
              </a: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avalon_axi4lite_alu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702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 standalone ALU core coverage.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702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Develop functional coverage (covergroups) for transitions.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702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Assert AXI handshake stability.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7" name="Google Shape;977;p49"/>
            <p:cNvSpPr/>
            <p:nvPr/>
          </p:nvSpPr>
          <p:spPr>
            <a:xfrm>
              <a:off x="381000" y="3143250"/>
              <a:ext cx="571500" cy="571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76200">
              <a:solidFill>
                <a:srgbClr val="E6F4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78" name="Google Shape;978;p4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42900" y="3105150"/>
              <a:ext cx="647700" cy="64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9" name="Google Shape;979;p49"/>
            <p:cNvSpPr txBox="1"/>
            <p:nvPr/>
          </p:nvSpPr>
          <p:spPr>
            <a:xfrm>
              <a:off x="381000" y="314325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04</a:t>
              </a:r>
              <a:endParaRPr b="1" sz="13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0" name="Google Shape;980;p49"/>
            <p:cNvSpPr txBox="1"/>
            <p:nvPr/>
          </p:nvSpPr>
          <p:spPr>
            <a:xfrm>
              <a:off x="1095375" y="3095625"/>
              <a:ext cx="3952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Objectives Defined</a:t>
              </a:r>
              <a:endParaRPr b="1" sz="13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Next phase verification roadmap</a:t>
              </a:r>
              <a:endParaRPr b="0"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5" name="Google Shape;985;p50"/>
          <p:cNvGrpSpPr/>
          <p:nvPr/>
        </p:nvGrpSpPr>
        <p:grpSpPr>
          <a:xfrm>
            <a:off x="-4762" y="-6"/>
            <a:ext cx="12197919" cy="891790"/>
            <a:chOff x="-4762" y="-6"/>
            <a:chExt cx="12197919" cy="891790"/>
          </a:xfrm>
        </p:grpSpPr>
        <p:pic>
          <p:nvPicPr>
            <p:cNvPr id="986" name="Google Shape;986;p50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7" name="Google Shape;987;p50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50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9" name="Google Shape;989;p50"/>
            <p:cNvGrpSpPr/>
            <p:nvPr/>
          </p:nvGrpSpPr>
          <p:grpSpPr>
            <a:xfrm>
              <a:off x="4477007" y="263617"/>
              <a:ext cx="3176557" cy="628168"/>
              <a:chOff x="4276725" y="109041"/>
              <a:chExt cx="3569566" cy="705886"/>
            </a:xfrm>
          </p:grpSpPr>
          <p:pic>
            <p:nvPicPr>
              <p:cNvPr id="990" name="Google Shape;990;p5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276725" y="152400"/>
                <a:ext cx="3238200" cy="644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91" name="Google Shape;991;p50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992" name="Google Shape;992;p50"/>
              <p:cNvPicPr preferRelativeResize="0"/>
              <p:nvPr/>
            </p:nvPicPr>
            <p:blipFill rotWithShape="1">
              <a:blip r:embed="rId6">
                <a:alphaModFix/>
              </a:blip>
              <a:srcRect b="-80" l="0" r="10" t="80"/>
              <a:stretch/>
            </p:blipFill>
            <p:spPr>
              <a:xfrm>
                <a:off x="5604843" y="109041"/>
                <a:ext cx="775800" cy="642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993" name="Google Shape;993;p50"/>
          <p:cNvGrpSpPr/>
          <p:nvPr/>
        </p:nvGrpSpPr>
        <p:grpSpPr>
          <a:xfrm>
            <a:off x="0" y="1425"/>
            <a:ext cx="12194400" cy="6885458"/>
            <a:chOff x="0" y="1425"/>
            <a:chExt cx="12194400" cy="6885458"/>
          </a:xfrm>
        </p:grpSpPr>
        <p:sp>
          <p:nvSpPr>
            <p:cNvPr id="994" name="Google Shape;994;p50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95" name="Google Shape;995;p50"/>
            <p:cNvGrpSpPr/>
            <p:nvPr/>
          </p:nvGrpSpPr>
          <p:grpSpPr>
            <a:xfrm>
              <a:off x="11503302" y="6266645"/>
              <a:ext cx="614851" cy="620238"/>
              <a:chOff x="11077575" y="194161"/>
              <a:chExt cx="547800" cy="552600"/>
            </a:xfrm>
          </p:grpSpPr>
          <p:pic>
            <p:nvPicPr>
              <p:cNvPr id="996" name="Google Shape;996;p50"/>
              <p:cNvPicPr preferRelativeResize="0"/>
              <p:nvPr/>
            </p:nvPicPr>
            <p:blipFill rotWithShape="1">
              <a:blip r:embed="rId7">
                <a:alphaModFix/>
              </a:blip>
              <a:srcRect b="10" l="0" r="0" t="0"/>
              <a:stretch/>
            </p:blipFill>
            <p:spPr>
              <a:xfrm>
                <a:off x="11077575" y="194161"/>
                <a:ext cx="547800" cy="552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97" name="Google Shape;997;p50"/>
              <p:cNvPicPr preferRelativeResize="0"/>
              <p:nvPr/>
            </p:nvPicPr>
            <p:blipFill rotWithShape="1">
              <a:blip r:embed="rId8">
                <a:alphaModFix/>
              </a:blip>
              <a:srcRect b="60" l="0" r="0" t="60"/>
              <a:stretch/>
            </p:blipFill>
            <p:spPr>
              <a:xfrm>
                <a:off x="11209115" y="329943"/>
                <a:ext cx="252600" cy="247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98" name="Google Shape;998;p50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9" name="Google Shape;999;p50"/>
          <p:cNvSpPr txBox="1"/>
          <p:nvPr/>
        </p:nvSpPr>
        <p:spPr>
          <a:xfrm>
            <a:off x="476250" y="1047750"/>
            <a:ext cx="1123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r>
              <a:rPr lang="en" sz="1100">
                <a:solidFill>
                  <a:srgbClr val="05624A"/>
                </a:solidFill>
              </a:rPr>
              <a:t> 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0" name="Google Shape;1000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4850" y="1718600"/>
            <a:ext cx="11700898" cy="3968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