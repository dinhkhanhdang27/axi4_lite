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3F48517-7848-405E-B573-682A14E346C8}">
  <a:tblStyle styleId="{13F48517-7848-405E-B573-682A14E346C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slide" Target="slides/slide37.xml"/><Relationship Id="rId21" Type="http://schemas.openxmlformats.org/officeDocument/2006/relationships/slide" Target="slides/slide14.xml"/><Relationship Id="rId43" Type="http://schemas.openxmlformats.org/officeDocument/2006/relationships/slide" Target="slides/slide36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f55e48d58c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f55e48d58c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55e48d58c_4_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g3f55e48d58c_4_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55e48d58c_4_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55e48d58c_4_2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g3f55e48d58c_4_2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f55e48d58c_4_2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55e48d58c_4_50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3f55e48d58c_4_50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f55e48d58c_4_50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55e48d58c_4_6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g3f55e48d58c_4_6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3f55e48d58c_4_6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55e48d58c_4_8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g3f55e48d58c_4_8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f55e48d58c_4_8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f55e48d58c_4_103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g3f55e48d58c_4_103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3f55e48d58c_4_103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55e48d58c_4_131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g3f55e48d58c_4_131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g3f55e48d58c_4_131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f55e48d58c_4_156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3f55e48d58c_4_156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f55e48d58c_4_156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55e48d58c_4_178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g3f55e48d58c_4_178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55e48d58c_4_178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55e48d58c_4_214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7" name="Google Shape;467;g3f55e48d58c_4_214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f55e48d58c_4_214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f934f53a9f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f934f53a9f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5584babc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3f5584babc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934f53a9f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f934f53a9f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934f53a9f_1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f934f53a9f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934f53a9f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3f934f53a9f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f934f53a9f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3f934f53a9f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3f934f53a9f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3f934f53a9f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f934f53a9f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3f934f53a9f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f934f53a9f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3f934f53a9f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f934f53a9f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f934f53a9f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f5584babc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f5584babc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3f5584babc9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3f5584babc9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g3f5584babc9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5" name="Google Shape;985;g3f5584babc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f5584babc9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f5584babc9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3f934f53a9f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3f934f53a9f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f55e48d58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3f55e48d58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f55e48d58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3f55e48d58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f55e48d58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f55e48d58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f55e48d58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3f55e48d58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3f55e48d58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3f55e48d58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f55e48d58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f55e48d58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3f934f53a9f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3f934f53a9f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f934f53a9f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f934f53a9f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f55e48d58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3f55e48d58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3f934f53a9f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3f934f53a9f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f55e48d58c_4_242:notes"/>
          <p:cNvSpPr/>
          <p:nvPr>
            <p:ph idx="2" type="sldImg"/>
          </p:nvPr>
        </p:nvSpPr>
        <p:spPr>
          <a:xfrm>
            <a:off x="0" y="0"/>
            <a:ext cx="2250000" cy="225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3" name="Google Shape;1263;g3f55e48d58c_4_242:notes"/>
          <p:cNvSpPr txBox="1"/>
          <p:nvPr>
            <p:ph idx="1" type="body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g3f55e48d58c_4_242:notes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934f53a9f_7_0)">
  <p:cSld name="Generated (g3f934f53a9f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57.png"/><Relationship Id="rId8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png"/><Relationship Id="rId4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7.png"/><Relationship Id="rId4" Type="http://schemas.openxmlformats.org/officeDocument/2006/relationships/image" Target="../media/image5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6.png"/><Relationship Id="rId4" Type="http://schemas.openxmlformats.org/officeDocument/2006/relationships/image" Target="../media/image71.png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53.png"/><Relationship Id="rId13" Type="http://schemas.openxmlformats.org/officeDocument/2006/relationships/image" Target="../media/image8.png"/><Relationship Id="rId1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49.png"/><Relationship Id="rId1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94.png"/><Relationship Id="rId8" Type="http://schemas.openxmlformats.org/officeDocument/2006/relationships/image" Target="../media/image8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Relationship Id="rId6" Type="http://schemas.openxmlformats.org/officeDocument/2006/relationships/image" Target="../media/image8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77.png"/><Relationship Id="rId8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2.png"/><Relationship Id="rId4" Type="http://schemas.openxmlformats.org/officeDocument/2006/relationships/image" Target="../media/image89.png"/></Relationships>
</file>

<file path=ppt/slides/_rels/slide36.xml.rels><?xml version="1.0" encoding="UTF-8" standalone="yes"?><Relationships xmlns="http://schemas.openxmlformats.org/package/2006/relationships"><Relationship Id="rId10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81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6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58" name="Google Shape;58;p16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" name="Google Shape;59;p16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60" name="Google Shape;60;p16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" name="Google Shape;61;p16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2" name="Google Shape;62;p16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" name="Google Shape;63;p16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64" name="Google Shape;64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16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6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" name="Google Shape;67;p16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68" name="Google Shape;68;p16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16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" name="Google Shape;70;p16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71" name="Google Shape;71;p16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2" name="Google Shape;72;p16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3" name="Google Shape;73;p16"/>
              <p:cNvPicPr preferRelativeResize="0"/>
              <p:nvPr/>
            </p:nvPicPr>
            <p:blipFill rotWithShape="1">
              <a:blip r:embed="rId8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4" name="Google Shape;74;p16"/>
          <p:cNvGrpSpPr/>
          <p:nvPr/>
        </p:nvGrpSpPr>
        <p:grpSpPr>
          <a:xfrm>
            <a:off x="1714500" y="1143000"/>
            <a:ext cx="8953500" cy="2476500"/>
            <a:chOff x="1714500" y="1143000"/>
            <a:chExt cx="8953500" cy="2476500"/>
          </a:xfrm>
        </p:grpSpPr>
        <p:sp>
          <p:nvSpPr>
            <p:cNvPr id="75" name="Google Shape;75;p16"/>
            <p:cNvSpPr/>
            <p:nvPr/>
          </p:nvSpPr>
          <p:spPr>
            <a:xfrm>
              <a:off x="1714500" y="1333500"/>
              <a:ext cx="8953500" cy="2286000"/>
            </a:xfrm>
            <a:prstGeom prst="roundRect">
              <a:avLst>
                <a:gd fmla="val 3537" name="adj"/>
              </a:avLst>
            </a:prstGeom>
            <a:solidFill>
              <a:srgbClr val="FFFFFF"/>
            </a:solidFill>
            <a:ln cap="flat" cmpd="sng" w="254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6"/>
            <p:cNvSpPr txBox="1"/>
            <p:nvPr/>
          </p:nvSpPr>
          <p:spPr>
            <a:xfrm>
              <a:off x="1905000" y="1524000"/>
              <a:ext cx="8572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Intern Project</a:t>
              </a:r>
              <a:r>
                <a:rPr b="1" lang="en" sz="2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Research AXI4-Lite then integrated into Soc</a:t>
              </a:r>
              <a:endParaRPr b="1" sz="2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Đinh Khánh Đăng - Phạm Chí Đạt</a:t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https://github.com/DinhKhanhDang27/AXI4_LITE</a:t>
              </a:r>
              <a:endParaRPr b="1" i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7" name="Google Shape;77;p16"/>
            <p:cNvGrpSpPr/>
            <p:nvPr/>
          </p:nvGrpSpPr>
          <p:grpSpPr>
            <a:xfrm>
              <a:off x="5143500" y="1143000"/>
              <a:ext cx="2095500" cy="381000"/>
              <a:chOff x="0" y="0"/>
              <a:chExt cx="2095500" cy="381000"/>
            </a:xfrm>
          </p:grpSpPr>
          <p:sp>
            <p:nvSpPr>
              <p:cNvPr id="78" name="Google Shape;78;p16"/>
              <p:cNvSpPr/>
              <p:nvPr/>
            </p:nvSpPr>
            <p:spPr>
              <a:xfrm>
                <a:off x="0" y="0"/>
                <a:ext cx="2095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6"/>
              <p:cNvSpPr txBox="1"/>
              <p:nvPr/>
            </p:nvSpPr>
            <p:spPr>
              <a:xfrm>
                <a:off x="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INTERN PROJECT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0" name="Google Shape;80;p16"/>
          <p:cNvGrpSpPr/>
          <p:nvPr/>
        </p:nvGrpSpPr>
        <p:grpSpPr>
          <a:xfrm>
            <a:off x="1809750" y="4000500"/>
            <a:ext cx="6572250" cy="857400"/>
            <a:chOff x="1809750" y="4000500"/>
            <a:chExt cx="6572250" cy="857400"/>
          </a:xfrm>
        </p:grpSpPr>
        <p:grpSp>
          <p:nvGrpSpPr>
            <p:cNvPr id="81" name="Google Shape;81;p16"/>
            <p:cNvGrpSpPr/>
            <p:nvPr/>
          </p:nvGrpSpPr>
          <p:grpSpPr>
            <a:xfrm>
              <a:off x="1809750" y="4076700"/>
              <a:ext cx="6429300" cy="685725"/>
              <a:chOff x="95250" y="76200"/>
              <a:chExt cx="6429300" cy="685725"/>
            </a:xfrm>
          </p:grpSpPr>
          <p:sp>
            <p:nvSpPr>
              <p:cNvPr id="82" name="Google Shape;82;p16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6"/>
              <p:cNvSpPr txBox="1"/>
              <p:nvPr/>
            </p:nvSpPr>
            <p:spPr>
              <a:xfrm>
                <a:off x="4714950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RTL Design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4" name="Google Shape;84;p16"/>
            <p:cNvGrpSpPr/>
            <p:nvPr/>
          </p:nvGrpSpPr>
          <p:grpSpPr>
            <a:xfrm>
              <a:off x="4000500" y="4000500"/>
              <a:ext cx="2095500" cy="857400"/>
              <a:chOff x="0" y="0"/>
              <a:chExt cx="2095500" cy="857400"/>
            </a:xfrm>
          </p:grpSpPr>
          <p:sp>
            <p:nvSpPr>
              <p:cNvPr id="85" name="Google Shape;85;p16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16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6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Theoretical part</a:t>
                </a:r>
                <a:endParaRPr b="1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8" name="Google Shape;88;p16"/>
            <p:cNvGrpSpPr/>
            <p:nvPr/>
          </p:nvGrpSpPr>
          <p:grpSpPr>
            <a:xfrm>
              <a:off x="6286500" y="4000500"/>
              <a:ext cx="2095500" cy="857400"/>
              <a:chOff x="0" y="0"/>
              <a:chExt cx="2095500" cy="857400"/>
            </a:xfrm>
          </p:grpSpPr>
          <p:sp>
            <p:nvSpPr>
              <p:cNvPr id="89" name="Google Shape;89;p16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6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Vivado Code Coverage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1" name="Google Shape;91;p16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2" name="Google Shape;92;p16"/>
          <p:cNvSpPr txBox="1"/>
          <p:nvPr/>
        </p:nvSpPr>
        <p:spPr>
          <a:xfrm>
            <a:off x="6429450" y="4238625"/>
            <a:ext cx="18096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Project</a:t>
            </a:r>
            <a:endParaRPr b="1" sz="19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731520" y="960120"/>
            <a:ext cx="7132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3400"/>
              <a:buFont typeface="Times New Roman"/>
              <a:buNone/>
            </a:pPr>
            <a:r>
              <a:rPr b="1" i="0" lang="en" sz="3400" u="none" cap="none" strike="noStrike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 INTRODUCTION</a:t>
            </a:r>
            <a:endParaRPr b="0" i="0" sz="3400" u="none" cap="none" strike="noStrike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768096" y="162763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800"/>
              <a:buFont typeface="Times New Roman"/>
              <a:buNone/>
            </a:pPr>
            <a:r>
              <a:rPr b="0" i="1" lang="en" sz="1800" u="none" cap="none" strike="noStrike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simple control interface in Arm’s AMBA 4 family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768096" y="3799768"/>
            <a:ext cx="695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1362455" y="3772336"/>
            <a:ext cx="25306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3191255" y="3772336"/>
            <a:ext cx="657976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Times New Roman"/>
              <a:buNone/>
            </a:pPr>
            <a:r>
              <a:rPr b="0" i="0" lang="en" sz="1800" u="none" cap="none" strike="noStrike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 of the AMBA specifications developed and published by Arm.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68096" y="4476424"/>
            <a:ext cx="695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1362455" y="4448992"/>
            <a:ext cx="25306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Release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191255" y="4448992"/>
            <a:ext cx="657976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Times New Roman"/>
              <a:buNone/>
            </a:pPr>
            <a:r>
              <a:rPr b="0" i="0" lang="en" sz="1800" u="none" cap="none" strike="noStrike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 appeared in AMBA 4 Phase One, announced in March 2010.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68096" y="5153080"/>
            <a:ext cx="6959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1362455" y="5125648"/>
            <a:ext cx="25306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b="1" i="0" lang="en" sz="1800" u="none" cap="none" strike="noStrike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191255" y="5125648"/>
            <a:ext cx="657976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Font typeface="Times New Roman"/>
              <a:buNone/>
            </a:pPr>
            <a:r>
              <a:rPr b="0" i="0" lang="en" sz="1800" u="none" cap="none" strike="noStrike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Connects a CPU/host to control and status registers inside an IP block.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9" name="Google Shape;109;p17"/>
          <p:cNvCxnSpPr/>
          <p:nvPr/>
        </p:nvCxnSpPr>
        <p:spPr>
          <a:xfrm>
            <a:off x="658368" y="6291072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17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b="0" i="0" lang="en" sz="800" u="none" cap="none" strike="noStrike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b="0" i="0" lang="en" sz="800" u="none" cap="none" strike="noStrike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b="0" i="0" sz="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658368" y="2075687"/>
            <a:ext cx="59375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Repared by: Phạm Chí Đạt – Đinh Khánh Đăng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3" name="Google Shape;113;p17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114" name="Google Shape;114;p17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5" name="Google Shape;115;p17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116" name="Google Shape;116;p17"/>
              <p:cNvPicPr preferRelativeResize="0"/>
              <p:nvPr/>
            </p:nvPicPr>
            <p:blipFill rotWithShape="1">
              <a:blip r:embed="rId3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7" name="Google Shape;117;p17"/>
              <p:cNvPicPr preferRelativeResize="0"/>
              <p:nvPr/>
            </p:nvPicPr>
            <p:blipFill rotWithShape="1">
              <a:blip r:embed="rId4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8" name="Google Shape;118;p17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120" name="Google Shape;120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7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" name="Google Shape;123;p17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124" name="Google Shape;124;p17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7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17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127" name="Google Shape;127;p17"/>
              <p:cNvPicPr preferRelativeResize="0"/>
              <p:nvPr/>
            </p:nvPicPr>
            <p:blipFill rotWithShape="1">
              <a:blip r:embed="rId6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8" name="Google Shape;128;p17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9" name="Google Shape;129;p17"/>
              <p:cNvPicPr preferRelativeResize="0"/>
              <p:nvPr/>
            </p:nvPicPr>
            <p:blipFill rotWithShape="1">
              <a:blip r:embed="rId7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V4d3BxkaQVnDD1xcuyKgPHmK/aaf26c3248f94b2bb107d2d639d3b92f/mnt/data/uit_unzip/ppt/media/image2.png" id="135" name="Google Shape;135;p18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972800" y="512064"/>
            <a:ext cx="4572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Times New Roman"/>
              <a:buNone/>
            </a:pPr>
            <a:r>
              <a:rPr lang="en" sz="12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594343" y="868700"/>
            <a:ext cx="937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Times New Roman"/>
              <a:buNone/>
            </a:pPr>
            <a:r>
              <a:rPr b="1" lang="en" sz="28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AMBA to AXI4-Lite</a:t>
            </a:r>
            <a:endParaRPr sz="280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9" name="Google Shape;139;p18"/>
          <p:cNvCxnSpPr/>
          <p:nvPr/>
        </p:nvCxnSpPr>
        <p:spPr>
          <a:xfrm>
            <a:off x="658368" y="6291072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18"/>
          <p:cNvSpPr/>
          <p:nvPr/>
        </p:nvSpPr>
        <p:spPr>
          <a:xfrm>
            <a:off x="868680" y="1920240"/>
            <a:ext cx="411480" cy="411480"/>
          </a:xfrm>
          <a:prstGeom prst="ellipse">
            <a:avLst/>
          </a:prstGeom>
          <a:solidFill>
            <a:srgbClr val="245AA5"/>
          </a:solidFill>
          <a:ln cap="flat" cmpd="sng" w="12700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18"/>
          <p:cNvCxnSpPr/>
          <p:nvPr/>
        </p:nvCxnSpPr>
        <p:spPr>
          <a:xfrm>
            <a:off x="1371600" y="2125980"/>
            <a:ext cx="1993392" cy="0"/>
          </a:xfrm>
          <a:prstGeom prst="straightConnector1">
            <a:avLst/>
          </a:prstGeom>
          <a:noFill/>
          <a:ln cap="flat" cmpd="sng" w="152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2" name="Google Shape;142;p18"/>
          <p:cNvSpPr/>
          <p:nvPr/>
        </p:nvSpPr>
        <p:spPr>
          <a:xfrm>
            <a:off x="640080" y="25420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AMBA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594360" y="2971800"/>
            <a:ext cx="2057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80"/>
              <a:buFont typeface="Times New Roman"/>
              <a:buNone/>
            </a:pPr>
            <a:r>
              <a:rPr lang="en" sz="128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Microcontroller Bus Architecture: a family of on-chip SoC interface protocols.</a:t>
            </a:r>
            <a:endParaRPr sz="12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3520440" y="1920240"/>
            <a:ext cx="411480" cy="411480"/>
          </a:xfrm>
          <a:prstGeom prst="ellipse">
            <a:avLst/>
          </a:prstGeom>
          <a:solidFill>
            <a:srgbClr val="245AA5"/>
          </a:solidFill>
          <a:ln cap="flat" cmpd="sng" w="12700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18"/>
          <p:cNvCxnSpPr/>
          <p:nvPr/>
        </p:nvCxnSpPr>
        <p:spPr>
          <a:xfrm>
            <a:off x="4023360" y="2125980"/>
            <a:ext cx="1993392" cy="0"/>
          </a:xfrm>
          <a:prstGeom prst="straightConnector1">
            <a:avLst/>
          </a:prstGeom>
          <a:noFill/>
          <a:ln cap="flat" cmpd="sng" w="152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18"/>
          <p:cNvSpPr/>
          <p:nvPr/>
        </p:nvSpPr>
        <p:spPr>
          <a:xfrm>
            <a:off x="3291840" y="25420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2003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246120" y="2971800"/>
            <a:ext cx="2057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80"/>
              <a:buFont typeface="Times New Roman"/>
              <a:buNone/>
            </a:pPr>
            <a:r>
              <a:rPr lang="en" sz="128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AMBA 3 introduced AXI, later commonly referred to as AXI3.</a:t>
            </a:r>
            <a:endParaRPr sz="12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172200" y="1920240"/>
            <a:ext cx="411480" cy="411480"/>
          </a:xfrm>
          <a:prstGeom prst="ellipse">
            <a:avLst/>
          </a:prstGeom>
          <a:solidFill>
            <a:srgbClr val="245AA5"/>
          </a:solidFill>
          <a:ln cap="flat" cmpd="sng" w="12700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" name="Google Shape;149;p18"/>
          <p:cNvCxnSpPr/>
          <p:nvPr/>
        </p:nvCxnSpPr>
        <p:spPr>
          <a:xfrm>
            <a:off x="6675120" y="2125980"/>
            <a:ext cx="1993392" cy="0"/>
          </a:xfrm>
          <a:prstGeom prst="straightConnector1">
            <a:avLst/>
          </a:prstGeom>
          <a:noFill/>
          <a:ln cap="flat" cmpd="sng" w="152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18"/>
          <p:cNvSpPr/>
          <p:nvPr/>
        </p:nvSpPr>
        <p:spPr>
          <a:xfrm>
            <a:off x="5943600" y="25420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 2010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897880" y="2971800"/>
            <a:ext cx="2057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80"/>
              <a:buFont typeface="Times New Roman"/>
              <a:buNone/>
            </a:pPr>
            <a:r>
              <a:rPr lang="en" sz="128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 announced AMBA 4 Phase One, including AXI4, AXI4-Lite, and AXI4-Stream.</a:t>
            </a:r>
            <a:endParaRPr sz="12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8823960" y="1920240"/>
            <a:ext cx="411480" cy="411480"/>
          </a:xfrm>
          <a:prstGeom prst="ellipse">
            <a:avLst/>
          </a:prstGeom>
          <a:solidFill>
            <a:srgbClr val="245AA5"/>
          </a:solidFill>
          <a:ln cap="flat" cmpd="sng" w="12700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8595360" y="254203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8549640" y="2971800"/>
            <a:ext cx="2057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80"/>
              <a:buFont typeface="Times New Roman"/>
              <a:buNone/>
            </a:pPr>
            <a:r>
              <a:rPr lang="en" sz="128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lightweight AXI4 branch for control registers, reducing protocol and wiring complexity.</a:t>
            </a:r>
            <a:endParaRPr sz="12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960120" y="4736592"/>
            <a:ext cx="9326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E75"/>
              </a:buClr>
              <a:buSzPts val="1550"/>
              <a:buFont typeface="Times New Roman"/>
              <a:buNone/>
            </a:pPr>
            <a:r>
              <a:rPr b="1" lang="en" sz="1550">
                <a:solidFill>
                  <a:srgbClr val="153E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idea: AXI4-Lite is not a high-throughput data bus. It is the standard “control path” used by software to configure IP, read status, and control operation.</a:t>
            </a:r>
            <a:endParaRPr sz="1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8" name="Google Shape;158;p18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159" name="Google Shape;159;p18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0" name="Google Shape;160;p18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161" name="Google Shape;161;p18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2" name="Google Shape;162;p18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3" name="Google Shape;163;p18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" name="Google Shape;164;p18"/>
          <p:cNvGrpSpPr/>
          <p:nvPr/>
        </p:nvGrpSpPr>
        <p:grpSpPr>
          <a:xfrm>
            <a:off x="-399352" y="0"/>
            <a:ext cx="12454347" cy="6858000"/>
            <a:chOff x="-31245" y="0"/>
            <a:chExt cx="12085732" cy="6858000"/>
          </a:xfrm>
        </p:grpSpPr>
        <p:pic>
          <p:nvPicPr>
            <p:cNvPr id="165" name="Google Shape;165;p1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8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" name="Google Shape;168;p18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169" name="Google Shape;169;p18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18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18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172" name="Google Shape;172;p18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" name="Google Shape;173;p18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74" name="Google Shape;174;p18"/>
              <p:cNvPicPr preferRelativeResize="0"/>
              <p:nvPr/>
            </p:nvPicPr>
            <p:blipFill rotWithShape="1">
              <a:blip r:embed="rId3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V4d3BxkaQVnDD1xcuyKgPHmK/aaf26c3248f94b2bb107d2d639d3b92f/mnt/data/uit_unzip/ppt/media/image2.png" id="180" name="Google Shape;180;p19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972800" y="512064"/>
            <a:ext cx="4572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Times New Roman"/>
              <a:buNone/>
            </a:pPr>
            <a:r>
              <a:rPr lang="en" sz="12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3/11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Times New Roman"/>
              <a:buNone/>
            </a:pPr>
            <a:r>
              <a:rPr b="1" lang="en" sz="28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AXI4-Lite?</a:t>
            </a:r>
            <a:endParaRPr sz="280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4" name="Google Shape;184;p19"/>
          <p:cNvCxnSpPr/>
          <p:nvPr/>
        </p:nvCxnSpPr>
        <p:spPr>
          <a:xfrm>
            <a:off x="658368" y="6291072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9"/>
          <p:cNvSpPr/>
          <p:nvPr/>
        </p:nvSpPr>
        <p:spPr>
          <a:xfrm>
            <a:off x="77724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2000"/>
              <a:buFont typeface="Times New Roman"/>
              <a:buNone/>
            </a:pPr>
            <a:r>
              <a:rPr b="1" lang="en" sz="20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definition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77240" y="1828800"/>
            <a:ext cx="512064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Memory-mapped protocol: the CPU accesses an IP block through register addresses.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Each transaction transfers one data beat; long bursts are not used.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Data is commonly 32-bit or 64-bit; WSTRB selects active write bytes.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Best for CONTROL, STATUS, DATA, IRQ, and configuration registers.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583680" y="1417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2000"/>
              <a:buFont typeface="Times New Roman"/>
              <a:buNone/>
            </a:pPr>
            <a:r>
              <a:rPr b="1" lang="en" sz="20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register map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583680" y="1828800"/>
            <a:ext cx="4206240" cy="310896"/>
          </a:xfrm>
          <a:prstGeom prst="rect">
            <a:avLst/>
          </a:prstGeom>
          <a:solidFill>
            <a:srgbClr val="F7FAFE"/>
          </a:solidFill>
          <a:ln cap="flat" cmpd="sng" w="9525">
            <a:solidFill>
              <a:srgbClr val="D7E3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   CONTROL   start, reset, enable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583680" y="2249424"/>
            <a:ext cx="420624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3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0x04   STATUS   done, busy, error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583680" y="2670048"/>
            <a:ext cx="4206240" cy="310896"/>
          </a:xfrm>
          <a:prstGeom prst="rect">
            <a:avLst/>
          </a:prstGeom>
          <a:solidFill>
            <a:srgbClr val="F7FAFE"/>
          </a:solidFill>
          <a:ln cap="flat" cmpd="sng" w="9525">
            <a:solidFill>
              <a:srgbClr val="D7E3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0x08   DATA_IN   input word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6583680" y="3090672"/>
            <a:ext cx="4206240" cy="31089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7E3F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0x0C   DATA_OUT   output word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4" name="Google Shape;194;p19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195" name="Google Shape;195;p19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" name="Google Shape;196;p19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197" name="Google Shape;197;p19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98" name="Google Shape;198;p19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99" name="Google Shape;199;p19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19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201" name="Google Shape;201;p1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19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9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4" name="Google Shape;204;p19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205" name="Google Shape;205;p19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9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7" name="Google Shape;207;p19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208" name="Google Shape;208;p19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9" name="Google Shape;209;p1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10" name="Google Shape;210;p19"/>
              <p:cNvPicPr preferRelativeResize="0"/>
              <p:nvPr/>
            </p:nvPicPr>
            <p:blipFill rotWithShape="1">
              <a:blip r:embed="rId3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V4d3BxkaQVnDD1xcuyKgPHmK/aaf26c3248f94b2bb107d2d639d3b92f/mnt/data/uit_unzip/ppt/media/image2.png" id="216" name="Google Shape;216;p20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972800" y="512064"/>
            <a:ext cx="4572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Times New Roman"/>
              <a:buNone/>
            </a:pPr>
            <a:r>
              <a:rPr lang="en" sz="12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4/11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Times New Roman"/>
              <a:buNone/>
            </a:pPr>
            <a:r>
              <a:rPr b="1" lang="en" sz="28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should you use it?</a:t>
            </a:r>
            <a:endParaRPr sz="280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0" name="Google Shape;220;p20"/>
          <p:cNvCxnSpPr/>
          <p:nvPr/>
        </p:nvCxnSpPr>
        <p:spPr>
          <a:xfrm>
            <a:off x="658368" y="6291072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20"/>
          <p:cNvSpPr/>
          <p:nvPr/>
        </p:nvSpPr>
        <p:spPr>
          <a:xfrm>
            <a:off x="822960" y="1417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2000"/>
              <a:buFont typeface="Times New Roman"/>
              <a:buNone/>
            </a:pPr>
            <a:r>
              <a:rPr b="1" lang="en" sz="20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AXI4-Lite for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868680" y="1874520"/>
            <a:ext cx="4846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IP/peripheral configuration registers.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Start/stop controls, software reset, function enable.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Status flags: busy, done, error, interrupt pending.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Small, occasional transfers without high-throughput requirements.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6400800" y="141732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2000"/>
              <a:buFont typeface="Times New Roman"/>
              <a:buNone/>
            </a:pPr>
            <a:r>
              <a:rPr b="1" lang="en" sz="2000">
                <a:solidFill>
                  <a:srgbClr val="99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AXI4-Lite for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6446520" y="1874520"/>
            <a:ext cx="45720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65"/>
              <a:buFont typeface="Times New Roman"/>
              <a:buNone/>
            </a:pPr>
            <a:r>
              <a:rPr lang="en" sz="1665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Large continuous payload transfers requiring high bandwidth.</a:t>
            </a:r>
            <a:endParaRPr sz="16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65"/>
              <a:buFont typeface="Times New Roman"/>
              <a:buNone/>
            </a:pPr>
            <a:r>
              <a:rPr lang="en" sz="1665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Memory interfaces that need long bursts or many outstanding transactions.</a:t>
            </a:r>
            <a:endParaRPr sz="16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65"/>
              <a:buFont typeface="Times New Roman"/>
              <a:buNone/>
            </a:pPr>
            <a:r>
              <a:rPr lang="en" sz="1665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Video, audio, packet streams, or DMA data paths.</a:t>
            </a:r>
            <a:endParaRPr sz="16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65"/>
              <a:buFont typeface="Times New Roman"/>
              <a:buNone/>
            </a:pPr>
            <a:r>
              <a:rPr lang="en" sz="1665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Large buffers are better served by full AXI4, AXI4-Stream, or DMA.</a:t>
            </a:r>
            <a:endParaRPr sz="16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7" name="Google Shape;227;p20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228" name="Google Shape;228;p20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9" name="Google Shape;229;p20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230" name="Google Shape;230;p20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31" name="Google Shape;231;p20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32" name="Google Shape;232;p20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20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234" name="Google Shape;234;p2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p20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0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7" name="Google Shape;237;p20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238" name="Google Shape;238;p20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0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0" name="Google Shape;240;p20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241" name="Google Shape;241;p20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2" name="Google Shape;242;p20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43" name="Google Shape;243;p20"/>
              <p:cNvPicPr preferRelativeResize="0"/>
              <p:nvPr/>
            </p:nvPicPr>
            <p:blipFill rotWithShape="1">
              <a:blip r:embed="rId3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V4d3BxkaQVnDD1xcuyKgPHmK/aaf26c3248f94b2bb107d2d639d3b92f/mnt/data/uit_unzip/ppt/media/image2.png" id="249" name="Google Shape;249;p21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972800" y="512064"/>
            <a:ext cx="4572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Times New Roman"/>
              <a:buNone/>
            </a:pPr>
            <a:r>
              <a:rPr lang="en" sz="12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5/11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658368" y="882400"/>
            <a:ext cx="937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Times New Roman"/>
              <a:buNone/>
            </a:pPr>
            <a:r>
              <a:rPr b="1" lang="en" sz="28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VALID/READY handshake</a:t>
            </a:r>
            <a:endParaRPr sz="280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3" name="Google Shape;253;p21"/>
          <p:cNvCxnSpPr/>
          <p:nvPr/>
        </p:nvCxnSpPr>
        <p:spPr>
          <a:xfrm>
            <a:off x="658368" y="6291072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21"/>
          <p:cNvSpPr/>
          <p:nvPr/>
        </p:nvSpPr>
        <p:spPr>
          <a:xfrm>
            <a:off x="822960" y="13258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2000"/>
              <a:buFont typeface="Times New Roman"/>
              <a:buNone/>
            </a:pPr>
            <a:r>
              <a:rPr b="1" lang="en" sz="20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rule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822960" y="169164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800"/>
              <a:buFont typeface="Times New Roman"/>
              <a:buNone/>
            </a:pPr>
            <a:r>
              <a:rPr b="1" lang="en" sz="1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transfer completes on a rising clock edge when VALID = 1 and READY = 1 on the same channel.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960120" y="2743200"/>
            <a:ext cx="2011680" cy="731520"/>
          </a:xfrm>
          <a:prstGeom prst="roundRect">
            <a:avLst>
              <a:gd fmla="val 16667" name="adj"/>
            </a:avLst>
          </a:prstGeom>
          <a:solidFill>
            <a:srgbClr val="245AA5"/>
          </a:solidFill>
          <a:ln cap="flat" cmpd="sng" w="95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 / IP sends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8321040" y="2743200"/>
            <a:ext cx="2148840" cy="731520"/>
          </a:xfrm>
          <a:prstGeom prst="roundRect">
            <a:avLst>
              <a:gd fmla="val 16667" name="adj"/>
            </a:avLst>
          </a:prstGeom>
          <a:solidFill>
            <a:srgbClr val="153E75"/>
          </a:solidFill>
          <a:ln cap="flat" cmpd="sng" w="9525">
            <a:solidFill>
              <a:srgbClr val="153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DESTINATION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 / CPU accepts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8" name="Google Shape;258;p21"/>
          <p:cNvCxnSpPr/>
          <p:nvPr/>
        </p:nvCxnSpPr>
        <p:spPr>
          <a:xfrm>
            <a:off x="3154680" y="2944368"/>
            <a:ext cx="4983480" cy="0"/>
          </a:xfrm>
          <a:prstGeom prst="straightConnector1">
            <a:avLst/>
          </a:prstGeom>
          <a:noFill/>
          <a:ln cap="flat" cmpd="sng" w="27925">
            <a:solidFill>
              <a:srgbClr val="245A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9" name="Google Shape;259;p21"/>
          <p:cNvCxnSpPr/>
          <p:nvPr/>
        </p:nvCxnSpPr>
        <p:spPr>
          <a:xfrm>
            <a:off x="8138160" y="3310128"/>
            <a:ext cx="0" cy="0"/>
          </a:xfrm>
          <a:prstGeom prst="straightConnector1">
            <a:avLst/>
          </a:prstGeom>
          <a:noFill/>
          <a:ln cap="flat" cmpd="sng" w="27925">
            <a:solidFill>
              <a:srgbClr val="153E7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0" name="Google Shape;260;p21"/>
          <p:cNvSpPr/>
          <p:nvPr/>
        </p:nvSpPr>
        <p:spPr>
          <a:xfrm>
            <a:off x="3749040" y="257860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30"/>
              <a:buFont typeface="Times New Roman"/>
              <a:buNone/>
            </a:pPr>
            <a:r>
              <a:rPr b="1" lang="en" sz="143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VALID: “I have information”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3794760" y="347472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E75"/>
              </a:buClr>
              <a:buSzPts val="1430"/>
              <a:buFont typeface="Times New Roman"/>
              <a:buNone/>
            </a:pPr>
            <a:r>
              <a:rPr b="1" lang="en" sz="1430">
                <a:solidFill>
                  <a:srgbClr val="153E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READY: “I can accept it”</a:t>
            </a:r>
            <a:endParaRPr sz="143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1005840" y="4315968"/>
            <a:ext cx="9509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500" lIns="500" spcFirstLastPara="1" rIns="500" wrap="square" tIns="5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65"/>
              <a:buFont typeface="Times New Roman"/>
              <a:buNone/>
            </a:pPr>
            <a:r>
              <a:rPr lang="en" sz="1665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source holds VALID until the handshake succeeds.</a:t>
            </a:r>
            <a:endParaRPr sz="16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65"/>
              <a:buFont typeface="Times New Roman"/>
              <a:buNone/>
            </a:pPr>
            <a:r>
              <a:rPr lang="en" sz="1665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The destination may deassert READY to apply back-pressure.</a:t>
            </a:r>
            <a:endParaRPr sz="16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65"/>
              <a:buFont typeface="Times New Roman"/>
              <a:buNone/>
            </a:pPr>
            <a:r>
              <a:rPr lang="en" sz="1665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If either signal is 0, address/data waits for a later cycle.</a:t>
            </a:r>
            <a:endParaRPr sz="166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5" name="Google Shape;265;p21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266" name="Google Shape;266;p21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7" name="Google Shape;267;p21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268" name="Google Shape;268;p21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9" name="Google Shape;269;p21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70" name="Google Shape;270;p21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21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272" name="Google Shape;272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" name="Google Shape;273;p21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5" name="Google Shape;275;p21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276" name="Google Shape;276;p21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1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8" name="Google Shape;278;p21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279" name="Google Shape;279;p21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" name="Google Shape;280;p21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81" name="Google Shape;281;p21"/>
              <p:cNvPicPr preferRelativeResize="0"/>
              <p:nvPr/>
            </p:nvPicPr>
            <p:blipFill rotWithShape="1">
              <a:blip r:embed="rId3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V4d3BxkaQVnDD1xcuyKgPHmK/aaf26c3248f94b2bb107d2d639d3b92f/mnt/data/uit_unzip/ppt/media/image2.png" id="287" name="Google Shape;287;p22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972800" y="512064"/>
            <a:ext cx="4572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Times New Roman"/>
              <a:buNone/>
            </a:pPr>
            <a:r>
              <a:rPr lang="en" sz="12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6/11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2"/>
          <p:cNvSpPr/>
          <p:nvPr/>
        </p:nvSpPr>
        <p:spPr>
          <a:xfrm>
            <a:off x="658368" y="900675"/>
            <a:ext cx="937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Times New Roman"/>
              <a:buNone/>
            </a:pPr>
            <a:r>
              <a:rPr b="1" lang="en" sz="28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Five independent AXI4-Lite channels</a:t>
            </a:r>
            <a:endParaRPr sz="280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1" name="Google Shape;291;p22"/>
          <p:cNvCxnSpPr/>
          <p:nvPr/>
        </p:nvCxnSpPr>
        <p:spPr>
          <a:xfrm>
            <a:off x="658368" y="6291072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22"/>
          <p:cNvSpPr/>
          <p:nvPr/>
        </p:nvSpPr>
        <p:spPr>
          <a:xfrm>
            <a:off x="822960" y="2007108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245AA5"/>
          </a:solidFill>
          <a:ln cap="flat" cmpd="sng" w="95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1664208" y="198882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60"/>
              <a:buFont typeface="Times New Roman"/>
              <a:buNone/>
            </a:pPr>
            <a:r>
              <a:rPr b="1" lang="en" sz="126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Address</a:t>
            </a:r>
            <a:endParaRPr sz="12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2"/>
          <p:cNvSpPr/>
          <p:nvPr/>
        </p:nvSpPr>
        <p:spPr>
          <a:xfrm>
            <a:off x="1664208" y="2235708"/>
            <a:ext cx="12344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90"/>
              <a:buFont typeface="Times New Roman"/>
              <a:buNone/>
            </a:pPr>
            <a:r>
              <a:rPr lang="en" sz="109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to write</a:t>
            </a:r>
            <a:endParaRPr sz="10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2"/>
          <p:cNvSpPr/>
          <p:nvPr/>
        </p:nvSpPr>
        <p:spPr>
          <a:xfrm>
            <a:off x="3017520" y="2007108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166534"/>
          </a:solidFill>
          <a:ln cap="flat" cmpd="sng" w="9525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2"/>
          <p:cNvSpPr/>
          <p:nvPr/>
        </p:nvSpPr>
        <p:spPr>
          <a:xfrm>
            <a:off x="3858768" y="198882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60"/>
              <a:buFont typeface="Times New Roman"/>
              <a:buNone/>
            </a:pPr>
            <a:r>
              <a:rPr b="1" lang="en" sz="126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Data</a:t>
            </a:r>
            <a:endParaRPr sz="12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3858768" y="2235708"/>
            <a:ext cx="12344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90"/>
              <a:buFont typeface="Times New Roman"/>
              <a:buNone/>
            </a:pPr>
            <a:r>
              <a:rPr lang="en" sz="109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+ WSTRB</a:t>
            </a:r>
            <a:endParaRPr sz="10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5212080" y="2007108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C2410C"/>
          </a:solidFill>
          <a:ln cap="flat" cmpd="sng" w="9525">
            <a:solidFill>
              <a:srgbClr val="C241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6053328" y="198882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60"/>
              <a:buFont typeface="Times New Roman"/>
              <a:buNone/>
            </a:pPr>
            <a:r>
              <a:rPr b="1" lang="en" sz="126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Response</a:t>
            </a:r>
            <a:endParaRPr sz="12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6053328" y="2235708"/>
            <a:ext cx="12344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90"/>
              <a:buFont typeface="Times New Roman"/>
              <a:buNone/>
            </a:pPr>
            <a:r>
              <a:rPr lang="en" sz="109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status</a:t>
            </a:r>
            <a:endParaRPr sz="10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22"/>
          <p:cNvSpPr/>
          <p:nvPr/>
        </p:nvSpPr>
        <p:spPr>
          <a:xfrm>
            <a:off x="7406640" y="2007108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6D28D9"/>
          </a:solidFill>
          <a:ln cap="flat" cmpd="sng" w="9525">
            <a:solidFill>
              <a:srgbClr val="6D28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8247888" y="198882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60"/>
              <a:buFont typeface="Times New Roman"/>
              <a:buNone/>
            </a:pPr>
            <a:r>
              <a:rPr b="1" lang="en" sz="126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Address</a:t>
            </a:r>
            <a:endParaRPr sz="12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2"/>
          <p:cNvSpPr/>
          <p:nvPr/>
        </p:nvSpPr>
        <p:spPr>
          <a:xfrm>
            <a:off x="8247888" y="2235708"/>
            <a:ext cx="12344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90"/>
              <a:buFont typeface="Times New Roman"/>
              <a:buNone/>
            </a:pPr>
            <a:r>
              <a:rPr lang="en" sz="109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 to read</a:t>
            </a:r>
            <a:endParaRPr sz="10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9601200" y="2007108"/>
            <a:ext cx="731520" cy="475488"/>
          </a:xfrm>
          <a:prstGeom prst="roundRect">
            <a:avLst>
              <a:gd fmla="val 16667" name="adj"/>
            </a:avLst>
          </a:prstGeom>
          <a:solidFill>
            <a:srgbClr val="166534"/>
          </a:solidFill>
          <a:ln cap="flat" cmpd="sng" w="9525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imes New Roman"/>
              <a:buNone/>
            </a:pPr>
            <a:r>
              <a:rPr b="1" lang="e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22"/>
          <p:cNvSpPr/>
          <p:nvPr/>
        </p:nvSpPr>
        <p:spPr>
          <a:xfrm>
            <a:off x="10442448" y="198882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60"/>
              <a:buFont typeface="Times New Roman"/>
              <a:buNone/>
            </a:pPr>
            <a:r>
              <a:rPr b="1" lang="en" sz="126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Data</a:t>
            </a:r>
            <a:endParaRPr sz="12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10442448" y="2235708"/>
            <a:ext cx="123444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90"/>
              <a:buFont typeface="Times New Roman"/>
              <a:buNone/>
            </a:pPr>
            <a:r>
              <a:rPr lang="en" sz="109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+ RRESP</a:t>
            </a:r>
            <a:endParaRPr sz="109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7" name="Google Shape;307;p22"/>
          <p:cNvSpPr/>
          <p:nvPr/>
        </p:nvSpPr>
        <p:spPr>
          <a:xfrm>
            <a:off x="1097280" y="3424428"/>
            <a:ext cx="4389120" cy="1143000"/>
          </a:xfrm>
          <a:prstGeom prst="roundRect">
            <a:avLst>
              <a:gd fmla="val 16667" name="adj"/>
            </a:avLst>
          </a:prstGeom>
          <a:solidFill>
            <a:srgbClr val="F7FAFE"/>
          </a:solidFill>
          <a:ln cap="flat" cmpd="sng" w="9525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write transaction uses 3 channels: AW carries address, W carries data, and B returns write status.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6629400" y="3424428"/>
            <a:ext cx="4389120" cy="1143000"/>
          </a:xfrm>
          <a:prstGeom prst="roundRect">
            <a:avLst>
              <a:gd fmla="val 16667" name="adj"/>
            </a:avLst>
          </a:prstGeom>
          <a:solidFill>
            <a:srgbClr val="F7FAFE"/>
          </a:solidFill>
          <a:ln cap="flat" cmpd="sng" w="9525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read transaction uses 2 channels: AR carries the read address, and R returns data plus read status.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0" name="Google Shape;310;p22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11" name="Google Shape;311;p22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312" name="Google Shape;312;p22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3" name="Google Shape;313;p22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314" name="Google Shape;314;p22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5" name="Google Shape;315;p22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6" name="Google Shape;316;p22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22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318" name="Google Shape;318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9" name="Google Shape;319;p22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2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1" name="Google Shape;321;p22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322" name="Google Shape;322;p22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22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4" name="Google Shape;324;p22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325" name="Google Shape;325;p22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6" name="Google Shape;326;p22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27" name="Google Shape;327;p22"/>
              <p:cNvPicPr preferRelativeResize="0"/>
              <p:nvPr/>
            </p:nvPicPr>
            <p:blipFill rotWithShape="1">
              <a:blip r:embed="rId3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V4d3BxkaQVnDD1xcuyKgPHmK/aaf26c3248f94b2bb107d2d639d3b92f/mnt/data/uit_unzip/ppt/media/image2.png" id="333" name="Google Shape;333;p23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972800" y="512064"/>
            <a:ext cx="4572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Times New Roman"/>
              <a:buNone/>
            </a:pPr>
            <a:r>
              <a:rPr lang="en" sz="12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7/11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731518" y="914400"/>
            <a:ext cx="937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Times New Roman"/>
              <a:buNone/>
            </a:pPr>
            <a:r>
              <a:rPr b="1" lang="en" sz="28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transaction: three channels</a:t>
            </a:r>
            <a:endParaRPr sz="280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868680" y="1691640"/>
            <a:ext cx="1417320" cy="3246120"/>
          </a:xfrm>
          <a:prstGeom prst="roundRect">
            <a:avLst>
              <a:gd fmla="val 16667" name="adj"/>
            </a:avLst>
          </a:prstGeom>
          <a:solidFill>
            <a:srgbClr val="245AA5"/>
          </a:solidFill>
          <a:ln cap="flat" cmpd="sng" w="95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9829800" y="1691640"/>
            <a:ext cx="1417320" cy="3246120"/>
          </a:xfrm>
          <a:prstGeom prst="roundRect">
            <a:avLst>
              <a:gd fmla="val 16667" name="adj"/>
            </a:avLst>
          </a:prstGeom>
          <a:solidFill>
            <a:srgbClr val="153E75"/>
          </a:solidFill>
          <a:ln cap="flat" cmpd="sng" w="9525">
            <a:solidFill>
              <a:srgbClr val="153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Subordinate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3931920" y="175564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70"/>
              <a:buFont typeface="Times New Roman"/>
              <a:buNone/>
            </a:pPr>
            <a:r>
              <a:rPr b="1" lang="en" sz="127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Address Channel</a:t>
            </a:r>
            <a:endParaRPr sz="12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0" name="Google Shape;340;p23"/>
          <p:cNvCxnSpPr/>
          <p:nvPr/>
        </p:nvCxnSpPr>
        <p:spPr>
          <a:xfrm>
            <a:off x="2651760" y="2057400"/>
            <a:ext cx="6537960" cy="0"/>
          </a:xfrm>
          <a:prstGeom prst="straightConnector1">
            <a:avLst/>
          </a:prstGeom>
          <a:noFill/>
          <a:ln cap="flat" cmpd="sng" w="25400">
            <a:solidFill>
              <a:srgbClr val="245A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" name="Google Shape;341;p23"/>
          <p:cNvSpPr/>
          <p:nvPr/>
        </p:nvSpPr>
        <p:spPr>
          <a:xfrm>
            <a:off x="4160520" y="2093976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160"/>
              <a:buFont typeface="Times New Roman"/>
              <a:buNone/>
            </a:pPr>
            <a:r>
              <a:rPr b="1" lang="en" sz="116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AWADDR, AWVALID, AWPROT</a:t>
            </a:r>
            <a:endParaRPr sz="11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4160520" y="2359152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80"/>
              <a:buFont typeface="Times New Roman"/>
              <a:buNone/>
            </a:pPr>
            <a:r>
              <a:rPr lang="en" sz="108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AWREADY</a:t>
            </a:r>
            <a:endParaRPr sz="10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3931920" y="285292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70"/>
              <a:buFont typeface="Times New Roman"/>
              <a:buNone/>
            </a:pPr>
            <a:r>
              <a:rPr b="1" lang="en" sz="127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Data Channel</a:t>
            </a:r>
            <a:endParaRPr sz="12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4" name="Google Shape;344;p23"/>
          <p:cNvCxnSpPr/>
          <p:nvPr/>
        </p:nvCxnSpPr>
        <p:spPr>
          <a:xfrm>
            <a:off x="2651760" y="3154680"/>
            <a:ext cx="6537960" cy="0"/>
          </a:xfrm>
          <a:prstGeom prst="straightConnector1">
            <a:avLst/>
          </a:prstGeom>
          <a:noFill/>
          <a:ln cap="flat" cmpd="sng" w="25400">
            <a:solidFill>
              <a:srgbClr val="1665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5" name="Google Shape;345;p23"/>
          <p:cNvSpPr/>
          <p:nvPr/>
        </p:nvSpPr>
        <p:spPr>
          <a:xfrm>
            <a:off x="4160520" y="3191256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60"/>
              <a:buFont typeface="Times New Roman"/>
              <a:buNone/>
            </a:pPr>
            <a:r>
              <a:rPr b="1" lang="en" sz="116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WDATA, WSTRB, WVALID</a:t>
            </a:r>
            <a:endParaRPr sz="11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23"/>
          <p:cNvSpPr/>
          <p:nvPr/>
        </p:nvSpPr>
        <p:spPr>
          <a:xfrm>
            <a:off x="4160520" y="3456432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80"/>
              <a:buFont typeface="Times New Roman"/>
              <a:buNone/>
            </a:pPr>
            <a:r>
              <a:rPr lang="en" sz="108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WREADY</a:t>
            </a:r>
            <a:endParaRPr sz="10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23"/>
          <p:cNvSpPr/>
          <p:nvPr/>
        </p:nvSpPr>
        <p:spPr>
          <a:xfrm>
            <a:off x="3931920" y="39502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70"/>
              <a:buFont typeface="Times New Roman"/>
              <a:buNone/>
            </a:pPr>
            <a:r>
              <a:rPr b="1" lang="en" sz="127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Response Channel</a:t>
            </a:r>
            <a:endParaRPr sz="12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48" name="Google Shape;348;p23"/>
          <p:cNvCxnSpPr/>
          <p:nvPr/>
        </p:nvCxnSpPr>
        <p:spPr>
          <a:xfrm rot="10800000">
            <a:off x="2651760" y="4251958"/>
            <a:ext cx="6537960" cy="0"/>
          </a:xfrm>
          <a:prstGeom prst="straightConnector1">
            <a:avLst/>
          </a:prstGeom>
          <a:noFill/>
          <a:ln cap="flat" cmpd="sng" w="25400">
            <a:solidFill>
              <a:srgbClr val="C2410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9" name="Google Shape;349;p23"/>
          <p:cNvSpPr/>
          <p:nvPr/>
        </p:nvSpPr>
        <p:spPr>
          <a:xfrm>
            <a:off x="4160520" y="4288536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2410C"/>
              </a:buClr>
              <a:buSzPts val="1160"/>
              <a:buFont typeface="Times New Roman"/>
              <a:buNone/>
            </a:pPr>
            <a:r>
              <a:rPr b="1" lang="en" sz="1160">
                <a:solidFill>
                  <a:srgbClr val="C241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BREADY</a:t>
            </a:r>
            <a:endParaRPr sz="11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4160520" y="4553712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80"/>
              <a:buFont typeface="Times New Roman"/>
              <a:buNone/>
            </a:pPr>
            <a:r>
              <a:rPr lang="en" sz="108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BRESP, BVALID</a:t>
            </a:r>
            <a:endParaRPr sz="10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3"/>
          <p:cNvSpPr/>
          <p:nvPr/>
        </p:nvSpPr>
        <p:spPr>
          <a:xfrm>
            <a:off x="1097280" y="516636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E75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153E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write is complete only after the address, data, and write response handshakes have completed.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2" name="Google Shape;352;p23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23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4" name="Google Shape;354;p23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355" name="Google Shape;355;p23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6" name="Google Shape;356;p23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357" name="Google Shape;357;p23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8" name="Google Shape;358;p23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9" name="Google Shape;359;p23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" name="Google Shape;360;p23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361" name="Google Shape;361;p2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23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3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64" name="Google Shape;364;p23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365" name="Google Shape;365;p23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23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7" name="Google Shape;367;p23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368" name="Google Shape;368;p23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9" name="Google Shape;369;p23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370" name="Google Shape;370;p23"/>
              <p:cNvPicPr preferRelativeResize="0"/>
              <p:nvPr/>
            </p:nvPicPr>
            <p:blipFill rotWithShape="1">
              <a:blip r:embed="rId3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V4d3BxkaQVnDD1xcuyKgPHmK/aaf26c3248f94b2bb107d2d639d3b92f/mnt/data/uit_unzip/ppt/media/image2.png" id="376" name="Google Shape;376;p24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972800" y="512064"/>
            <a:ext cx="4572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4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Times New Roman"/>
              <a:buNone/>
            </a:pPr>
            <a:r>
              <a:rPr lang="en" sz="12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8/11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658368" y="950975"/>
            <a:ext cx="937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Times New Roman"/>
              <a:buNone/>
            </a:pPr>
            <a:r>
              <a:rPr b="1" lang="en" sz="280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transaction: two channels</a:t>
            </a:r>
            <a:endParaRPr sz="2800">
              <a:solidFill>
                <a:srgbClr val="16653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0" name="Google Shape;380;p24"/>
          <p:cNvCxnSpPr/>
          <p:nvPr/>
        </p:nvCxnSpPr>
        <p:spPr>
          <a:xfrm>
            <a:off x="658368" y="6291072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1" name="Google Shape;381;p24"/>
          <p:cNvSpPr/>
          <p:nvPr/>
        </p:nvSpPr>
        <p:spPr>
          <a:xfrm>
            <a:off x="868680" y="1828800"/>
            <a:ext cx="1417320" cy="3246120"/>
          </a:xfrm>
          <a:prstGeom prst="roundRect">
            <a:avLst>
              <a:gd fmla="val 16667" name="adj"/>
            </a:avLst>
          </a:prstGeom>
          <a:solidFill>
            <a:srgbClr val="245AA5"/>
          </a:solidFill>
          <a:ln cap="flat" cmpd="sng" w="95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Manager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24"/>
          <p:cNvSpPr/>
          <p:nvPr/>
        </p:nvSpPr>
        <p:spPr>
          <a:xfrm>
            <a:off x="9829800" y="1828800"/>
            <a:ext cx="1417320" cy="3246120"/>
          </a:xfrm>
          <a:prstGeom prst="roundRect">
            <a:avLst>
              <a:gd fmla="val 16667" name="adj"/>
            </a:avLst>
          </a:prstGeom>
          <a:solidFill>
            <a:srgbClr val="153E75"/>
          </a:solidFill>
          <a:ln cap="flat" cmpd="sng" w="9525">
            <a:solidFill>
              <a:srgbClr val="153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Subordinate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Times New Roman"/>
              <a:buNone/>
            </a:pPr>
            <a:r>
              <a:rPr b="1" lang="en" sz="132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Interface</a:t>
            </a:r>
            <a:endParaRPr sz="13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3931920" y="212140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70"/>
              <a:buFont typeface="Times New Roman"/>
              <a:buNone/>
            </a:pPr>
            <a:r>
              <a:rPr b="1" lang="en" sz="127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Address Channel</a:t>
            </a:r>
            <a:endParaRPr sz="12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4" name="Google Shape;384;p24"/>
          <p:cNvCxnSpPr/>
          <p:nvPr/>
        </p:nvCxnSpPr>
        <p:spPr>
          <a:xfrm>
            <a:off x="2651760" y="2423160"/>
            <a:ext cx="6537960" cy="0"/>
          </a:xfrm>
          <a:prstGeom prst="straightConnector1">
            <a:avLst/>
          </a:prstGeom>
          <a:noFill/>
          <a:ln cap="flat" cmpd="sng" w="25400">
            <a:solidFill>
              <a:srgbClr val="6D28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5" name="Google Shape;385;p24"/>
          <p:cNvSpPr/>
          <p:nvPr/>
        </p:nvSpPr>
        <p:spPr>
          <a:xfrm>
            <a:off x="4160520" y="2459736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60"/>
              <a:buFont typeface="Times New Roman"/>
              <a:buNone/>
            </a:pPr>
            <a:r>
              <a:rPr b="1" lang="en" sz="1160">
                <a:solidFill>
                  <a:srgbClr val="6D28D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ARADDR, ARVALID, ARPROT</a:t>
            </a:r>
            <a:endParaRPr sz="11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24"/>
          <p:cNvSpPr/>
          <p:nvPr/>
        </p:nvSpPr>
        <p:spPr>
          <a:xfrm>
            <a:off x="4160520" y="2724912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80"/>
              <a:buFont typeface="Times New Roman"/>
              <a:buNone/>
            </a:pPr>
            <a:r>
              <a:rPr lang="en" sz="108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ARREADY</a:t>
            </a:r>
            <a:endParaRPr sz="10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3931920" y="340156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70"/>
              <a:buFont typeface="Times New Roman"/>
              <a:buNone/>
            </a:pPr>
            <a:r>
              <a:rPr b="1" lang="en" sz="127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Data Channel</a:t>
            </a:r>
            <a:endParaRPr sz="127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88" name="Google Shape;388;p24"/>
          <p:cNvCxnSpPr/>
          <p:nvPr/>
        </p:nvCxnSpPr>
        <p:spPr>
          <a:xfrm flipH="1">
            <a:off x="2702704" y="3730752"/>
            <a:ext cx="6487015" cy="9144"/>
          </a:xfrm>
          <a:prstGeom prst="straightConnector1">
            <a:avLst/>
          </a:prstGeom>
          <a:noFill/>
          <a:ln cap="flat" cmpd="sng" w="25400">
            <a:solidFill>
              <a:srgbClr val="16653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9" name="Google Shape;389;p24"/>
          <p:cNvSpPr/>
          <p:nvPr/>
        </p:nvSpPr>
        <p:spPr>
          <a:xfrm>
            <a:off x="4160520" y="3739896"/>
            <a:ext cx="388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60"/>
              <a:buFont typeface="Times New Roman"/>
              <a:buNone/>
            </a:pPr>
            <a:r>
              <a:rPr b="1" lang="en" sz="1160">
                <a:solidFill>
                  <a:srgbClr val="16653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RREADY</a:t>
            </a:r>
            <a:endParaRPr sz="11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4160520" y="4005072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080"/>
              <a:buFont typeface="Times New Roman"/>
              <a:buNone/>
            </a:pPr>
            <a:r>
              <a:rPr lang="en" sz="108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RDATA, RRESP, RVALID</a:t>
            </a:r>
            <a:endParaRPr sz="108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1097280" y="516636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E75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153E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with write transactions, reads are simpler because the response status travels with the R channel.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4" name="Google Shape;394;p24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395" name="Google Shape;395;p24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6" name="Google Shape;396;p24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397" name="Google Shape;397;p24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98" name="Google Shape;398;p24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99" name="Google Shape;399;p24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0" name="Google Shape;400;p24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401" name="Google Shape;401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2" name="Google Shape;402;p24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4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4" name="Google Shape;404;p24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405" name="Google Shape;405;p24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24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7" name="Google Shape;407;p24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408" name="Google Shape;408;p24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9" name="Google Shape;409;p24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10" name="Google Shape;410;p24"/>
              <p:cNvPicPr preferRelativeResize="0"/>
              <p:nvPr/>
            </p:nvPicPr>
            <p:blipFill rotWithShape="1">
              <a:blip r:embed="rId3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V4d3BxkaQVnDD1xcuyKgPHmK/aaf26c3248f94b2bb107d2d639d3b92f/mnt/data/uit_unzip/ppt/media/image2.png" id="416" name="Google Shape;416;p25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972800" y="512064"/>
            <a:ext cx="4572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5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Times New Roman"/>
              <a:buNone/>
            </a:pPr>
            <a:r>
              <a:rPr lang="en" sz="12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9/11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731518" y="790950"/>
            <a:ext cx="9372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Times New Roman"/>
              <a:buNone/>
            </a:pPr>
            <a:r>
              <a:rPr b="1" lang="en" sz="2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signal groups of the five channels</a:t>
            </a:r>
            <a:endParaRPr sz="2800">
              <a:solidFill>
                <a:srgbClr val="1880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20" name="Google Shape;420;p25"/>
          <p:cNvCxnSpPr/>
          <p:nvPr/>
        </p:nvCxnSpPr>
        <p:spPr>
          <a:xfrm>
            <a:off x="658368" y="6291072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1" name="Google Shape;421;p25"/>
          <p:cNvSpPr/>
          <p:nvPr/>
        </p:nvSpPr>
        <p:spPr>
          <a:xfrm>
            <a:off x="868680" y="1508760"/>
            <a:ext cx="3246120" cy="530352"/>
          </a:xfrm>
          <a:prstGeom prst="rect">
            <a:avLst/>
          </a:prstGeom>
          <a:solidFill>
            <a:srgbClr val="245AA5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5"/>
          <p:cNvSpPr/>
          <p:nvPr/>
        </p:nvSpPr>
        <p:spPr>
          <a:xfrm>
            <a:off x="4114800" y="1508760"/>
            <a:ext cx="7178040" cy="530352"/>
          </a:xfrm>
          <a:prstGeom prst="rect">
            <a:avLst/>
          </a:prstGeom>
          <a:solidFill>
            <a:srgbClr val="245AA5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5"/>
          <p:cNvSpPr/>
          <p:nvPr/>
        </p:nvSpPr>
        <p:spPr>
          <a:xfrm>
            <a:off x="941832" y="1618488"/>
            <a:ext cx="3099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25"/>
          <p:cNvSpPr/>
          <p:nvPr/>
        </p:nvSpPr>
        <p:spPr>
          <a:xfrm>
            <a:off x="4187952" y="1618488"/>
            <a:ext cx="7031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signals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868680" y="2039112"/>
            <a:ext cx="3246120" cy="530352"/>
          </a:xfrm>
          <a:prstGeom prst="rect">
            <a:avLst/>
          </a:prstGeom>
          <a:solidFill>
            <a:srgbClr val="F7FAFE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5"/>
          <p:cNvSpPr/>
          <p:nvPr/>
        </p:nvSpPr>
        <p:spPr>
          <a:xfrm>
            <a:off x="4114800" y="2039112"/>
            <a:ext cx="7178040" cy="530352"/>
          </a:xfrm>
          <a:prstGeom prst="rect">
            <a:avLst/>
          </a:prstGeom>
          <a:solidFill>
            <a:srgbClr val="F7FAFE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5"/>
          <p:cNvSpPr/>
          <p:nvPr/>
        </p:nvSpPr>
        <p:spPr>
          <a:xfrm>
            <a:off x="941832" y="2157984"/>
            <a:ext cx="3099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address channel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4187952" y="2157984"/>
            <a:ext cx="7031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/>
              <a:buNone/>
            </a:pPr>
            <a:r>
              <a:rPr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AWVALID, AWREADY, AWADDR, AWPROT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868680" y="2569464"/>
            <a:ext cx="32461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4114800" y="2569464"/>
            <a:ext cx="717804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5"/>
          <p:cNvSpPr/>
          <p:nvPr/>
        </p:nvSpPr>
        <p:spPr>
          <a:xfrm>
            <a:off x="941832" y="2688336"/>
            <a:ext cx="3099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data channel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4187952" y="2688336"/>
            <a:ext cx="7031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/>
              <a:buNone/>
            </a:pPr>
            <a:r>
              <a:rPr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WVALID, WREADY, WDATA, WSTRB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868680" y="3099816"/>
            <a:ext cx="3246120" cy="530352"/>
          </a:xfrm>
          <a:prstGeom prst="rect">
            <a:avLst/>
          </a:prstGeom>
          <a:solidFill>
            <a:srgbClr val="F7FAFE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25"/>
          <p:cNvSpPr/>
          <p:nvPr/>
        </p:nvSpPr>
        <p:spPr>
          <a:xfrm>
            <a:off x="4114800" y="3099816"/>
            <a:ext cx="7178040" cy="530352"/>
          </a:xfrm>
          <a:prstGeom prst="rect">
            <a:avLst/>
          </a:prstGeom>
          <a:solidFill>
            <a:srgbClr val="F7FAFE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941832" y="3218688"/>
            <a:ext cx="3099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response channel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4187952" y="3218688"/>
            <a:ext cx="7031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/>
              <a:buNone/>
            </a:pPr>
            <a:r>
              <a:rPr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BVALID, BREADY, BRESP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868680" y="3630168"/>
            <a:ext cx="32461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4114800" y="3630168"/>
            <a:ext cx="717804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941832" y="3749040"/>
            <a:ext cx="3099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address channel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4187952" y="3749040"/>
            <a:ext cx="7031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/>
              <a:buNone/>
            </a:pPr>
            <a:r>
              <a:rPr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ARVALID, ARREADY, ARADDR, ARPROT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868680" y="4160520"/>
            <a:ext cx="3246120" cy="530352"/>
          </a:xfrm>
          <a:prstGeom prst="rect">
            <a:avLst/>
          </a:prstGeom>
          <a:solidFill>
            <a:srgbClr val="F7FAFE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5"/>
          <p:cNvSpPr/>
          <p:nvPr/>
        </p:nvSpPr>
        <p:spPr>
          <a:xfrm>
            <a:off x="4114800" y="4160520"/>
            <a:ext cx="7178040" cy="530352"/>
          </a:xfrm>
          <a:prstGeom prst="rect">
            <a:avLst/>
          </a:prstGeom>
          <a:solidFill>
            <a:srgbClr val="F7FAFE"/>
          </a:solidFill>
          <a:ln cap="flat" cmpd="sng" w="9525">
            <a:solidFill>
              <a:srgbClr val="B9C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941832" y="4279392"/>
            <a:ext cx="309981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 data channel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25"/>
          <p:cNvSpPr/>
          <p:nvPr/>
        </p:nvSpPr>
        <p:spPr>
          <a:xfrm>
            <a:off x="4187952" y="4279392"/>
            <a:ext cx="7031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400"/>
              <a:buFont typeface="Times New Roman"/>
              <a:buNone/>
            </a:pPr>
            <a:r>
              <a:rPr lang="en" sz="14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RVALID, RREADY, RDATA, RRESP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5" name="Google Shape;445;p25"/>
          <p:cNvSpPr/>
          <p:nvPr/>
        </p:nvSpPr>
        <p:spPr>
          <a:xfrm>
            <a:off x="960120" y="5074920"/>
            <a:ext cx="98755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3E75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153E7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reading rule: use the prefix AW, W, B, AR, or R to identify the channel; use VALID/READY to identify the handshake signals.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48" name="Google Shape;448;p25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449" name="Google Shape;449;p25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0" name="Google Shape;450;p25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451" name="Google Shape;451;p25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52" name="Google Shape;452;p25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53" name="Google Shape;453;p25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" name="Google Shape;454;p25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455" name="Google Shape;4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6" name="Google Shape;456;p25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5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" name="Google Shape;458;p25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459" name="Google Shape;459;p25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5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1" name="Google Shape;461;p25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462" name="Google Shape;462;p25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63" name="Google Shape;463;p25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464" name="Google Shape;464;p25"/>
              <p:cNvPicPr preferRelativeResize="0"/>
              <p:nvPr/>
            </p:nvPicPr>
            <p:blipFill rotWithShape="1">
              <a:blip r:embed="rId3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V4d3BxkaQVnDD1xcuyKgPHmK/aaf26c3248f94b2bb107d2d639d3b92f/mnt/data/uit_unzip/ppt/media/image2.png" id="470" name="Google Shape;470;p26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972800" y="512064"/>
            <a:ext cx="4572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6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Times New Roman"/>
              <a:buNone/>
            </a:pPr>
            <a:r>
              <a:rPr lang="en" sz="12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10/11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Times New Roman"/>
              <a:buNone/>
            </a:pPr>
            <a:r>
              <a:rPr b="1" lang="en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RTL implementation tips</a:t>
            </a:r>
            <a:endParaRPr sz="28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822960" y="1417320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1325880" y="139903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register map first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1325880" y="1673352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500"/>
              <a:buFont typeface="Times New Roman"/>
              <a:buNone/>
            </a:pPr>
            <a:r>
              <a:rPr lang="en" sz="15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Specify address, read/write permission, reset value, and bit meaning before coding AXI logic.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822960" y="2587752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1325880" y="256946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address decode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1325880" y="2843784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500"/>
              <a:buFont typeface="Times New Roman"/>
              <a:buNone/>
            </a:pPr>
            <a:r>
              <a:rPr lang="en" sz="15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32-bit registers, low address bits are usually ignored because accesses are word-aligned.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822960" y="3758184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1325880" y="3739896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WSTRB and byte writes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1325880" y="4014216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500"/>
              <a:buFont typeface="Times New Roman"/>
              <a:buNone/>
            </a:pPr>
            <a:r>
              <a:rPr lang="en" sz="15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each byte according to WSTRB so software can modify selected byte lanes.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6400800" y="1417320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6903720" y="1399032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responses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6903720" y="1673352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500"/>
              <a:buFont typeface="Times New Roman"/>
              <a:buNone/>
            </a:pPr>
            <a:r>
              <a:rPr lang="en" sz="15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BRESP/RRESP usually return OKAY for valid accesses; signal errors when the system requires it.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6400800" y="2587752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26"/>
          <p:cNvSpPr/>
          <p:nvPr/>
        </p:nvSpPr>
        <p:spPr>
          <a:xfrm>
            <a:off x="6903720" y="2569464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 and back-pressure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26"/>
          <p:cNvSpPr/>
          <p:nvPr/>
        </p:nvSpPr>
        <p:spPr>
          <a:xfrm>
            <a:off x="6903720" y="2843784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500"/>
              <a:buFont typeface="Times New Roman"/>
              <a:buNone/>
            </a:pPr>
            <a:r>
              <a:rPr lang="en" sz="15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 registers and VALID signals to safe values; READY may be 0 when a transfer cannot be accepted.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6400800" y="3758184"/>
            <a:ext cx="393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6903720" y="3739896"/>
            <a:ext cx="4343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500"/>
              <a:buFont typeface="Times New Roman"/>
              <a:buNone/>
            </a:pPr>
            <a:r>
              <a:rPr b="1" lang="en" sz="15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26"/>
          <p:cNvSpPr/>
          <p:nvPr/>
        </p:nvSpPr>
        <p:spPr>
          <a:xfrm>
            <a:off x="6903720" y="4014216"/>
            <a:ext cx="4343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500"/>
              <a:buFont typeface="Times New Roman"/>
              <a:buNone/>
            </a:pPr>
            <a:r>
              <a:rPr lang="en" sz="15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every register, delayed handshakes, reset during transfers, and WSTRB combinations.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26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94" name="Google Shape;494;p26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495" name="Google Shape;495;p26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6" name="Google Shape;496;p26"/>
            <p:cNvGrpSpPr/>
            <p:nvPr/>
          </p:nvGrpSpPr>
          <p:grpSpPr>
            <a:xfrm>
              <a:off x="11503302" y="6266645"/>
              <a:ext cx="547843" cy="552558"/>
              <a:chOff x="11077575" y="194161"/>
              <a:chExt cx="488100" cy="492300"/>
            </a:xfrm>
          </p:grpSpPr>
          <p:pic>
            <p:nvPicPr>
              <p:cNvPr id="497" name="Google Shape;497;p26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8" name="Google Shape;498;p26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99" name="Google Shape;499;p26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0" name="Google Shape;500;p26"/>
          <p:cNvGrpSpPr/>
          <p:nvPr/>
        </p:nvGrpSpPr>
        <p:grpSpPr>
          <a:xfrm>
            <a:off x="-31245" y="0"/>
            <a:ext cx="12085732" cy="6858000"/>
            <a:chOff x="-31245" y="0"/>
            <a:chExt cx="12085732" cy="6858000"/>
          </a:xfrm>
        </p:grpSpPr>
        <p:pic>
          <p:nvPicPr>
            <p:cNvPr id="501" name="Google Shape;50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26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6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4" name="Google Shape;504;p26"/>
            <p:cNvGrpSpPr/>
            <p:nvPr/>
          </p:nvGrpSpPr>
          <p:grpSpPr>
            <a:xfrm>
              <a:off x="11508327" y="243070"/>
              <a:ext cx="546160" cy="546160"/>
              <a:chOff x="11082052" y="197383"/>
              <a:chExt cx="486600" cy="486600"/>
            </a:xfrm>
          </p:grpSpPr>
          <p:sp>
            <p:nvSpPr>
              <p:cNvPr id="505" name="Google Shape;505;p26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6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07" name="Google Shape;507;p26"/>
            <p:cNvGrpSpPr/>
            <p:nvPr/>
          </p:nvGrpSpPr>
          <p:grpSpPr>
            <a:xfrm>
              <a:off x="4493282" y="113148"/>
              <a:ext cx="3238079" cy="723497"/>
              <a:chOff x="4276725" y="63291"/>
              <a:chExt cx="3638700" cy="813009"/>
            </a:xfrm>
          </p:grpSpPr>
          <p:pic>
            <p:nvPicPr>
              <p:cNvPr id="508" name="Google Shape;508;p26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9" name="Google Shape;509;p26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10" name="Google Shape;510;p26"/>
              <p:cNvPicPr preferRelativeResize="0"/>
              <p:nvPr/>
            </p:nvPicPr>
            <p:blipFill rotWithShape="1">
              <a:blip r:embed="rId3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27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516" name="Google Shape;516;p27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7" name="Google Shape;517;p27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518" name="Google Shape;518;p27"/>
              <p:cNvPicPr preferRelativeResize="0"/>
              <p:nvPr/>
            </p:nvPicPr>
            <p:blipFill rotWithShape="1">
              <a:blip r:embed="rId4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9" name="Google Shape;519;p27"/>
              <p:cNvPicPr preferRelativeResize="0"/>
              <p:nvPr/>
            </p:nvPicPr>
            <p:blipFill rotWithShape="1">
              <a:blip r:embed="rId5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520" name="Google Shape;520;p27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1" name="Google Shape;521;p27"/>
          <p:cNvGrpSpPr/>
          <p:nvPr/>
        </p:nvGrpSpPr>
        <p:grpSpPr>
          <a:xfrm>
            <a:off x="-31245" y="0"/>
            <a:ext cx="12085616" cy="6858000"/>
            <a:chOff x="-31245" y="0"/>
            <a:chExt cx="12085616" cy="6858000"/>
          </a:xfrm>
        </p:grpSpPr>
        <p:pic>
          <p:nvPicPr>
            <p:cNvPr id="522" name="Google Shape;522;p2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-23812" y="0"/>
              <a:ext cx="652500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3" name="Google Shape;523;p27"/>
            <p:cNvSpPr/>
            <p:nvPr/>
          </p:nvSpPr>
          <p:spPr>
            <a:xfrm flipH="1" rot="10800000">
              <a:off x="-31245" y="0"/>
              <a:ext cx="6336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7"/>
            <p:cNvSpPr txBox="1"/>
            <p:nvPr/>
          </p:nvSpPr>
          <p:spPr>
            <a:xfrm rot="-5400000">
              <a:off x="-173988" y="5138175"/>
              <a:ext cx="8799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88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PORTFOLIO</a:t>
              </a:r>
              <a:endParaRPr b="1" i="0" sz="88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25" name="Google Shape;525;p27"/>
            <p:cNvGrpSpPr/>
            <p:nvPr/>
          </p:nvGrpSpPr>
          <p:grpSpPr>
            <a:xfrm>
              <a:off x="11508216" y="243068"/>
              <a:ext cx="546155" cy="546155"/>
              <a:chOff x="11082052" y="197383"/>
              <a:chExt cx="486600" cy="486600"/>
            </a:xfrm>
          </p:grpSpPr>
          <p:sp>
            <p:nvSpPr>
              <p:cNvPr id="526" name="Google Shape;526;p27"/>
              <p:cNvSpPr/>
              <p:nvPr/>
            </p:nvSpPr>
            <p:spPr>
              <a:xfrm>
                <a:off x="11082052" y="197383"/>
                <a:ext cx="486600" cy="4866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27"/>
              <p:cNvSpPr/>
              <p:nvPr/>
            </p:nvSpPr>
            <p:spPr>
              <a:xfrm>
                <a:off x="11215211" y="330505"/>
                <a:ext cx="220200" cy="220200"/>
              </a:xfrm>
              <a:prstGeom prst="ellipse">
                <a:avLst/>
              </a:prstGeom>
              <a:solidFill>
                <a:srgbClr val="38EF7D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28" name="Google Shape;528;p27"/>
            <p:cNvGrpSpPr/>
            <p:nvPr/>
          </p:nvGrpSpPr>
          <p:grpSpPr>
            <a:xfrm>
              <a:off x="4493294" y="113148"/>
              <a:ext cx="3238090" cy="723500"/>
              <a:chOff x="4276725" y="63291"/>
              <a:chExt cx="3638700" cy="813009"/>
            </a:xfrm>
          </p:grpSpPr>
          <p:pic>
            <p:nvPicPr>
              <p:cNvPr id="529" name="Google Shape;529;p27"/>
              <p:cNvPicPr preferRelativeResize="0"/>
              <p:nvPr/>
            </p:nvPicPr>
            <p:blipFill rotWithShape="1">
              <a:blip r:embed="rId7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0" name="Google Shape;530;p27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31" name="Google Shape;531;p27"/>
              <p:cNvPicPr preferRelativeResize="0"/>
              <p:nvPr/>
            </p:nvPicPr>
            <p:blipFill rotWithShape="1">
              <a:blip r:embed="rId8">
                <a:alphaModFix/>
              </a:blip>
              <a:srcRect b="-12260" l="0" r="-12372" t="90"/>
              <a:stretch/>
            </p:blipFill>
            <p:spPr>
              <a:xfrm>
                <a:off x="5606244" y="6329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32" name="Google Shape;532;p27"/>
          <p:cNvGrpSpPr/>
          <p:nvPr/>
        </p:nvGrpSpPr>
        <p:grpSpPr>
          <a:xfrm>
            <a:off x="1714500" y="1143000"/>
            <a:ext cx="8953500" cy="2476500"/>
            <a:chOff x="1714500" y="1143000"/>
            <a:chExt cx="8953500" cy="2476500"/>
          </a:xfrm>
        </p:grpSpPr>
        <p:sp>
          <p:nvSpPr>
            <p:cNvPr id="533" name="Google Shape;533;p27"/>
            <p:cNvSpPr/>
            <p:nvPr/>
          </p:nvSpPr>
          <p:spPr>
            <a:xfrm>
              <a:off x="1714500" y="1333500"/>
              <a:ext cx="8953500" cy="2286000"/>
            </a:xfrm>
            <a:prstGeom prst="roundRect">
              <a:avLst>
                <a:gd fmla="val 3537" name="adj"/>
              </a:avLst>
            </a:prstGeom>
            <a:solidFill>
              <a:srgbClr val="FFFFFF"/>
            </a:solidFill>
            <a:ln cap="flat" cmpd="sng" w="254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7"/>
            <p:cNvSpPr txBox="1"/>
            <p:nvPr/>
          </p:nvSpPr>
          <p:spPr>
            <a:xfrm>
              <a:off x="1905000" y="1524000"/>
              <a:ext cx="8572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Intern Project: AXI4-Lite Verification for ALU Peripheral</a:t>
              </a:r>
              <a:endParaRPr b="1" sz="2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Verify a 32-bit ALU peripheral controlled via AXI4-Lite / Avalon-MM bus.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Đinh Khánh Đăng - Phạm Chí Đạt</a:t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1600">
                  <a:latin typeface="Times New Roman"/>
                  <a:ea typeface="Times New Roman"/>
                  <a:cs typeface="Times New Roman"/>
                  <a:sym typeface="Times New Roman"/>
                </a:rPr>
                <a:t>https://github.com/DinhKhanhDang27/AXI4_LITE</a:t>
              </a:r>
              <a:endParaRPr b="1" i="1"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35" name="Google Shape;535;p27"/>
            <p:cNvGrpSpPr/>
            <p:nvPr/>
          </p:nvGrpSpPr>
          <p:grpSpPr>
            <a:xfrm>
              <a:off x="5143500" y="1143000"/>
              <a:ext cx="2095500" cy="381000"/>
              <a:chOff x="0" y="0"/>
              <a:chExt cx="2095500" cy="381000"/>
            </a:xfrm>
          </p:grpSpPr>
          <p:sp>
            <p:nvSpPr>
              <p:cNvPr id="536" name="Google Shape;536;p27"/>
              <p:cNvSpPr/>
              <p:nvPr/>
            </p:nvSpPr>
            <p:spPr>
              <a:xfrm>
                <a:off x="0" y="0"/>
                <a:ext cx="2095500" cy="381000"/>
              </a:xfrm>
              <a:prstGeom prst="roundRect">
                <a:avLst>
                  <a:gd fmla="val 10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7"/>
              <p:cNvSpPr txBox="1"/>
              <p:nvPr/>
            </p:nvSpPr>
            <p:spPr>
              <a:xfrm>
                <a:off x="0" y="0"/>
                <a:ext cx="2095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INTERN PROJECT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38" name="Google Shape;538;p27"/>
          <p:cNvGrpSpPr/>
          <p:nvPr/>
        </p:nvGrpSpPr>
        <p:grpSpPr>
          <a:xfrm>
            <a:off x="1714500" y="4000500"/>
            <a:ext cx="8953500" cy="857400"/>
            <a:chOff x="1714500" y="4000500"/>
            <a:chExt cx="8953500" cy="857400"/>
          </a:xfrm>
        </p:grpSpPr>
        <p:grpSp>
          <p:nvGrpSpPr>
            <p:cNvPr id="539" name="Google Shape;539;p27"/>
            <p:cNvGrpSpPr/>
            <p:nvPr/>
          </p:nvGrpSpPr>
          <p:grpSpPr>
            <a:xfrm>
              <a:off x="1714500" y="4000500"/>
              <a:ext cx="2095500" cy="857400"/>
              <a:chOff x="0" y="0"/>
              <a:chExt cx="2095500" cy="857400"/>
            </a:xfrm>
          </p:grpSpPr>
          <p:sp>
            <p:nvSpPr>
              <p:cNvPr id="540" name="Google Shape;540;p27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27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01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27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RTL Design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43" name="Google Shape;543;p27"/>
            <p:cNvGrpSpPr/>
            <p:nvPr/>
          </p:nvGrpSpPr>
          <p:grpSpPr>
            <a:xfrm>
              <a:off x="4000500" y="4000500"/>
              <a:ext cx="2095500" cy="857400"/>
              <a:chOff x="0" y="0"/>
              <a:chExt cx="2095500" cy="857400"/>
            </a:xfrm>
          </p:grpSpPr>
          <p:sp>
            <p:nvSpPr>
              <p:cNvPr id="544" name="Google Shape;544;p27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27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02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27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</a:t>
                </a: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estbench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47" name="Google Shape;547;p27"/>
            <p:cNvGrpSpPr/>
            <p:nvPr/>
          </p:nvGrpSpPr>
          <p:grpSpPr>
            <a:xfrm>
              <a:off x="6286500" y="4000500"/>
              <a:ext cx="2095500" cy="857400"/>
              <a:chOff x="0" y="0"/>
              <a:chExt cx="2095500" cy="857400"/>
            </a:xfrm>
          </p:grpSpPr>
          <p:sp>
            <p:nvSpPr>
              <p:cNvPr id="548" name="Google Shape;548;p27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27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27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Vivado Code Coverage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551" name="Google Shape;551;p27"/>
            <p:cNvGrpSpPr/>
            <p:nvPr/>
          </p:nvGrpSpPr>
          <p:grpSpPr>
            <a:xfrm>
              <a:off x="8572500" y="4000500"/>
              <a:ext cx="2095500" cy="857400"/>
              <a:chOff x="0" y="0"/>
              <a:chExt cx="2095500" cy="857400"/>
            </a:xfrm>
          </p:grpSpPr>
          <p:sp>
            <p:nvSpPr>
              <p:cNvPr id="552" name="Google Shape;552;p27"/>
              <p:cNvSpPr/>
              <p:nvPr/>
            </p:nvSpPr>
            <p:spPr>
              <a:xfrm>
                <a:off x="0" y="0"/>
                <a:ext cx="20955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7"/>
              <p:cNvSpPr txBox="1"/>
              <p:nvPr/>
            </p:nvSpPr>
            <p:spPr>
              <a:xfrm>
                <a:off x="95250" y="76200"/>
                <a:ext cx="381000" cy="2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04</a:t>
                </a:r>
                <a:endParaRPr b="1" sz="11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7"/>
              <p:cNvSpPr txBox="1"/>
              <p:nvPr/>
            </p:nvSpPr>
            <p:spPr>
              <a:xfrm>
                <a:off x="142875" y="238125"/>
                <a:ext cx="18096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Quartus / Qsys Integration</a:t>
                </a:r>
                <a:endParaRPr b="1" sz="1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555" name="Google Shape;555;p27"/>
          <p:cNvGrpSpPr/>
          <p:nvPr/>
        </p:nvGrpSpPr>
        <p:grpSpPr>
          <a:xfrm>
            <a:off x="1714500" y="5095875"/>
            <a:ext cx="8953500" cy="666900"/>
            <a:chOff x="0" y="0"/>
            <a:chExt cx="8953500" cy="666900"/>
          </a:xfrm>
        </p:grpSpPr>
        <p:sp>
          <p:nvSpPr>
            <p:cNvPr id="556" name="Google Shape;556;p27"/>
            <p:cNvSpPr/>
            <p:nvPr/>
          </p:nvSpPr>
          <p:spPr>
            <a:xfrm>
              <a:off x="0" y="0"/>
              <a:ext cx="89535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7" name="Google Shape;557;p27"/>
            <p:cNvGrpSpPr/>
            <p:nvPr/>
          </p:nvGrpSpPr>
          <p:grpSpPr>
            <a:xfrm>
              <a:off x="142875" y="142875"/>
              <a:ext cx="1428900" cy="381000"/>
              <a:chOff x="0" y="0"/>
              <a:chExt cx="1428900" cy="381000"/>
            </a:xfrm>
          </p:grpSpPr>
          <p:sp>
            <p:nvSpPr>
              <p:cNvPr id="558" name="Google Shape;558;p27"/>
              <p:cNvSpPr/>
              <p:nvPr/>
            </p:nvSpPr>
            <p:spPr>
              <a:xfrm>
                <a:off x="0" y="0"/>
                <a:ext cx="1428900" cy="381000"/>
              </a:xfrm>
              <a:prstGeom prst="roundRect">
                <a:avLst>
                  <a:gd fmla="val 15000" name="adj"/>
                </a:avLst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7"/>
              <p:cNvSpPr txBox="1"/>
              <p:nvPr/>
            </p:nvSpPr>
            <p:spPr>
              <a:xfrm>
                <a:off x="0" y="0"/>
                <a:ext cx="1428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PROJECT STATUS</a:t>
                </a:r>
                <a:endParaRPr b="1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0" name="Google Shape;560;p27"/>
            <p:cNvSpPr txBox="1"/>
            <p:nvPr/>
          </p:nvSpPr>
          <p:spPr>
            <a:xfrm>
              <a:off x="1762125" y="0"/>
              <a:ext cx="7000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38EF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RTL modules</a:t>
              </a:r>
              <a:r>
                <a:rPr b="1" lang="en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b="1" lang="en" sz="1800">
                  <a:solidFill>
                    <a:srgbClr val="38EF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testbenches</a:t>
              </a:r>
              <a:r>
                <a:rPr b="1" lang="en" sz="18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implemented.</a:t>
              </a:r>
              <a:endParaRPr b="1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8"/>
          <p:cNvSpPr txBox="1"/>
          <p:nvPr/>
        </p:nvSpPr>
        <p:spPr>
          <a:xfrm>
            <a:off x="9349775" y="246450"/>
            <a:ext cx="26169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Scope &amp; System Overview</a:t>
            </a:r>
            <a:endParaRPr b="1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6" name="Google Shape;566;p28" title="Untitled Diagram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87" y="152400"/>
            <a:ext cx="9146784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1" name="Google Shape;571;p29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572" name="Google Shape;572;p29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3" name="Google Shape;573;p29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4" name="Google Shape;574;p29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575" name="Google Shape;575;p29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9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7" name="Google Shape;577;p29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578" name="Google Shape;578;p29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9" name="Google Shape;579;p2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580" name="Google Shape;580;p29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581" name="Google Shape;581;p29"/>
          <p:cNvGrpSpPr/>
          <p:nvPr/>
        </p:nvGrpSpPr>
        <p:grpSpPr>
          <a:xfrm>
            <a:off x="428625" y="809625"/>
            <a:ext cx="11334900" cy="523800"/>
            <a:chOff x="0" y="0"/>
            <a:chExt cx="11334900" cy="523800"/>
          </a:xfrm>
        </p:grpSpPr>
        <p:sp>
          <p:nvSpPr>
            <p:cNvPr id="582" name="Google Shape;582;p29"/>
            <p:cNvSpPr/>
            <p:nvPr/>
          </p:nvSpPr>
          <p:spPr>
            <a:xfrm>
              <a:off x="0" y="0"/>
              <a:ext cx="11334900" cy="523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9"/>
            <p:cNvSpPr txBox="1"/>
            <p:nvPr/>
          </p:nvSpPr>
          <p:spPr>
            <a:xfrm>
              <a:off x="0" y="0"/>
              <a:ext cx="113349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Scope &amp; System Overview</a:t>
              </a:r>
              <a:endParaRPr b="1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84" name="Google Shape;584;p29"/>
          <p:cNvGrpSpPr/>
          <p:nvPr/>
        </p:nvGrpSpPr>
        <p:grpSpPr>
          <a:xfrm>
            <a:off x="1095375" y="1476375"/>
            <a:ext cx="10001400" cy="666900"/>
            <a:chOff x="1095375" y="1476375"/>
            <a:chExt cx="10001400" cy="666900"/>
          </a:xfrm>
        </p:grpSpPr>
        <p:sp>
          <p:nvSpPr>
            <p:cNvPr id="585" name="Google Shape;585;p29"/>
            <p:cNvSpPr/>
            <p:nvPr/>
          </p:nvSpPr>
          <p:spPr>
            <a:xfrm>
              <a:off x="1095375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9"/>
            <p:cNvSpPr txBox="1"/>
            <p:nvPr/>
          </p:nvSpPr>
          <p:spPr>
            <a:xfrm>
              <a:off x="1095375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Avalon-MM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Master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7" name="Google Shape;587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762250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8" name="Google Shape;588;p29"/>
            <p:cNvSpPr/>
            <p:nvPr/>
          </p:nvSpPr>
          <p:spPr>
            <a:xfrm>
              <a:off x="3143250" y="1476375"/>
              <a:ext cx="2000100" cy="6669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9"/>
            <p:cNvSpPr txBox="1"/>
            <p:nvPr/>
          </p:nvSpPr>
          <p:spPr>
            <a:xfrm>
              <a:off x="3143250" y="1476375"/>
              <a:ext cx="2000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Avalon-to-AXI4Lite</a:t>
              </a:r>
              <a:endParaRPr b="1" sz="13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Bridge </a:t>
              </a:r>
              <a:r>
                <a:rPr b="1" i="1" lang="en" sz="1300">
                  <a:solidFill>
                    <a:srgbClr val="05624A"/>
                  </a:solidFill>
                </a:rPr>
                <a:t>(Avalon slave - axi4 lite master) </a:t>
              </a:r>
              <a:endParaRPr b="1" i="1" sz="1300">
                <a:solidFill>
                  <a:srgbClr val="05624A"/>
                </a:solidFill>
              </a:endParaRPr>
            </a:p>
          </p:txBody>
        </p:sp>
        <p:pic>
          <p:nvPicPr>
            <p:cNvPr id="590" name="Google Shape;590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5191125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1" name="Google Shape;591;p29"/>
            <p:cNvSpPr/>
            <p:nvPr/>
          </p:nvSpPr>
          <p:spPr>
            <a:xfrm>
              <a:off x="5572125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9"/>
            <p:cNvSpPr txBox="1"/>
            <p:nvPr/>
          </p:nvSpPr>
          <p:spPr>
            <a:xfrm>
              <a:off x="5572125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AXI4-Lite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Slave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3" name="Google Shape;593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239000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29"/>
            <p:cNvSpPr/>
            <p:nvPr/>
          </p:nvSpPr>
          <p:spPr>
            <a:xfrm>
              <a:off x="7620000" y="1476375"/>
              <a:ext cx="1619100" cy="666900"/>
            </a:xfrm>
            <a:prstGeom prst="roundRect">
              <a:avLst>
                <a:gd fmla="val 11428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9"/>
            <p:cNvSpPr txBox="1"/>
            <p:nvPr/>
          </p:nvSpPr>
          <p:spPr>
            <a:xfrm>
              <a:off x="7620000" y="14763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Register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Bank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6" name="Google Shape;596;p2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9286875" y="1766888"/>
              <a:ext cx="3477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29"/>
            <p:cNvSpPr/>
            <p:nvPr/>
          </p:nvSpPr>
          <p:spPr>
            <a:xfrm>
              <a:off x="9667875" y="1476375"/>
              <a:ext cx="1428900" cy="666900"/>
            </a:xfrm>
            <a:prstGeom prst="roundRect">
              <a:avLst>
                <a:gd fmla="val 11428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9"/>
            <p:cNvSpPr txBox="1"/>
            <p:nvPr/>
          </p:nvSpPr>
          <p:spPr>
            <a:xfrm>
              <a:off x="9667875" y="1476375"/>
              <a:ext cx="1428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ALU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Core</a:t>
              </a:r>
              <a:endParaRPr b="1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9" name="Google Shape;599;p29"/>
          <p:cNvGrpSpPr/>
          <p:nvPr/>
        </p:nvGrpSpPr>
        <p:grpSpPr>
          <a:xfrm>
            <a:off x="428625" y="2381250"/>
            <a:ext cx="5429400" cy="3524400"/>
            <a:chOff x="0" y="0"/>
            <a:chExt cx="5429400" cy="3524400"/>
          </a:xfrm>
        </p:grpSpPr>
        <p:sp>
          <p:nvSpPr>
            <p:cNvPr id="600" name="Google Shape;600;p29"/>
            <p:cNvSpPr/>
            <p:nvPr/>
          </p:nvSpPr>
          <p:spPr>
            <a:xfrm>
              <a:off x="0" y="0"/>
              <a:ext cx="54294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9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Top-Level RTL Design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02" name="Google Shape;602;p29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3" name="Google Shape;603;p29"/>
            <p:cNvSpPr txBox="1"/>
            <p:nvPr/>
          </p:nvSpPr>
          <p:spPr>
            <a:xfrm>
              <a:off x="285750" y="762000"/>
              <a:ext cx="4857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top-level hardware design integrates all core modules into a unified, functional system datapath.</a:t>
              </a:r>
              <a:endParaRPr b="0" sz="1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95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TOP-LEVEL RTL FILE:</a:t>
              </a:r>
              <a:endParaRPr b="1" sz="1395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88">
                  <a:solidFill>
                    <a:srgbClr val="05624A"/>
                  </a:solidFill>
                  <a:highlight>
                    <a:srgbClr val="E6F4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avalon_axi4lite_alu.sv</a:t>
              </a:r>
              <a:endParaRPr b="1" sz="1488">
                <a:solidFill>
                  <a:srgbClr val="05624A"/>
                </a:solidFill>
                <a:highlight>
                  <a:srgbClr val="E6F4F0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395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SYSTEM INTEGRATION:</a:t>
              </a:r>
              <a:endParaRPr b="1" sz="1395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5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Connects the Avalon-MM master interface cleanly to the ALU core.</a:t>
              </a:r>
              <a:endParaRPr b="0" sz="1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Manages multi-protocol bus transfers across the register bank.</a:t>
              </a:r>
              <a:endParaRPr b="0" sz="15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04" name="Google Shape;604;p29"/>
          <p:cNvGrpSpPr/>
          <p:nvPr/>
        </p:nvGrpSpPr>
        <p:grpSpPr>
          <a:xfrm>
            <a:off x="6334125" y="2381250"/>
            <a:ext cx="5429400" cy="3524400"/>
            <a:chOff x="0" y="0"/>
            <a:chExt cx="5429400" cy="3524400"/>
          </a:xfrm>
        </p:grpSpPr>
        <p:sp>
          <p:nvSpPr>
            <p:cNvPr id="605" name="Google Shape;605;p29"/>
            <p:cNvSpPr/>
            <p:nvPr/>
          </p:nvSpPr>
          <p:spPr>
            <a:xfrm>
              <a:off x="0" y="0"/>
              <a:ext cx="5429400" cy="3524400"/>
            </a:xfrm>
            <a:prstGeom prst="roundRect">
              <a:avLst>
                <a:gd fmla="val 324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9"/>
            <p:cNvSpPr txBox="1"/>
            <p:nvPr/>
          </p:nvSpPr>
          <p:spPr>
            <a:xfrm>
              <a:off x="285750" y="190500"/>
              <a:ext cx="4857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Testbenches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07" name="Google Shape;607;p29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8" name="Google Shape;608;p29"/>
            <p:cNvSpPr txBox="1"/>
            <p:nvPr/>
          </p:nvSpPr>
          <p:spPr>
            <a:xfrm>
              <a:off x="285750" y="762000"/>
              <a:ext cx="48579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9525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Verification relies on three primary targeted testbench environments designed to isolate and validate each module's core interfaces: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tb_avalon_axi4lite_bridge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Avalon-MM to AXI4-Lite translation logic accuracy.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tb_axi4lite_slave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the protocol slave compliance and state transition.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■ tb_axi_register_bank</a:t>
              </a:r>
              <a:endParaRPr b="1" sz="1500">
                <a:solidFill>
                  <a:srgbClr val="05624A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09550" marR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555555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Validates custom register-bank mapping and ALU instructions.</a:t>
              </a:r>
              <a:endParaRPr b="0" sz="13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09" name="Google Shape;609;p29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610" name="Google Shape;610;p29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11" name="Google Shape;611;p29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612" name="Google Shape;612;p29"/>
              <p:cNvPicPr preferRelativeResize="0"/>
              <p:nvPr/>
            </p:nvPicPr>
            <p:blipFill rotWithShape="1">
              <a:blip r:embed="rId8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3" name="Google Shape;613;p29"/>
              <p:cNvPicPr preferRelativeResize="0"/>
              <p:nvPr/>
            </p:nvPicPr>
            <p:blipFill rotWithShape="1">
              <a:blip r:embed="rId9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14" name="Google Shape;614;p29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615" name="Google Shape;615;p29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29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i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1" name="Google Shape;621;p30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622" name="Google Shape;622;p30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30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0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5" name="Google Shape;625;p30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626" name="Google Shape;626;p30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7" name="Google Shape;627;p30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628" name="Google Shape;628;p30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629" name="Google Shape;629;p30"/>
          <p:cNvSpPr txBox="1"/>
          <p:nvPr/>
        </p:nvSpPr>
        <p:spPr>
          <a:xfrm>
            <a:off x="523875" y="762000"/>
            <a:ext cx="111444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Under Test (DUT) Architecture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block hierarchy and layered separation of the avalon_axi4lite_alu IP core</a:t>
            </a:r>
            <a:endParaRPr b="0" i="1" sz="16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30" name="Google Shape;630;p30"/>
          <p:cNvGrpSpPr/>
          <p:nvPr/>
        </p:nvGrpSpPr>
        <p:grpSpPr>
          <a:xfrm>
            <a:off x="523875" y="1666875"/>
            <a:ext cx="2619300" cy="2286000"/>
            <a:chOff x="0" y="0"/>
            <a:chExt cx="2619300" cy="2286000"/>
          </a:xfrm>
        </p:grpSpPr>
        <p:sp>
          <p:nvSpPr>
            <p:cNvPr id="631" name="Google Shape;631;p30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0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0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AVALON_AXI4LITE_BRIDGE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0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Bus Protocol Layer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Translates Avalon MM transactions to AXI4-Lite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Bridges master-slave interface protocols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35" name="Google Shape;635;p30"/>
          <p:cNvGrpSpPr/>
          <p:nvPr/>
        </p:nvGrpSpPr>
        <p:grpSpPr>
          <a:xfrm>
            <a:off x="3362325" y="1666875"/>
            <a:ext cx="2619300" cy="2286000"/>
            <a:chOff x="0" y="0"/>
            <a:chExt cx="2619300" cy="2286000"/>
          </a:xfrm>
        </p:grpSpPr>
        <p:sp>
          <p:nvSpPr>
            <p:cNvPr id="636" name="Google Shape;636;p30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0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0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AXI4LITE_SLAVE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0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Bus Protocol Layer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Manages standard AXI4-Lite channel handshakes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Handles bus reads and writes directly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40" name="Google Shape;640;p30"/>
          <p:cNvGrpSpPr/>
          <p:nvPr/>
        </p:nvGrpSpPr>
        <p:grpSpPr>
          <a:xfrm>
            <a:off x="6200775" y="1666875"/>
            <a:ext cx="2619300" cy="2286000"/>
            <a:chOff x="0" y="0"/>
            <a:chExt cx="2619300" cy="2286000"/>
          </a:xfrm>
        </p:grpSpPr>
        <p:sp>
          <p:nvSpPr>
            <p:cNvPr id="641" name="Google Shape;641;p30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0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0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AXI_REGISTER_BANK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0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Register Abstraction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Stores configuration data and control bits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Buffers operand values for ALU operations</a:t>
              </a:r>
              <a:endParaRPr b="0" sz="165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45" name="Google Shape;645;p30"/>
          <p:cNvGrpSpPr/>
          <p:nvPr/>
        </p:nvGrpSpPr>
        <p:grpSpPr>
          <a:xfrm>
            <a:off x="9039225" y="1666875"/>
            <a:ext cx="2619300" cy="2286000"/>
            <a:chOff x="0" y="0"/>
            <a:chExt cx="2619300" cy="2286000"/>
          </a:xfrm>
        </p:grpSpPr>
        <p:sp>
          <p:nvSpPr>
            <p:cNvPr id="646" name="Google Shape;646;p30"/>
            <p:cNvSpPr/>
            <p:nvPr/>
          </p:nvSpPr>
          <p:spPr>
            <a:xfrm>
              <a:off x="0" y="0"/>
              <a:ext cx="26193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0"/>
            <p:cNvSpPr/>
            <p:nvPr/>
          </p:nvSpPr>
          <p:spPr>
            <a:xfrm>
              <a:off x="0" y="0"/>
              <a:ext cx="26193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1562" y="0"/>
                    <a:pt x="3491" y="0"/>
                  </a:cubicBezTo>
                  <a:lnTo>
                    <a:pt x="116509" y="0"/>
                  </a:lnTo>
                  <a:cubicBezTo>
                    <a:pt x="118438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0"/>
            <p:cNvSpPr txBox="1"/>
            <p:nvPr/>
          </p:nvSpPr>
          <p:spPr>
            <a:xfrm>
              <a:off x="0" y="0"/>
              <a:ext cx="2619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ALU_CORE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0"/>
            <p:cNvSpPr txBox="1"/>
            <p:nvPr/>
          </p:nvSpPr>
          <p:spPr>
            <a:xfrm>
              <a:off x="142875" y="571500"/>
              <a:ext cx="23337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Datapath Layer</a:t>
              </a:r>
              <a:endParaRPr b="0" sz="12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Executes arithmetic and logical hardware operations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Implements high-speed execution datapath</a:t>
              </a:r>
              <a:endParaRPr b="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50" name="Google Shape;650;p30"/>
          <p:cNvGrpSpPr/>
          <p:nvPr/>
        </p:nvGrpSpPr>
        <p:grpSpPr>
          <a:xfrm>
            <a:off x="523875" y="4143375"/>
            <a:ext cx="4286400" cy="1762200"/>
            <a:chOff x="0" y="0"/>
            <a:chExt cx="4286400" cy="1762200"/>
          </a:xfrm>
        </p:grpSpPr>
        <p:sp>
          <p:nvSpPr>
            <p:cNvPr id="651" name="Google Shape;651;p30"/>
            <p:cNvSpPr/>
            <p:nvPr/>
          </p:nvSpPr>
          <p:spPr>
            <a:xfrm>
              <a:off x="0" y="0"/>
              <a:ext cx="4286400" cy="1762200"/>
            </a:xfrm>
            <a:prstGeom prst="roundRect">
              <a:avLst>
                <a:gd fmla="val 4324" name="adj"/>
              </a:avLst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0"/>
            <p:cNvSpPr txBox="1"/>
            <p:nvPr/>
          </p:nvSpPr>
          <p:spPr>
            <a:xfrm>
              <a:off x="190500" y="142875"/>
              <a:ext cx="39054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Specifications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653" name="Google Shape;653;p30"/>
            <p:cNvCxnSpPr/>
            <p:nvPr/>
          </p:nvCxnSpPr>
          <p:spPr>
            <a:xfrm>
              <a:off x="190500" y="495300"/>
              <a:ext cx="3905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54" name="Google Shape;654;p30"/>
            <p:cNvSpPr txBox="1"/>
            <p:nvPr/>
          </p:nvSpPr>
          <p:spPr>
            <a:xfrm>
              <a:off x="190500" y="590550"/>
              <a:ext cx="39054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Width: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32-bit data width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Address Width: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6-bit address width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■ </a:t>
              </a: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Reset Signals:</a:t>
              </a:r>
              <a:r>
                <a:rPr b="0" lang="en" sz="1100">
                  <a:solidFill>
                    <a:srgbClr val="43B69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lang="en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Active-low reset_n / aresetn</a:t>
              </a:r>
              <a:endParaRPr b="0" sz="1100">
                <a:solidFill>
                  <a:srgbClr val="43B69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55" name="Google Shape;655;p30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656" name="Google Shape;656;p30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7" name="Google Shape;657;p30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658" name="Google Shape;658;p30"/>
              <p:cNvPicPr preferRelativeResize="0"/>
              <p:nvPr/>
            </p:nvPicPr>
            <p:blipFill rotWithShape="1">
              <a:blip r:embed="rId7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9" name="Google Shape;659;p30"/>
              <p:cNvPicPr preferRelativeResize="0"/>
              <p:nvPr/>
            </p:nvPicPr>
            <p:blipFill rotWithShape="1">
              <a:blip r:embed="rId8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660" name="Google Shape;660;p30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1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667" name="Google Shape;667;p31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1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1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670" name="Google Shape;670;p31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31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p31"/>
          <p:cNvSpPr txBox="1"/>
          <p:nvPr/>
        </p:nvSpPr>
        <p:spPr>
          <a:xfrm>
            <a:off x="523875" y="857250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 Map Specification</a:t>
            </a:r>
            <a:endParaRPr b="1" sz="28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1"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1" i="1"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axi_register_bank.sv</a:t>
            </a:r>
            <a:r>
              <a:rPr b="0" i="1"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file specifies the register configuration</a:t>
            </a:r>
            <a:endParaRPr b="0" i="1"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673" name="Google Shape;673;p31"/>
          <p:cNvGrpSpPr/>
          <p:nvPr/>
        </p:nvGrpSpPr>
        <p:grpSpPr>
          <a:xfrm>
            <a:off x="523875" y="1905000"/>
            <a:ext cx="11144400" cy="3429075"/>
            <a:chOff x="523875" y="1905000"/>
            <a:chExt cx="11144400" cy="3429075"/>
          </a:xfrm>
        </p:grpSpPr>
        <p:sp>
          <p:nvSpPr>
            <p:cNvPr id="674" name="Google Shape;674;p31"/>
            <p:cNvSpPr/>
            <p:nvPr/>
          </p:nvSpPr>
          <p:spPr>
            <a:xfrm>
              <a:off x="523875" y="1905000"/>
              <a:ext cx="111444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31"/>
            <p:cNvSpPr/>
            <p:nvPr/>
          </p:nvSpPr>
          <p:spPr>
            <a:xfrm>
              <a:off x="523875" y="1905000"/>
              <a:ext cx="11144400" cy="428700"/>
            </a:xfrm>
            <a:custGeom>
              <a:rect b="b" l="l" r="r" t="t"/>
              <a:pathLst>
                <a:path extrusionOk="0" h="120000" w="120000">
                  <a:moveTo>
                    <a:pt x="0" y="21333"/>
                  </a:moveTo>
                  <a:cubicBezTo>
                    <a:pt x="0" y="9547"/>
                    <a:pt x="367" y="0"/>
                    <a:pt x="821" y="0"/>
                  </a:cubicBezTo>
                  <a:lnTo>
                    <a:pt x="119179" y="0"/>
                  </a:lnTo>
                  <a:cubicBezTo>
                    <a:pt x="119633" y="0"/>
                    <a:pt x="120000" y="9547"/>
                    <a:pt x="120000" y="21333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31"/>
            <p:cNvSpPr/>
            <p:nvPr/>
          </p:nvSpPr>
          <p:spPr>
            <a:xfrm>
              <a:off x="523875" y="276225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31"/>
            <p:cNvSpPr/>
            <p:nvPr/>
          </p:nvSpPr>
          <p:spPr>
            <a:xfrm>
              <a:off x="523875" y="361950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1"/>
            <p:cNvSpPr/>
            <p:nvPr/>
          </p:nvSpPr>
          <p:spPr>
            <a:xfrm>
              <a:off x="523875" y="4476750"/>
              <a:ext cx="11144400" cy="428700"/>
            </a:xfrm>
            <a:prstGeom prst="rect">
              <a:avLst/>
            </a:prstGeom>
            <a:solidFill>
              <a:srgbClr val="E6F4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79" name="Google Shape;679;p31"/>
            <p:cNvCxnSpPr/>
            <p:nvPr/>
          </p:nvCxnSpPr>
          <p:spPr>
            <a:xfrm>
              <a:off x="523875" y="233362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0" name="Google Shape;680;p31"/>
            <p:cNvCxnSpPr/>
            <p:nvPr/>
          </p:nvCxnSpPr>
          <p:spPr>
            <a:xfrm>
              <a:off x="523875" y="276225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1" name="Google Shape;681;p31"/>
            <p:cNvCxnSpPr/>
            <p:nvPr/>
          </p:nvCxnSpPr>
          <p:spPr>
            <a:xfrm>
              <a:off x="523875" y="319087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2" name="Google Shape;682;p31"/>
            <p:cNvCxnSpPr/>
            <p:nvPr/>
          </p:nvCxnSpPr>
          <p:spPr>
            <a:xfrm>
              <a:off x="523875" y="361950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3" name="Google Shape;683;p31"/>
            <p:cNvCxnSpPr/>
            <p:nvPr/>
          </p:nvCxnSpPr>
          <p:spPr>
            <a:xfrm>
              <a:off x="523875" y="404812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4" name="Google Shape;684;p31"/>
            <p:cNvCxnSpPr/>
            <p:nvPr/>
          </p:nvCxnSpPr>
          <p:spPr>
            <a:xfrm>
              <a:off x="523875" y="4476750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5" name="Google Shape;685;p31"/>
            <p:cNvCxnSpPr/>
            <p:nvPr/>
          </p:nvCxnSpPr>
          <p:spPr>
            <a:xfrm>
              <a:off x="523875" y="4905375"/>
              <a:ext cx="111444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6" name="Google Shape;686;p31"/>
            <p:cNvCxnSpPr/>
            <p:nvPr/>
          </p:nvCxnSpPr>
          <p:spPr>
            <a:xfrm>
              <a:off x="2238375" y="1905000"/>
              <a:ext cx="0" cy="3429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7" name="Google Shape;687;p31"/>
            <p:cNvCxnSpPr/>
            <p:nvPr/>
          </p:nvCxnSpPr>
          <p:spPr>
            <a:xfrm>
              <a:off x="4333875" y="1905000"/>
              <a:ext cx="0" cy="34290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8" name="Google Shape;688;p31"/>
            <p:cNvSpPr txBox="1"/>
            <p:nvPr/>
          </p:nvSpPr>
          <p:spPr>
            <a:xfrm>
              <a:off x="523875" y="19050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ADDRESS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31"/>
            <p:cNvSpPr txBox="1"/>
            <p:nvPr/>
          </p:nvSpPr>
          <p:spPr>
            <a:xfrm>
              <a:off x="2238375" y="190500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NAME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31"/>
            <p:cNvSpPr txBox="1"/>
            <p:nvPr/>
          </p:nvSpPr>
          <p:spPr>
            <a:xfrm>
              <a:off x="4333875" y="190500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FUNCTION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31"/>
            <p:cNvSpPr txBox="1"/>
            <p:nvPr/>
          </p:nvSpPr>
          <p:spPr>
            <a:xfrm>
              <a:off x="523875" y="23336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0x00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31"/>
            <p:cNvSpPr txBox="1"/>
            <p:nvPr/>
          </p:nvSpPr>
          <p:spPr>
            <a:xfrm>
              <a:off x="2238375" y="233362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CTRL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31"/>
            <p:cNvSpPr txBox="1"/>
            <p:nvPr/>
          </p:nvSpPr>
          <p:spPr>
            <a:xfrm>
              <a:off x="4333875" y="233362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bit 0 to start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4" name="Google Shape;694;p31"/>
            <p:cNvSpPr txBox="1"/>
            <p:nvPr/>
          </p:nvSpPr>
          <p:spPr>
            <a:xfrm>
              <a:off x="523875" y="276225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0x04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31"/>
            <p:cNvSpPr txBox="1"/>
            <p:nvPr/>
          </p:nvSpPr>
          <p:spPr>
            <a:xfrm>
              <a:off x="2238375" y="27622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STATUS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31"/>
            <p:cNvSpPr txBox="1"/>
            <p:nvPr/>
          </p:nvSpPr>
          <p:spPr>
            <a:xfrm>
              <a:off x="4333875" y="276225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{error, done, busy}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7" name="Google Shape;697;p31"/>
            <p:cNvSpPr txBox="1"/>
            <p:nvPr/>
          </p:nvSpPr>
          <p:spPr>
            <a:xfrm>
              <a:off x="523875" y="319087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0x08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31"/>
            <p:cNvSpPr txBox="1"/>
            <p:nvPr/>
          </p:nvSpPr>
          <p:spPr>
            <a:xfrm>
              <a:off x="2238375" y="319087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31"/>
            <p:cNvSpPr txBox="1"/>
            <p:nvPr/>
          </p:nvSpPr>
          <p:spPr>
            <a:xfrm>
              <a:off x="4333875" y="319087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 A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0" name="Google Shape;700;p31"/>
            <p:cNvSpPr txBox="1"/>
            <p:nvPr/>
          </p:nvSpPr>
          <p:spPr>
            <a:xfrm>
              <a:off x="523875" y="361950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0x0C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31"/>
            <p:cNvSpPr txBox="1"/>
            <p:nvPr/>
          </p:nvSpPr>
          <p:spPr>
            <a:xfrm>
              <a:off x="2238375" y="361950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31"/>
            <p:cNvSpPr txBox="1"/>
            <p:nvPr/>
          </p:nvSpPr>
          <p:spPr>
            <a:xfrm>
              <a:off x="4333875" y="361950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operand B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3" name="Google Shape;703;p31"/>
            <p:cNvSpPr txBox="1"/>
            <p:nvPr/>
          </p:nvSpPr>
          <p:spPr>
            <a:xfrm>
              <a:off x="523875" y="404812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0x10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31"/>
            <p:cNvSpPr txBox="1"/>
            <p:nvPr/>
          </p:nvSpPr>
          <p:spPr>
            <a:xfrm>
              <a:off x="2238375" y="404812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31"/>
            <p:cNvSpPr txBox="1"/>
            <p:nvPr/>
          </p:nvSpPr>
          <p:spPr>
            <a:xfrm>
              <a:off x="4333875" y="404812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4-bit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6" name="Google Shape;706;p31"/>
            <p:cNvSpPr txBox="1"/>
            <p:nvPr/>
          </p:nvSpPr>
          <p:spPr>
            <a:xfrm>
              <a:off x="523875" y="4476750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0x14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31"/>
            <p:cNvSpPr txBox="1"/>
            <p:nvPr/>
          </p:nvSpPr>
          <p:spPr>
            <a:xfrm>
              <a:off x="2238375" y="4476750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RESULT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31"/>
            <p:cNvSpPr txBox="1"/>
            <p:nvPr/>
          </p:nvSpPr>
          <p:spPr>
            <a:xfrm>
              <a:off x="4333875" y="4476750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ALU result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9" name="Google Shape;709;p31"/>
            <p:cNvSpPr txBox="1"/>
            <p:nvPr/>
          </p:nvSpPr>
          <p:spPr>
            <a:xfrm>
              <a:off x="523875" y="4905375"/>
              <a:ext cx="1714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invalid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31"/>
            <p:cNvSpPr txBox="1"/>
            <p:nvPr/>
          </p:nvSpPr>
          <p:spPr>
            <a:xfrm>
              <a:off x="2238375" y="4905375"/>
              <a:ext cx="20955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default</a:t>
              </a:r>
              <a:endParaRPr b="1" sz="13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1"/>
            <p:cNvSpPr txBox="1"/>
            <p:nvPr/>
          </p:nvSpPr>
          <p:spPr>
            <a:xfrm>
              <a:off x="4333875" y="4905375"/>
              <a:ext cx="7334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7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0 / write ignored</a:t>
              </a:r>
              <a:endParaRPr b="0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712" name="Google Shape;712;p31"/>
          <p:cNvSpPr txBox="1"/>
          <p:nvPr/>
        </p:nvSpPr>
        <p:spPr>
          <a:xfrm>
            <a:off x="523875" y="5476875"/>
            <a:ext cx="11144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Source: axi_register_bank.sv</a:t>
            </a:r>
            <a:endParaRPr b="1"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1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31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715" name="Google Shape;715;p31"/>
          <p:cNvSpPr/>
          <p:nvPr>
            <p:ph idx="6" type="pic"/>
          </p:nvPr>
        </p:nvSpPr>
        <p:spPr>
          <a:xfrm>
            <a:off x="11650831" y="6419043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716" name="Google Shape;716;p31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7" name="Google Shape;717;p31"/>
          <p:cNvGrpSpPr/>
          <p:nvPr/>
        </p:nvGrpSpPr>
        <p:grpSpPr>
          <a:xfrm>
            <a:off x="-4762" y="-6"/>
            <a:ext cx="12197919" cy="946406"/>
            <a:chOff x="-4762" y="-6"/>
            <a:chExt cx="12197919" cy="946406"/>
          </a:xfrm>
        </p:grpSpPr>
        <p:pic>
          <p:nvPicPr>
            <p:cNvPr id="718" name="Google Shape;718;p31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31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0" name="Google Shape;720;p31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721" name="Google Shape;721;p31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31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3" name="Google Shape;723;p31"/>
            <p:cNvGrpSpPr/>
            <p:nvPr/>
          </p:nvGrpSpPr>
          <p:grpSpPr>
            <a:xfrm>
              <a:off x="4477007" y="263617"/>
              <a:ext cx="3238079" cy="682784"/>
              <a:chOff x="4276725" y="109041"/>
              <a:chExt cx="3638700" cy="767259"/>
            </a:xfrm>
          </p:grpSpPr>
          <p:pic>
            <p:nvPicPr>
              <p:cNvPr id="724" name="Google Shape;724;p31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25" name="Google Shape;725;p31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26" name="Google Shape;726;p31"/>
              <p:cNvPicPr preferRelativeResize="0"/>
              <p:nvPr/>
            </p:nvPicPr>
            <p:blipFill rotWithShape="1">
              <a:blip r:embed="rId5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2" name="Google Shape;732;p32"/>
          <p:cNvGrpSpPr/>
          <p:nvPr/>
        </p:nvGrpSpPr>
        <p:grpSpPr>
          <a:xfrm>
            <a:off x="-4762" y="-6"/>
            <a:ext cx="12197919" cy="891792"/>
            <a:chOff x="-4762" y="-6"/>
            <a:chExt cx="12197919" cy="891792"/>
          </a:xfrm>
        </p:grpSpPr>
        <p:pic>
          <p:nvPicPr>
            <p:cNvPr id="733" name="Google Shape;733;p32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4" name="Google Shape;734;p32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2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6" name="Google Shape;736;p32"/>
            <p:cNvGrpSpPr/>
            <p:nvPr/>
          </p:nvGrpSpPr>
          <p:grpSpPr>
            <a:xfrm>
              <a:off x="4477020" y="263617"/>
              <a:ext cx="3176567" cy="628170"/>
              <a:chOff x="4276725" y="109041"/>
              <a:chExt cx="3569566" cy="705886"/>
            </a:xfrm>
          </p:grpSpPr>
          <p:pic>
            <p:nvPicPr>
              <p:cNvPr id="737" name="Google Shape;737;p3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4276725" y="152400"/>
                <a:ext cx="3238200" cy="64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38" name="Google Shape;738;p32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39" name="Google Shape;739;p32"/>
              <p:cNvPicPr preferRelativeResize="0"/>
              <p:nvPr/>
            </p:nvPicPr>
            <p:blipFill rotWithShape="1">
              <a:blip r:embed="rId5">
                <a:alphaModFix/>
              </a:blip>
              <a:srcRect b="-70" l="0" r="0" t="100"/>
              <a:stretch/>
            </p:blipFill>
            <p:spPr>
              <a:xfrm>
                <a:off x="5604843" y="109041"/>
                <a:ext cx="775800" cy="642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740" name="Google Shape;740;p32"/>
          <p:cNvGrpSpPr/>
          <p:nvPr/>
        </p:nvGrpSpPr>
        <p:grpSpPr>
          <a:xfrm>
            <a:off x="0" y="1425"/>
            <a:ext cx="12194400" cy="6885450"/>
            <a:chOff x="0" y="1425"/>
            <a:chExt cx="12194400" cy="6885450"/>
          </a:xfrm>
        </p:grpSpPr>
        <p:sp>
          <p:nvSpPr>
            <p:cNvPr id="741" name="Google Shape;741;p32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2" name="Google Shape;742;p32"/>
            <p:cNvGrpSpPr/>
            <p:nvPr/>
          </p:nvGrpSpPr>
          <p:grpSpPr>
            <a:xfrm>
              <a:off x="11503192" y="6266643"/>
              <a:ext cx="614845" cy="620233"/>
              <a:chOff x="11077575" y="194161"/>
              <a:chExt cx="547800" cy="552600"/>
            </a:xfrm>
          </p:grpSpPr>
          <p:pic>
            <p:nvPicPr>
              <p:cNvPr id="743" name="Google Shape;743;p32"/>
              <p:cNvPicPr preferRelativeResize="0"/>
              <p:nvPr/>
            </p:nvPicPr>
            <p:blipFill rotWithShape="1">
              <a:blip r:embed="rId6">
                <a:alphaModFix/>
              </a:blip>
              <a:srcRect b="10" l="0" r="0" t="0"/>
              <a:stretch/>
            </p:blipFill>
            <p:spPr>
              <a:xfrm>
                <a:off x="11077575" y="194161"/>
                <a:ext cx="547800" cy="552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4" name="Google Shape;744;p32"/>
              <p:cNvPicPr preferRelativeResize="0"/>
              <p:nvPr/>
            </p:nvPicPr>
            <p:blipFill rotWithShape="1">
              <a:blip r:embed="rId7">
                <a:alphaModFix/>
              </a:blip>
              <a:srcRect b="60" l="0" r="0" t="60"/>
              <a:stretch/>
            </p:blipFill>
            <p:spPr>
              <a:xfrm>
                <a:off x="11209115" y="329943"/>
                <a:ext cx="252600" cy="24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45" name="Google Shape;745;p32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6" name="Google Shape;746;p32"/>
          <p:cNvSpPr txBox="1"/>
          <p:nvPr/>
        </p:nvSpPr>
        <p:spPr>
          <a:xfrm>
            <a:off x="285750" y="95250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ALU Core Functionality &amp; Arithmetic Logic</a:t>
            </a:r>
            <a:endParaRPr b="1" sz="26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47" name="Google Shape;747;p32"/>
          <p:cNvGrpSpPr/>
          <p:nvPr/>
        </p:nvGrpSpPr>
        <p:grpSpPr>
          <a:xfrm>
            <a:off x="428625" y="1762125"/>
            <a:ext cx="5429400" cy="3762300"/>
            <a:chOff x="0" y="0"/>
            <a:chExt cx="5429400" cy="3762300"/>
          </a:xfrm>
        </p:grpSpPr>
        <p:sp>
          <p:nvSpPr>
            <p:cNvPr id="748" name="Google Shape;748;p32"/>
            <p:cNvSpPr/>
            <p:nvPr/>
          </p:nvSpPr>
          <p:spPr>
            <a:xfrm>
              <a:off x="0" y="0"/>
              <a:ext cx="54294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32"/>
            <p:cNvSpPr txBox="1"/>
            <p:nvPr/>
          </p:nvSpPr>
          <p:spPr>
            <a:xfrm>
              <a:off x="28575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Arithmetic &amp; Logic Operations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50" name="Google Shape;750;p32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51" name="Google Shape;751;p32"/>
            <p:cNvSpPr txBox="1"/>
            <p:nvPr/>
          </p:nvSpPr>
          <p:spPr>
            <a:xfrm>
              <a:off x="285750" y="714375"/>
              <a:ext cx="4857900" cy="185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b="1" lang="en" sz="1341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alu_core.sv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module implements a highly optimized 32-bit arithmetic unit with 4 supported functions: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'0' (ADD)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addition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'1' (SUB)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subtraction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'2' (MUL)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multiplication of inputs.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Opcode '3' (DIV)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Performs 32-bit unsigned division.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52" name="Google Shape;752;p32"/>
            <p:cNvGrpSpPr/>
            <p:nvPr/>
          </p:nvGrpSpPr>
          <p:grpSpPr>
            <a:xfrm>
              <a:off x="285750" y="2667000"/>
              <a:ext cx="2190750" cy="571500"/>
              <a:chOff x="0" y="0"/>
              <a:chExt cx="2190750" cy="571500"/>
            </a:xfrm>
          </p:grpSpPr>
          <p:sp>
            <p:nvSpPr>
              <p:cNvPr id="753" name="Google Shape;753;p32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76200">
                <a:solidFill>
                  <a:srgbClr val="E6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32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32</a:t>
                </a:r>
                <a:endParaRPr b="1" sz="15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5" name="Google Shape;755;p32"/>
              <p:cNvSpPr txBox="1"/>
              <p:nvPr/>
            </p:nvSpPr>
            <p:spPr>
              <a:xfrm>
                <a:off x="666750" y="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Data Width</a:t>
                </a:r>
                <a:endParaRPr b="1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32-Bit Operands</a:t>
                </a:r>
                <a:endParaRPr b="0" sz="1050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756" name="Google Shape;756;p32"/>
            <p:cNvGrpSpPr/>
            <p:nvPr/>
          </p:nvGrpSpPr>
          <p:grpSpPr>
            <a:xfrm>
              <a:off x="2667000" y="2667000"/>
              <a:ext cx="2190750" cy="571500"/>
              <a:chOff x="0" y="0"/>
              <a:chExt cx="2190750" cy="571500"/>
            </a:xfrm>
          </p:grpSpPr>
          <p:sp>
            <p:nvSpPr>
              <p:cNvPr id="757" name="Google Shape;757;p32"/>
              <p:cNvSpPr/>
              <p:nvPr/>
            </p:nvSpPr>
            <p:spPr>
              <a:xfrm>
                <a:off x="0" y="0"/>
                <a:ext cx="571500" cy="5715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cap="flat" cmpd="sng" w="76200">
                <a:solidFill>
                  <a:srgbClr val="E6F4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32"/>
              <p:cNvSpPr txBox="1"/>
              <p:nvPr/>
            </p:nvSpPr>
            <p:spPr>
              <a:xfrm>
                <a:off x="0" y="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</a:t>
                </a:r>
                <a:endParaRPr b="1" sz="15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759" name="Google Shape;759;p32"/>
              <p:cNvSpPr txBox="1"/>
              <p:nvPr/>
            </p:nvSpPr>
            <p:spPr>
              <a:xfrm>
                <a:off x="666750" y="0"/>
                <a:ext cx="1524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Opcode Width</a:t>
                </a:r>
                <a:endParaRPr b="1" sz="12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4-Bit Opcode</a:t>
                </a:r>
                <a:endParaRPr b="0" sz="1050">
                  <a:solidFill>
                    <a:srgbClr val="888888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760" name="Google Shape;760;p32"/>
          <p:cNvGrpSpPr/>
          <p:nvPr/>
        </p:nvGrpSpPr>
        <p:grpSpPr>
          <a:xfrm>
            <a:off x="6334125" y="1762125"/>
            <a:ext cx="5429400" cy="3762300"/>
            <a:chOff x="0" y="0"/>
            <a:chExt cx="5429400" cy="3762300"/>
          </a:xfrm>
        </p:grpSpPr>
        <p:sp>
          <p:nvSpPr>
            <p:cNvPr id="761" name="Google Shape;761;p32"/>
            <p:cNvSpPr/>
            <p:nvPr/>
          </p:nvSpPr>
          <p:spPr>
            <a:xfrm>
              <a:off x="0" y="0"/>
              <a:ext cx="54294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32"/>
            <p:cNvSpPr txBox="1"/>
            <p:nvPr/>
          </p:nvSpPr>
          <p:spPr>
            <a:xfrm>
              <a:off x="285750" y="190500"/>
              <a:ext cx="4857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Error Handling &amp; Exception Logic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63" name="Google Shape;763;p32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4" name="Google Shape;764;p32"/>
            <p:cNvSpPr txBox="1"/>
            <p:nvPr/>
          </p:nvSpPr>
          <p:spPr>
            <a:xfrm>
              <a:off x="285750" y="714375"/>
              <a:ext cx="48579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Division-by-Zero Protection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Unsigned division operations automatically monitor the divisor. If division by zero is attempted: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105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249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Output defaults to 32'h0 &amp; asserts 'error' flag</a:t>
              </a:r>
              <a:endParaRPr b="1" sz="1249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Invalid Opcode Exception</a:t>
              </a:r>
              <a:r>
                <a:rPr b="0" lang="en" sz="1341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: The hardware verifies opcode ranges in real-time. Any value greater than the defined set asserts error:</a:t>
              </a:r>
              <a:endParaRPr b="0" sz="13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13769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341"/>
                <a:buFont typeface="Times New Roman"/>
                <a:buChar char="●"/>
              </a:pPr>
              <a:r>
                <a:rPr b="1" lang="en" sz="1249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Opcode &gt; 3 asserts 'error' output high</a:t>
              </a:r>
              <a:endParaRPr b="1" sz="1249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765" name="Google Shape;765;p32"/>
            <p:cNvGrpSpPr/>
            <p:nvPr/>
          </p:nvGrpSpPr>
          <p:grpSpPr>
            <a:xfrm>
              <a:off x="285750" y="2524125"/>
              <a:ext cx="3476700" cy="971700"/>
              <a:chOff x="285750" y="2524125"/>
              <a:chExt cx="3476700" cy="971700"/>
            </a:xfrm>
          </p:grpSpPr>
          <p:sp>
            <p:nvSpPr>
              <p:cNvPr id="766" name="Google Shape;766;p32"/>
              <p:cNvSpPr/>
              <p:nvPr/>
            </p:nvSpPr>
            <p:spPr>
              <a:xfrm>
                <a:off x="285750" y="2524125"/>
                <a:ext cx="14763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E6F4F0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32"/>
              <p:cNvSpPr txBox="1"/>
              <p:nvPr/>
            </p:nvSpPr>
            <p:spPr>
              <a:xfrm>
                <a:off x="285750" y="2524125"/>
                <a:ext cx="14763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DIVISOR == 0</a:t>
                </a:r>
                <a:endParaRPr b="1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Unsigned Div-by-Zero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8" name="Google Shape;768;p32"/>
              <p:cNvSpPr/>
              <p:nvPr/>
            </p:nvSpPr>
            <p:spPr>
              <a:xfrm>
                <a:off x="2381250" y="2524125"/>
                <a:ext cx="13812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FFFFFF"/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32"/>
              <p:cNvSpPr txBox="1"/>
              <p:nvPr/>
            </p:nvSpPr>
            <p:spPr>
              <a:xfrm>
                <a:off x="2381250" y="2524125"/>
                <a:ext cx="13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Result Output</a:t>
                </a:r>
                <a:endParaRPr b="0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00000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32'h00000000</a:t>
                </a:r>
                <a:endParaRPr b="1" sz="12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70" name="Google Shape;770;p32"/>
              <p:cNvSpPr/>
              <p:nvPr/>
            </p:nvSpPr>
            <p:spPr>
              <a:xfrm>
                <a:off x="2381250" y="3095625"/>
                <a:ext cx="1381200" cy="400200"/>
              </a:xfrm>
              <a:prstGeom prst="roundRect">
                <a:avLst>
                  <a:gd fmla="val 14285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32"/>
              <p:cNvSpPr txBox="1"/>
              <p:nvPr/>
            </p:nvSpPr>
            <p:spPr>
              <a:xfrm>
                <a:off x="2381250" y="3095625"/>
                <a:ext cx="13812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50">
                    <a:solidFill>
                      <a:srgbClr val="A3E2D1"/>
                    </a:solidFill>
                    <a:latin typeface="Arial"/>
                    <a:ea typeface="Arial"/>
                    <a:cs typeface="Arial"/>
                    <a:sym typeface="Arial"/>
                  </a:rPr>
                  <a:t>Error Flag</a:t>
                </a:r>
                <a:endParaRPr b="0" sz="1050">
                  <a:solidFill>
                    <a:srgbClr val="A3E2D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ASSERTED (1'b1)</a:t>
                </a:r>
                <a:endParaRPr b="1" sz="1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32"/>
              <p:cNvSpPr/>
              <p:nvPr/>
            </p:nvSpPr>
            <p:spPr>
              <a:xfrm>
                <a:off x="1762125" y="2724150"/>
                <a:ext cx="552600" cy="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32"/>
              <p:cNvSpPr/>
              <p:nvPr/>
            </p:nvSpPr>
            <p:spPr>
              <a:xfrm>
                <a:off x="2247900" y="2676525"/>
                <a:ext cx="666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32"/>
              <p:cNvSpPr/>
              <p:nvPr/>
            </p:nvSpPr>
            <p:spPr>
              <a:xfrm>
                <a:off x="1762125" y="2724150"/>
                <a:ext cx="552600" cy="476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41379" y="0"/>
                    </a:lnTo>
                    <a:lnTo>
                      <a:pt x="41379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1430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32"/>
              <p:cNvSpPr/>
              <p:nvPr/>
            </p:nvSpPr>
            <p:spPr>
              <a:xfrm>
                <a:off x="2247900" y="3152775"/>
                <a:ext cx="66600" cy="95400"/>
              </a:xfrm>
              <a:custGeom>
                <a:rect b="b" l="l" r="r" t="t"/>
                <a:pathLst>
                  <a:path extrusionOk="0" h="120000" w="120000">
                    <a:moveTo>
                      <a:pt x="0" y="0"/>
                    </a:moveTo>
                    <a:lnTo>
                      <a:pt x="120000" y="60000"/>
                    </a:lnTo>
                    <a:lnTo>
                      <a:pt x="0" y="120000"/>
                    </a:lnTo>
                  </a:path>
                </a:pathLst>
              </a:cu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6" name="Google Shape;776;p32"/>
          <p:cNvGrpSpPr/>
          <p:nvPr/>
        </p:nvGrpSpPr>
        <p:grpSpPr>
          <a:xfrm>
            <a:off x="4667250" y="5667375"/>
            <a:ext cx="2857500" cy="304800"/>
            <a:chOff x="0" y="0"/>
            <a:chExt cx="2857500" cy="304800"/>
          </a:xfrm>
        </p:grpSpPr>
        <p:sp>
          <p:nvSpPr>
            <p:cNvPr id="777" name="Google Shape;777;p32"/>
            <p:cNvSpPr/>
            <p:nvPr/>
          </p:nvSpPr>
          <p:spPr>
            <a:xfrm>
              <a:off x="0" y="0"/>
              <a:ext cx="2857500" cy="304800"/>
            </a:xfrm>
            <a:prstGeom prst="roundRect">
              <a:avLst>
                <a:gd fmla="val 50000" name="adj"/>
              </a:avLst>
            </a:prstGeom>
            <a:solidFill>
              <a:srgbClr val="E6F4F0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32"/>
            <p:cNvSpPr txBox="1"/>
            <p:nvPr/>
          </p:nvSpPr>
          <p:spPr>
            <a:xfrm>
              <a:off x="0" y="0"/>
              <a:ext cx="28575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Source HDL: </a:t>
              </a:r>
              <a:r>
                <a:rPr b="1" lang="en" sz="1100">
                  <a:solidFill>
                    <a:srgbClr val="05624A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alu_core.sv</a:t>
              </a:r>
              <a:endParaRPr b="1" sz="11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33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784" name="Google Shape;784;p33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5" name="Google Shape;785;p33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33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7" name="Google Shape;787;p33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788" name="Google Shape;788;p33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9" name="Google Shape;789;p33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790" name="Google Shape;790;p33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91" name="Google Shape;791;p33"/>
          <p:cNvSpPr txBox="1"/>
          <p:nvPr/>
        </p:nvSpPr>
        <p:spPr>
          <a:xfrm>
            <a:off x="476250" y="904875"/>
            <a:ext cx="112395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 Slave Interface &amp; Handshaking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92" name="Google Shape;792;p33"/>
          <p:cNvGrpSpPr/>
          <p:nvPr/>
        </p:nvGrpSpPr>
        <p:grpSpPr>
          <a:xfrm>
            <a:off x="476250" y="2047875"/>
            <a:ext cx="5381700" cy="3762300"/>
            <a:chOff x="0" y="0"/>
            <a:chExt cx="5381700" cy="3762300"/>
          </a:xfrm>
        </p:grpSpPr>
        <p:sp>
          <p:nvSpPr>
            <p:cNvPr id="793" name="Google Shape;793;p33"/>
            <p:cNvSpPr/>
            <p:nvPr/>
          </p:nvSpPr>
          <p:spPr>
            <a:xfrm>
              <a:off x="0" y="0"/>
              <a:ext cx="53817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33"/>
            <p:cNvSpPr txBox="1"/>
            <p:nvPr/>
          </p:nvSpPr>
          <p:spPr>
            <a:xfrm>
              <a:off x="285750" y="238125"/>
              <a:ext cx="4810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Handshaking Behavior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795" name="Google Shape;795;p33"/>
            <p:cNvCxnSpPr/>
            <p:nvPr/>
          </p:nvCxnSpPr>
          <p:spPr>
            <a:xfrm>
              <a:off x="285750" y="762000"/>
              <a:ext cx="48102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6" name="Google Shape;796;p33"/>
            <p:cNvSpPr txBox="1"/>
            <p:nvPr/>
          </p:nvSpPr>
          <p:spPr>
            <a:xfrm>
              <a:off x="285750" y="952500"/>
              <a:ext cx="4810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axi4lite_slave.sv Protocol Support: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Supports independent Address Write (AW) and Write Data (W) handshakes.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1: AW valid signal asserted before W valid.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2: W valid signal asserted before AW valid.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Scenario 3: Concurrent AW and W validation in the same clock cycle.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97" name="Google Shape;797;p33"/>
          <p:cNvGrpSpPr/>
          <p:nvPr/>
        </p:nvGrpSpPr>
        <p:grpSpPr>
          <a:xfrm>
            <a:off x="6334125" y="2047875"/>
            <a:ext cx="5381700" cy="3762300"/>
            <a:chOff x="0" y="0"/>
            <a:chExt cx="5381700" cy="3762300"/>
          </a:xfrm>
        </p:grpSpPr>
        <p:sp>
          <p:nvSpPr>
            <p:cNvPr id="798" name="Google Shape;798;p33"/>
            <p:cNvSpPr/>
            <p:nvPr/>
          </p:nvSpPr>
          <p:spPr>
            <a:xfrm>
              <a:off x="0" y="0"/>
              <a:ext cx="5381700" cy="3762300"/>
            </a:xfrm>
            <a:prstGeom prst="roundRect">
              <a:avLst>
                <a:gd fmla="val 303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3"/>
            <p:cNvSpPr txBox="1"/>
            <p:nvPr/>
          </p:nvSpPr>
          <p:spPr>
            <a:xfrm>
              <a:off x="285750" y="238125"/>
              <a:ext cx="48102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 &amp; Read Flow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00" name="Google Shape;800;p33"/>
            <p:cNvCxnSpPr/>
            <p:nvPr/>
          </p:nvCxnSpPr>
          <p:spPr>
            <a:xfrm>
              <a:off x="285750" y="762000"/>
              <a:ext cx="48102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1" name="Google Shape;801;p33"/>
            <p:cNvSpPr txBox="1"/>
            <p:nvPr/>
          </p:nvSpPr>
          <p:spPr>
            <a:xfrm>
              <a:off x="285750" y="952500"/>
              <a:ext cx="48102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Write Response (BRESP) Details: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write response (BRESP) is hardwired to always return </a:t>
              </a:r>
              <a:r>
                <a:rPr b="1" lang="en" sz="15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OKAY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upon completion.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 Handshaking Flow: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Initiated by an Address Read (AR) channel handshake.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42875" lvl="0" marL="142875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5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rPr>
                <a:t>■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Followed immediately by an RVALID assertion to transmit read data.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02" name="Google Shape;802;p33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803" name="Google Shape;803;p33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04" name="Google Shape;804;p33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805" name="Google Shape;805;p33"/>
              <p:cNvPicPr preferRelativeResize="0"/>
              <p:nvPr/>
            </p:nvPicPr>
            <p:blipFill rotWithShape="1">
              <a:blip r:embed="rId7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6" name="Google Shape;806;p33"/>
              <p:cNvPicPr preferRelativeResize="0"/>
              <p:nvPr/>
            </p:nvPicPr>
            <p:blipFill rotWithShape="1">
              <a:blip r:embed="rId8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07" name="Google Shape;807;p33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34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813" name="Google Shape;813;p34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4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34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816" name="Google Shape;816;p34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4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sp>
        <p:nvSpPr>
          <p:cNvPr id="818" name="Google Shape;818;p34"/>
          <p:cNvSpPr txBox="1"/>
          <p:nvPr/>
        </p:nvSpPr>
        <p:spPr>
          <a:xfrm>
            <a:off x="523875" y="904875"/>
            <a:ext cx="1114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Avalon-MM to AXI4-Lite Bridge Implementation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1" lang="en" sz="160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FSM control state machine and bridge control logic mechanics in </a:t>
            </a:r>
            <a:r>
              <a:rPr b="1" i="0" lang="en" sz="16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avalon_axi4lite_bridge.sv</a:t>
            </a:r>
            <a:endParaRPr b="0" i="1" sz="1600">
              <a:solidFill>
                <a:srgbClr val="55555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19" name="Google Shape;819;p34"/>
          <p:cNvGrpSpPr/>
          <p:nvPr/>
        </p:nvGrpSpPr>
        <p:grpSpPr>
          <a:xfrm>
            <a:off x="809625" y="1857375"/>
            <a:ext cx="10572600" cy="666900"/>
            <a:chOff x="809625" y="0"/>
            <a:chExt cx="10572600" cy="666900"/>
          </a:xfrm>
        </p:grpSpPr>
        <p:grpSp>
          <p:nvGrpSpPr>
            <p:cNvPr id="820" name="Google Shape;820;p34"/>
            <p:cNvGrpSpPr/>
            <p:nvPr/>
          </p:nvGrpSpPr>
          <p:grpSpPr>
            <a:xfrm>
              <a:off x="809625" y="0"/>
              <a:ext cx="1809600" cy="666900"/>
              <a:chOff x="0" y="0"/>
              <a:chExt cx="1809600" cy="666900"/>
            </a:xfrm>
          </p:grpSpPr>
          <p:sp>
            <p:nvSpPr>
              <p:cNvPr id="821" name="Google Shape;821;p34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34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01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ST_IDLE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3" name="Google Shape;823;p34"/>
            <p:cNvSpPr/>
            <p:nvPr/>
          </p:nvSpPr>
          <p:spPr>
            <a:xfrm>
              <a:off x="268605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4" name="Google Shape;824;p34"/>
            <p:cNvGrpSpPr/>
            <p:nvPr/>
          </p:nvGrpSpPr>
          <p:grpSpPr>
            <a:xfrm>
              <a:off x="3000375" y="0"/>
              <a:ext cx="1809600" cy="666900"/>
              <a:chOff x="0" y="0"/>
              <a:chExt cx="1809600" cy="666900"/>
            </a:xfrm>
          </p:grpSpPr>
          <p:sp>
            <p:nvSpPr>
              <p:cNvPr id="825" name="Google Shape;825;p34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34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02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ST_WRITE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27" name="Google Shape;827;p34"/>
            <p:cNvSpPr/>
            <p:nvPr/>
          </p:nvSpPr>
          <p:spPr>
            <a:xfrm>
              <a:off x="487680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8" name="Google Shape;828;p34"/>
            <p:cNvGrpSpPr/>
            <p:nvPr/>
          </p:nvGrpSpPr>
          <p:grpSpPr>
            <a:xfrm>
              <a:off x="5191125" y="0"/>
              <a:ext cx="1809600" cy="666900"/>
              <a:chOff x="0" y="0"/>
              <a:chExt cx="1809600" cy="666900"/>
            </a:xfrm>
          </p:grpSpPr>
          <p:sp>
            <p:nvSpPr>
              <p:cNvPr id="829" name="Google Shape;829;p34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34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03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ST_WRITE_RESP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1" name="Google Shape;831;p34"/>
            <p:cNvSpPr/>
            <p:nvPr/>
          </p:nvSpPr>
          <p:spPr>
            <a:xfrm>
              <a:off x="706755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2" name="Google Shape;832;p34"/>
            <p:cNvGrpSpPr/>
            <p:nvPr/>
          </p:nvGrpSpPr>
          <p:grpSpPr>
            <a:xfrm>
              <a:off x="7381875" y="0"/>
              <a:ext cx="1809600" cy="666900"/>
              <a:chOff x="0" y="0"/>
              <a:chExt cx="1809600" cy="666900"/>
            </a:xfrm>
          </p:grpSpPr>
          <p:sp>
            <p:nvSpPr>
              <p:cNvPr id="833" name="Google Shape;833;p34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34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04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ST_READ_ADDR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5" name="Google Shape;835;p34"/>
            <p:cNvSpPr/>
            <p:nvPr/>
          </p:nvSpPr>
          <p:spPr>
            <a:xfrm>
              <a:off x="9258300" y="285750"/>
              <a:ext cx="2478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  <a:moveTo>
                    <a:pt x="92308" y="0"/>
                  </a:moveTo>
                  <a:lnTo>
                    <a:pt x="120000" y="60000"/>
                  </a:lnTo>
                  <a:lnTo>
                    <a:pt x="92308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6" name="Google Shape;836;p34"/>
            <p:cNvGrpSpPr/>
            <p:nvPr/>
          </p:nvGrpSpPr>
          <p:grpSpPr>
            <a:xfrm>
              <a:off x="9572625" y="0"/>
              <a:ext cx="1809600" cy="666900"/>
              <a:chOff x="0" y="0"/>
              <a:chExt cx="1809600" cy="666900"/>
            </a:xfrm>
          </p:grpSpPr>
          <p:sp>
            <p:nvSpPr>
              <p:cNvPr id="837" name="Google Shape;837;p34"/>
              <p:cNvSpPr/>
              <p:nvPr/>
            </p:nvSpPr>
            <p:spPr>
              <a:xfrm>
                <a:off x="0" y="0"/>
                <a:ext cx="18096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05624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34"/>
              <p:cNvSpPr txBox="1"/>
              <p:nvPr/>
            </p:nvSpPr>
            <p:spPr>
              <a:xfrm>
                <a:off x="0" y="0"/>
                <a:ext cx="18096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7625" lIns="47625" spcFirstLastPara="1" rIns="47625" wrap="square" tIns="476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STATE 05</a:t>
                </a:r>
                <a:endParaRPr b="1" sz="900">
                  <a:solidFill>
                    <a:srgbClr val="43B692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25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ST_READ_DATA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39" name="Google Shape;839;p34"/>
          <p:cNvGrpSpPr/>
          <p:nvPr/>
        </p:nvGrpSpPr>
        <p:grpSpPr>
          <a:xfrm>
            <a:off x="523875" y="2809875"/>
            <a:ext cx="11144400" cy="2952900"/>
            <a:chOff x="523875" y="0"/>
            <a:chExt cx="11144400" cy="2952900"/>
          </a:xfrm>
        </p:grpSpPr>
        <p:grpSp>
          <p:nvGrpSpPr>
            <p:cNvPr id="840" name="Google Shape;840;p34"/>
            <p:cNvGrpSpPr/>
            <p:nvPr/>
          </p:nvGrpSpPr>
          <p:grpSpPr>
            <a:xfrm>
              <a:off x="523875" y="0"/>
              <a:ext cx="3524400" cy="2952900"/>
              <a:chOff x="0" y="0"/>
              <a:chExt cx="3524400" cy="2952900"/>
            </a:xfrm>
          </p:grpSpPr>
          <p:sp>
            <p:nvSpPr>
              <p:cNvPr id="841" name="Google Shape;841;p34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34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34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Waitrequest Assertion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34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Key control logic asserts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avs_waitrequest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to 1.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 assertion occurs and remains active when the bridge interface is busy.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45" name="Google Shape;845;p34"/>
            <p:cNvGrpSpPr/>
            <p:nvPr/>
          </p:nvGrpSpPr>
          <p:grpSpPr>
            <a:xfrm>
              <a:off x="4333875" y="0"/>
              <a:ext cx="3524400" cy="2952900"/>
              <a:chOff x="0" y="0"/>
              <a:chExt cx="3524400" cy="2952900"/>
            </a:xfrm>
          </p:grpSpPr>
          <p:sp>
            <p:nvSpPr>
              <p:cNvPr id="846" name="Google Shape;846;p34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34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34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Phase Handshakes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9" name="Google Shape;849;p34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Utilizes internal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aw_done_q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and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w_done_q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registers.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These dedicated registers handle phase-shifted AW/W AXI handshakes.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850" name="Google Shape;850;p34"/>
            <p:cNvGrpSpPr/>
            <p:nvPr/>
          </p:nvGrpSpPr>
          <p:grpSpPr>
            <a:xfrm>
              <a:off x="8143875" y="0"/>
              <a:ext cx="3524400" cy="2952900"/>
              <a:chOff x="0" y="0"/>
              <a:chExt cx="3524400" cy="2952900"/>
            </a:xfrm>
          </p:grpSpPr>
          <p:sp>
            <p:nvSpPr>
              <p:cNvPr id="851" name="Google Shape;851;p34"/>
              <p:cNvSpPr/>
              <p:nvPr/>
            </p:nvSpPr>
            <p:spPr>
              <a:xfrm>
                <a:off x="0" y="0"/>
                <a:ext cx="3524400" cy="2952900"/>
              </a:xfrm>
              <a:prstGeom prst="roundRect">
                <a:avLst>
                  <a:gd fmla="val 3225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34"/>
              <p:cNvSpPr/>
              <p:nvPr/>
            </p:nvSpPr>
            <p:spPr>
              <a:xfrm>
                <a:off x="0" y="0"/>
                <a:ext cx="3524400" cy="523800"/>
              </a:xfrm>
              <a:custGeom>
                <a:rect b="b" l="l" r="r" t="t"/>
                <a:pathLst>
                  <a:path extrusionOk="0" h="120000" w="120000">
                    <a:moveTo>
                      <a:pt x="0" y="21818"/>
                    </a:moveTo>
                    <a:cubicBezTo>
                      <a:pt x="0" y="9818"/>
                      <a:pt x="1459" y="0"/>
                      <a:pt x="3243" y="0"/>
                    </a:cubicBezTo>
                    <a:lnTo>
                      <a:pt x="116757" y="0"/>
                    </a:lnTo>
                    <a:cubicBezTo>
                      <a:pt x="118541" y="0"/>
                      <a:pt x="120000" y="9818"/>
                      <a:pt x="120000" y="21818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</a:path>
                </a:pathLst>
              </a:cu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34"/>
              <p:cNvSpPr txBox="1"/>
              <p:nvPr/>
            </p:nvSpPr>
            <p:spPr>
              <a:xfrm>
                <a:off x="0" y="0"/>
                <a:ext cx="3524400" cy="52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Read Data Validity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34"/>
              <p:cNvSpPr txBox="1"/>
              <p:nvPr/>
            </p:nvSpPr>
            <p:spPr>
              <a:xfrm>
                <a:off x="238125" y="762000"/>
                <a:ext cx="3048000" cy="20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The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avs_readdatavalid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signal pulses active for exactly one cycle.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43B692"/>
                    </a:solidFill>
                    <a:latin typeface="Arial"/>
                    <a:ea typeface="Arial"/>
                    <a:cs typeface="Arial"/>
                    <a:sym typeface="Arial"/>
                  </a:rPr>
                  <a:t>■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This signal assertion is triggered upon receiving </a:t>
                </a:r>
                <a:r>
                  <a:rPr b="1" lang="en" sz="155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RVALID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855" name="Google Shape;855;p34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34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857" name="Google Shape;857;p34"/>
          <p:cNvSpPr/>
          <p:nvPr>
            <p:ph idx="6" type="pic"/>
          </p:nvPr>
        </p:nvSpPr>
        <p:spPr>
          <a:xfrm>
            <a:off x="-930168" y="6048718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858" name="Google Shape;858;p34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9" name="Google Shape;859;p34"/>
          <p:cNvGrpSpPr/>
          <p:nvPr/>
        </p:nvGrpSpPr>
        <p:grpSpPr>
          <a:xfrm>
            <a:off x="-4762" y="-6"/>
            <a:ext cx="12197919" cy="946406"/>
            <a:chOff x="-4762" y="-6"/>
            <a:chExt cx="12197919" cy="946406"/>
          </a:xfrm>
        </p:grpSpPr>
        <p:pic>
          <p:nvPicPr>
            <p:cNvPr id="860" name="Google Shape;860;p34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1" name="Google Shape;861;p34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62" name="Google Shape;862;p34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863" name="Google Shape;863;p34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34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5" name="Google Shape;865;p34"/>
            <p:cNvGrpSpPr/>
            <p:nvPr/>
          </p:nvGrpSpPr>
          <p:grpSpPr>
            <a:xfrm>
              <a:off x="4477007" y="263617"/>
              <a:ext cx="3238079" cy="682784"/>
              <a:chOff x="4276725" y="109041"/>
              <a:chExt cx="3638700" cy="767259"/>
            </a:xfrm>
          </p:grpSpPr>
          <p:pic>
            <p:nvPicPr>
              <p:cNvPr id="866" name="Google Shape;866;p34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7" name="Google Shape;867;p34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68" name="Google Shape;868;p34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3" name="Google Shape;873;p35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874" name="Google Shape;874;p35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5" name="Google Shape;875;p35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5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i="0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7" name="Google Shape;877;p35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878" name="Google Shape;878;p35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9" name="Google Shape;879;p35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880" name="Google Shape;880;p35"/>
              <p:cNvPicPr preferRelativeResize="0"/>
              <p:nvPr/>
            </p:nvPicPr>
            <p:blipFill rotWithShape="1">
              <a:blip r:embed="rId5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881" name="Google Shape;881;p35"/>
          <p:cNvSpPr txBox="1"/>
          <p:nvPr/>
        </p:nvSpPr>
        <p:spPr>
          <a:xfrm>
            <a:off x="381000" y="1000125"/>
            <a:ext cx="114300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Strategy &amp; Testbench Framework</a:t>
            </a:r>
            <a:endParaRPr b="1" i="0" sz="28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882" name="Google Shape;882;p35"/>
          <p:cNvGrpSpPr/>
          <p:nvPr/>
        </p:nvGrpSpPr>
        <p:grpSpPr>
          <a:xfrm>
            <a:off x="381000" y="1762125"/>
            <a:ext cx="5572200" cy="1905000"/>
            <a:chOff x="0" y="0"/>
            <a:chExt cx="5572200" cy="1905000"/>
          </a:xfrm>
        </p:grpSpPr>
        <p:sp>
          <p:nvSpPr>
            <p:cNvPr id="883" name="Google Shape;883;p35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5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5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5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5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35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Register Bank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Targeting modular verification of byte-enables and invalid addresses with 80 random iterations per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89" name="Google Shape;889;p35"/>
          <p:cNvGrpSpPr/>
          <p:nvPr/>
        </p:nvGrpSpPr>
        <p:grpSpPr>
          <a:xfrm>
            <a:off x="6238875" y="1762125"/>
            <a:ext cx="5572200" cy="1905000"/>
            <a:chOff x="0" y="0"/>
            <a:chExt cx="5572200" cy="1905000"/>
          </a:xfrm>
        </p:grpSpPr>
        <p:sp>
          <p:nvSpPr>
            <p:cNvPr id="890" name="Google Shape;890;p35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5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5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5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5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35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AXI Slave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Focusing on handshake alignment and stalls. Verified modularly with 80 random iterations per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96" name="Google Shape;896;p35"/>
          <p:cNvGrpSpPr/>
          <p:nvPr/>
        </p:nvGrpSpPr>
        <p:grpSpPr>
          <a:xfrm>
            <a:off x="381000" y="3905250"/>
            <a:ext cx="5572200" cy="1905000"/>
            <a:chOff x="0" y="0"/>
            <a:chExt cx="5572200" cy="1905000"/>
          </a:xfrm>
        </p:grpSpPr>
        <p:sp>
          <p:nvSpPr>
            <p:cNvPr id="897" name="Google Shape;897;p35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5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5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5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5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35"/>
            <p:cNvSpPr txBox="1"/>
            <p:nvPr/>
          </p:nvSpPr>
          <p:spPr>
            <a:xfrm>
              <a:off x="904875" y="142875"/>
              <a:ext cx="44769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Bridge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Targeting correct Avalon request translation. Driven by 80 random iterations per modular testbench.</a:t>
              </a:r>
              <a:endParaRPr b="0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903" name="Google Shape;903;p35"/>
          <p:cNvGrpSpPr/>
          <p:nvPr/>
        </p:nvGrpSpPr>
        <p:grpSpPr>
          <a:xfrm>
            <a:off x="6238875" y="3905250"/>
            <a:ext cx="5572200" cy="1905000"/>
            <a:chOff x="0" y="0"/>
            <a:chExt cx="5572200" cy="1905000"/>
          </a:xfrm>
        </p:grpSpPr>
        <p:sp>
          <p:nvSpPr>
            <p:cNvPr id="904" name="Google Shape;904;p35"/>
            <p:cNvSpPr/>
            <p:nvPr/>
          </p:nvSpPr>
          <p:spPr>
            <a:xfrm>
              <a:off x="0" y="0"/>
              <a:ext cx="5572200" cy="19050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5"/>
            <p:cNvSpPr/>
            <p:nvPr/>
          </p:nvSpPr>
          <p:spPr>
            <a:xfrm>
              <a:off x="0" y="0"/>
              <a:ext cx="152400" cy="1905000"/>
            </a:xfrm>
            <a:custGeom>
              <a:rect b="b" l="l" r="r" t="t"/>
              <a:pathLst>
                <a:path extrusionOk="0" h="120000" w="120000">
                  <a:moveTo>
                    <a:pt x="0" y="7200"/>
                  </a:moveTo>
                  <a:cubicBezTo>
                    <a:pt x="0" y="3224"/>
                    <a:pt x="40295" y="0"/>
                    <a:pt x="90000" y="0"/>
                  </a:cubicBezTo>
                  <a:lnTo>
                    <a:pt x="120000" y="0"/>
                  </a:lnTo>
                  <a:lnTo>
                    <a:pt x="120000" y="120000"/>
                  </a:lnTo>
                  <a:lnTo>
                    <a:pt x="90000" y="120000"/>
                  </a:lnTo>
                  <a:cubicBezTo>
                    <a:pt x="40295" y="120000"/>
                    <a:pt x="0" y="116776"/>
                    <a:pt x="0" y="112800"/>
                  </a:cubicBez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5"/>
            <p:cNvSpPr/>
            <p:nvPr/>
          </p:nvSpPr>
          <p:spPr>
            <a:xfrm>
              <a:off x="295275" y="723900"/>
              <a:ext cx="457200" cy="4572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5"/>
            <p:cNvSpPr/>
            <p:nvPr/>
          </p:nvSpPr>
          <p:spPr>
            <a:xfrm>
              <a:off x="333375" y="762000"/>
              <a:ext cx="381000" cy="381000"/>
            </a:xfrm>
            <a:prstGeom prst="ellipse">
              <a:avLst/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5"/>
            <p:cNvSpPr txBox="1"/>
            <p:nvPr/>
          </p:nvSpPr>
          <p:spPr>
            <a:xfrm>
              <a:off x="295275" y="7239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9" name="Google Shape;909;p35"/>
            <p:cNvGrpSpPr/>
            <p:nvPr/>
          </p:nvGrpSpPr>
          <p:grpSpPr>
            <a:xfrm>
              <a:off x="904875" y="142875"/>
              <a:ext cx="4476900" cy="1619100"/>
              <a:chOff x="0" y="0"/>
              <a:chExt cx="4476900" cy="1619100"/>
            </a:xfrm>
          </p:grpSpPr>
          <p:sp>
            <p:nvSpPr>
              <p:cNvPr id="910" name="Google Shape;910;p35"/>
              <p:cNvSpPr txBox="1"/>
              <p:nvPr/>
            </p:nvSpPr>
            <p:spPr>
              <a:xfrm>
                <a:off x="0" y="0"/>
                <a:ext cx="1238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46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240</a:t>
                </a:r>
                <a:endParaRPr b="1" sz="4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Transactions</a:t>
                </a:r>
                <a:endParaRPr b="1" sz="10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35"/>
              <p:cNvSpPr txBox="1"/>
              <p:nvPr/>
            </p:nvSpPr>
            <p:spPr>
              <a:xfrm>
                <a:off x="1333500" y="0"/>
                <a:ext cx="3143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8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Total Scale &amp; Strategy</a:t>
                </a:r>
                <a:endParaRPr b="1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13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Self-checking testbenches use custom </a:t>
                </a:r>
                <a:r>
                  <a:rPr b="0" lang="en" sz="1100">
                    <a:solidFill>
                      <a:srgbClr val="05624A"/>
                    </a:solidFill>
                    <a:highlight>
                      <a:srgbClr val="E6F4F0"/>
                    </a:highlight>
                    <a:latin typeface="Arial"/>
                    <a:ea typeface="Arial"/>
                    <a:cs typeface="Arial"/>
                    <a:sym typeface="Arial"/>
                  </a:rPr>
                  <a:t>check()</a:t>
                </a:r>
                <a:r>
                  <a:rPr b="0" lang="en" sz="13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tasks for PASS/FAIL logging. Stimulus combines directed cases and random patterns.</a:t>
                </a:r>
                <a:endParaRPr b="0" sz="13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912" name="Google Shape;912;p35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913" name="Google Shape;913;p35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4" name="Google Shape;914;p35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915" name="Google Shape;915;p35"/>
              <p:cNvPicPr preferRelativeResize="0"/>
              <p:nvPr/>
            </p:nvPicPr>
            <p:blipFill rotWithShape="1">
              <a:blip r:embed="rId6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16" name="Google Shape;916;p35"/>
              <p:cNvPicPr preferRelativeResize="0"/>
              <p:nvPr/>
            </p:nvPicPr>
            <p:blipFill rotWithShape="1">
              <a:blip r:embed="rId7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917" name="Google Shape;917;p35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i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36"/>
          <p:cNvGrpSpPr/>
          <p:nvPr/>
        </p:nvGrpSpPr>
        <p:grpSpPr>
          <a:xfrm>
            <a:off x="-4762" y="-6"/>
            <a:ext cx="12199163" cy="6886881"/>
            <a:chOff x="-4762" y="-6"/>
            <a:chExt cx="12199163" cy="6886881"/>
          </a:xfrm>
        </p:grpSpPr>
        <p:sp>
          <p:nvSpPr>
            <p:cNvPr id="923" name="Google Shape;923;p3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4" name="Google Shape;924;p36"/>
            <p:cNvGrpSpPr/>
            <p:nvPr/>
          </p:nvGrpSpPr>
          <p:grpSpPr>
            <a:xfrm>
              <a:off x="-4762" y="-6"/>
              <a:ext cx="12197919" cy="891792"/>
              <a:chOff x="-4762" y="-6"/>
              <a:chExt cx="12197919" cy="891792"/>
            </a:xfrm>
          </p:grpSpPr>
          <p:pic>
            <p:nvPicPr>
              <p:cNvPr id="925" name="Google Shape;925;p36"/>
              <p:cNvPicPr preferRelativeResize="0"/>
              <p:nvPr/>
            </p:nvPicPr>
            <p:blipFill rotWithShape="1">
              <a:blip r:embed="rId3">
                <a:alphaModFix/>
              </a:blip>
              <a:srcRect b="10" l="0" r="0" t="10"/>
              <a:stretch/>
            </p:blipFill>
            <p:spPr>
              <a:xfrm>
                <a:off x="-4762" y="0"/>
                <a:ext cx="12196800" cy="633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26" name="Google Shape;926;p36"/>
              <p:cNvSpPr/>
              <p:nvPr/>
            </p:nvSpPr>
            <p:spPr>
              <a:xfrm flipH="1" rot="-5400000">
                <a:off x="5780206" y="-5781456"/>
                <a:ext cx="631500" cy="121944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36"/>
              <p:cNvSpPr txBox="1"/>
              <p:nvPr/>
            </p:nvSpPr>
            <p:spPr>
              <a:xfrm>
                <a:off x="240281" y="141423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28" name="Google Shape;928;p36"/>
              <p:cNvGrpSpPr/>
              <p:nvPr/>
            </p:nvGrpSpPr>
            <p:grpSpPr>
              <a:xfrm>
                <a:off x="4477020" y="263617"/>
                <a:ext cx="3176567" cy="628170"/>
                <a:chOff x="4276725" y="109041"/>
                <a:chExt cx="3569566" cy="705886"/>
              </a:xfrm>
            </p:grpSpPr>
            <p:pic>
              <p:nvPicPr>
                <p:cNvPr id="929" name="Google Shape;929;p3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4276725" y="152400"/>
                  <a:ext cx="3238200" cy="644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30" name="Google Shape;930;p36"/>
                <p:cNvSpPr/>
                <p:nvPr/>
              </p:nvSpPr>
              <p:spPr>
                <a:xfrm>
                  <a:off x="4345591" y="214327"/>
                  <a:ext cx="3500700" cy="600600"/>
                </a:xfrm>
                <a:prstGeom prst="roundRect">
                  <a:avLst>
                    <a:gd fmla="val 39596" name="adj"/>
                  </a:avLst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pic>
              <p:nvPicPr>
                <p:cNvPr id="931" name="Google Shape;931;p36"/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 b="-80" l="0" r="10" t="80"/>
                <a:stretch/>
              </p:blipFill>
              <p:spPr>
                <a:xfrm>
                  <a:off x="5604843" y="109041"/>
                  <a:ext cx="775800" cy="642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932" name="Google Shape;932;p36"/>
            <p:cNvGrpSpPr/>
            <p:nvPr/>
          </p:nvGrpSpPr>
          <p:grpSpPr>
            <a:xfrm>
              <a:off x="0" y="1425"/>
              <a:ext cx="12194400" cy="6885450"/>
              <a:chOff x="0" y="1425"/>
              <a:chExt cx="12194400" cy="6885450"/>
            </a:xfrm>
          </p:grpSpPr>
          <p:sp>
            <p:nvSpPr>
              <p:cNvPr id="933" name="Google Shape;933;p36"/>
              <p:cNvSpPr/>
              <p:nvPr/>
            </p:nvSpPr>
            <p:spPr>
              <a:xfrm>
                <a:off x="0" y="1425"/>
                <a:ext cx="12194400" cy="6863700"/>
              </a:xfrm>
              <a:custGeom>
                <a:rect b="b" l="l" r="r" t="t"/>
                <a:pathLst>
                  <a:path extrusionOk="0" h="120000" w="120000">
                    <a:moveTo>
                      <a:pt x="0" y="115362"/>
                    </a:moveTo>
                    <a:cubicBezTo>
                      <a:pt x="0" y="117896"/>
                      <a:pt x="1156" y="119951"/>
                      <a:pt x="2583" y="119951"/>
                    </a:cubicBezTo>
                    <a:lnTo>
                      <a:pt x="117419" y="119951"/>
                    </a:lnTo>
                    <a:cubicBezTo>
                      <a:pt x="118843" y="119951"/>
                      <a:pt x="120000" y="117896"/>
                      <a:pt x="120000" y="115362"/>
                    </a:cubicBezTo>
                    <a:lnTo>
                      <a:pt x="120000" y="120000"/>
                    </a:lnTo>
                    <a:lnTo>
                      <a:pt x="0" y="120000"/>
                    </a:lnTo>
                    <a:close/>
                    <a:moveTo>
                      <a:pt x="0" y="0"/>
                    </a:moveTo>
                    <a:lnTo>
                      <a:pt x="120000" y="0"/>
                    </a:lnTo>
                    <a:lnTo>
                      <a:pt x="120000" y="4638"/>
                    </a:lnTo>
                    <a:cubicBezTo>
                      <a:pt x="120000" y="2104"/>
                      <a:pt x="118843" y="49"/>
                      <a:pt x="117419" y="49"/>
                    </a:cubicBezTo>
                    <a:lnTo>
                      <a:pt x="2583" y="49"/>
                    </a:lnTo>
                    <a:cubicBezTo>
                      <a:pt x="1156" y="49"/>
                      <a:pt x="0" y="2104"/>
                      <a:pt x="0" y="4638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34" name="Google Shape;934;p36"/>
              <p:cNvGrpSpPr/>
              <p:nvPr/>
            </p:nvGrpSpPr>
            <p:grpSpPr>
              <a:xfrm>
                <a:off x="11503192" y="6266643"/>
                <a:ext cx="614845" cy="620233"/>
                <a:chOff x="11077575" y="194161"/>
                <a:chExt cx="547800" cy="552600"/>
              </a:xfrm>
            </p:grpSpPr>
            <p:pic>
              <p:nvPicPr>
                <p:cNvPr id="935" name="Google Shape;935;p36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10" l="0" r="0" t="0"/>
                <a:stretch/>
              </p:blipFill>
              <p:spPr>
                <a:xfrm>
                  <a:off x="11077575" y="194161"/>
                  <a:ext cx="547800" cy="5526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936" name="Google Shape;936;p36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60" l="0" r="0" t="60"/>
                <a:stretch/>
              </p:blipFill>
              <p:spPr>
                <a:xfrm>
                  <a:off x="11209115" y="329943"/>
                  <a:ext cx="252600" cy="2475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937" name="Google Shape;937;p36"/>
              <p:cNvSpPr txBox="1"/>
              <p:nvPr/>
            </p:nvSpPr>
            <p:spPr>
              <a:xfrm>
                <a:off x="4038600" y="6356347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38" name="Google Shape;938;p36"/>
          <p:cNvSpPr txBox="1"/>
          <p:nvPr/>
        </p:nvSpPr>
        <p:spPr>
          <a:xfrm>
            <a:off x="476250" y="904875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 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39" name="Google Shape;939;p36"/>
          <p:cNvGrpSpPr/>
          <p:nvPr/>
        </p:nvGrpSpPr>
        <p:grpSpPr>
          <a:xfrm>
            <a:off x="809625" y="2047875"/>
            <a:ext cx="4810200" cy="2990850"/>
            <a:chOff x="285750" y="285750"/>
            <a:chExt cx="4810200" cy="2990850"/>
          </a:xfrm>
        </p:grpSpPr>
        <p:sp>
          <p:nvSpPr>
            <p:cNvPr id="940" name="Google Shape;940;p36"/>
            <p:cNvSpPr txBox="1"/>
            <p:nvPr/>
          </p:nvSpPr>
          <p:spPr>
            <a:xfrm>
              <a:off x="285750" y="2857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Data-Oriented Verification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941" name="Google Shape;941;p36"/>
            <p:cNvGrpSpPr/>
            <p:nvPr/>
          </p:nvGrpSpPr>
          <p:grpSpPr>
            <a:xfrm>
              <a:off x="333375" y="809625"/>
              <a:ext cx="4762500" cy="571500"/>
              <a:chOff x="333375" y="0"/>
              <a:chExt cx="4762500" cy="571500"/>
            </a:xfrm>
          </p:grpSpPr>
          <p:sp>
            <p:nvSpPr>
              <p:cNvPr id="942" name="Google Shape;942;p36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36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944" name="Google Shape;944;p36"/>
            <p:cNvSpPr/>
            <p:nvPr/>
          </p:nvSpPr>
          <p:spPr>
            <a:xfrm>
              <a:off x="333375" y="1590675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6"/>
            <p:cNvSpPr/>
            <p:nvPr/>
          </p:nvSpPr>
          <p:spPr>
            <a:xfrm>
              <a:off x="333375" y="2257425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333375" y="3162300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7" name="Google Shape;947;p36"/>
          <p:cNvGrpSpPr/>
          <p:nvPr/>
        </p:nvGrpSpPr>
        <p:grpSpPr>
          <a:xfrm>
            <a:off x="6286500" y="1762125"/>
            <a:ext cx="5381700" cy="3952800"/>
            <a:chOff x="0" y="0"/>
            <a:chExt cx="5381700" cy="3952800"/>
          </a:xfrm>
        </p:grpSpPr>
        <p:sp>
          <p:nvSpPr>
            <p:cNvPr id="948" name="Google Shape;948;p36"/>
            <p:cNvSpPr/>
            <p:nvPr/>
          </p:nvSpPr>
          <p:spPr>
            <a:xfrm>
              <a:off x="0" y="0"/>
              <a:ext cx="5381700" cy="3952800"/>
            </a:xfrm>
            <a:prstGeom prst="roundRect">
              <a:avLst>
                <a:gd fmla="val 1927" name="adj"/>
              </a:avLst>
            </a:prstGeom>
            <a:solidFill>
              <a:srgbClr val="FFFFFF"/>
            </a:solidFill>
            <a:ln cap="flat" cmpd="sng" w="253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6"/>
            <p:cNvSpPr txBox="1"/>
            <p:nvPr/>
          </p:nvSpPr>
          <p:spPr>
            <a:xfrm>
              <a:off x="285750" y="285750"/>
              <a:ext cx="48102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Protocol-Oriented Control Flows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0" name="Google Shape;950;p36"/>
            <p:cNvSpPr/>
            <p:nvPr/>
          </p:nvSpPr>
          <p:spPr>
            <a:xfrm>
              <a:off x="333375" y="923925"/>
              <a:ext cx="114300" cy="114300"/>
            </a:xfrm>
            <a:prstGeom prst="ellipse">
              <a:avLst/>
            </a:prstGeom>
            <a:solidFill>
              <a:srgbClr val="43B69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51" name="Google Shape;951;p36"/>
            <p:cNvGrpSpPr/>
            <p:nvPr/>
          </p:nvGrpSpPr>
          <p:grpSpPr>
            <a:xfrm>
              <a:off x="333375" y="1476375"/>
              <a:ext cx="4762500" cy="571500"/>
              <a:chOff x="333375" y="0"/>
              <a:chExt cx="4762500" cy="571500"/>
            </a:xfrm>
          </p:grpSpPr>
          <p:sp>
            <p:nvSpPr>
              <p:cNvPr id="952" name="Google Shape;952;p36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36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State Rejection: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Confirm busy state rejection of unexpected inputs.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54" name="Google Shape;954;p36"/>
            <p:cNvGrpSpPr/>
            <p:nvPr/>
          </p:nvGrpSpPr>
          <p:grpSpPr>
            <a:xfrm>
              <a:off x="333375" y="2143125"/>
              <a:ext cx="4762500" cy="762000"/>
              <a:chOff x="333375" y="0"/>
              <a:chExt cx="4762500" cy="762000"/>
            </a:xfrm>
          </p:grpSpPr>
          <p:sp>
            <p:nvSpPr>
              <p:cNvPr id="955" name="Google Shape;955;p36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36"/>
              <p:cNvSpPr txBox="1"/>
              <p:nvPr/>
            </p:nvSpPr>
            <p:spPr>
              <a:xfrm>
                <a:off x="523875" y="0"/>
                <a:ext cx="4572000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STATUS Done: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STATUS done states transition and assert correctly.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957" name="Google Shape;957;p36"/>
            <p:cNvGrpSpPr/>
            <p:nvPr/>
          </p:nvGrpSpPr>
          <p:grpSpPr>
            <a:xfrm>
              <a:off x="333375" y="3048000"/>
              <a:ext cx="4762500" cy="571500"/>
              <a:chOff x="333375" y="0"/>
              <a:chExt cx="4762500" cy="571500"/>
            </a:xfrm>
          </p:grpSpPr>
          <p:sp>
            <p:nvSpPr>
              <p:cNvPr id="958" name="Google Shape;958;p36"/>
              <p:cNvSpPr/>
              <p:nvPr/>
            </p:nvSpPr>
            <p:spPr>
              <a:xfrm>
                <a:off x="333375" y="114300"/>
                <a:ext cx="114300" cy="114300"/>
              </a:xfrm>
              <a:prstGeom prst="ellipse">
                <a:avLst/>
              </a:prstGeom>
              <a:solidFill>
                <a:srgbClr val="43B69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36"/>
              <p:cNvSpPr txBox="1"/>
              <p:nvPr/>
            </p:nvSpPr>
            <p:spPr>
              <a:xfrm>
                <a:off x="523875" y="0"/>
                <a:ext cx="4572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55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Address Limits:</a:t>
                </a:r>
                <a:r>
                  <a:rPr b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invalid address boundaries return 0 on read.</a:t>
                </a:r>
                <a:endParaRPr b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60" name="Google Shape;960;p36"/>
          <p:cNvSpPr txBox="1"/>
          <p:nvPr/>
        </p:nvSpPr>
        <p:spPr>
          <a:xfrm>
            <a:off x="1134363" y="25717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 Defaults: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Core directed tests verify that operand, status, and result registers default to 0 on reset.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1" name="Google Shape;961;p36"/>
          <p:cNvSpPr txBox="1"/>
          <p:nvPr/>
        </p:nvSpPr>
        <p:spPr>
          <a:xfrm>
            <a:off x="1134375" y="332510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32-Bit Access: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Tests confirm full 32-bit reads/writes on Operands A (Adress 08)  and B (Adress 0C).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36"/>
          <p:cNvSpPr txBox="1"/>
          <p:nvPr/>
        </p:nvSpPr>
        <p:spPr>
          <a:xfrm>
            <a:off x="1177575" y="4024325"/>
            <a:ext cx="448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Byte-Enables:</a:t>
            </a:r>
            <a:r>
              <a:rPr b="0"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Writing 0xAAAA5555 to 0x11223344 with strobe 4'b0101 (5 in dec)  yields 0x11AA3355.</a:t>
            </a:r>
            <a:endParaRPr b="0" sz="15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3" name="Google Shape;963;p36"/>
          <p:cNvSpPr txBox="1"/>
          <p:nvPr/>
        </p:nvSpPr>
        <p:spPr>
          <a:xfrm>
            <a:off x="1177575" y="4885875"/>
            <a:ext cx="4442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 Masking: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that writes to the OPCODE register keep only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wr_data[3:0]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For example, writing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0xFFFF_FF03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wr_strb=4'b1111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read back </a:t>
            </a:r>
            <a:r>
              <a:rPr lang="en" sz="15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0x00000003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36"/>
          <p:cNvSpPr txBox="1"/>
          <p:nvPr/>
        </p:nvSpPr>
        <p:spPr>
          <a:xfrm>
            <a:off x="6852350" y="25717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Control:</a:t>
            </a:r>
            <a:r>
              <a:rPr lang="en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CTRL.START=1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start_pulse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asserted for exactly 1 clock cycle;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STATUS.BUSY=1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20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7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37"/>
          <p:cNvSpPr txBox="1"/>
          <p:nvPr/>
        </p:nvSpPr>
        <p:spPr>
          <a:xfrm>
            <a:off x="257638" y="48122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Reset Defaults:</a:t>
            </a:r>
            <a:r>
              <a:rPr b="0" lang="e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Core directed tests verify that operand, status, and result registers default to 0 on reset.</a:t>
            </a:r>
            <a:endParaRPr b="0"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1" name="Google Shape;97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63" y="500063"/>
            <a:ext cx="5133975" cy="414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638" y="565025"/>
            <a:ext cx="6679162" cy="2908766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37"/>
          <p:cNvSpPr txBox="1"/>
          <p:nvPr/>
        </p:nvSpPr>
        <p:spPr>
          <a:xfrm>
            <a:off x="6522225" y="364980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32-Bit Access:</a:t>
            </a:r>
            <a:r>
              <a:rPr b="0" lang="e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Tests confirm full 32-bit reads/writes on Operands A (Adress 08)  and B (Adress 0C).</a:t>
            </a:r>
            <a:endParaRPr b="0"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38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9" name="Google Shape;97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0" y="408000"/>
            <a:ext cx="9172575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38"/>
          <p:cNvSpPr txBox="1"/>
          <p:nvPr/>
        </p:nvSpPr>
        <p:spPr>
          <a:xfrm>
            <a:off x="9422350" y="766300"/>
            <a:ext cx="2565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Byte-Enables:</a:t>
            </a:r>
            <a:r>
              <a:rPr b="0" lang="e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Writing 0xAAAA5555 to 0x11223344 with strobe 4'b0101 (5 in dec)  yields 0x11AA3355.</a:t>
            </a:r>
            <a:endParaRPr b="0" sz="18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81" name="Google Shape;98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22675"/>
            <a:ext cx="76200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38"/>
          <p:cNvSpPr txBox="1"/>
          <p:nvPr/>
        </p:nvSpPr>
        <p:spPr>
          <a:xfrm>
            <a:off x="8036900" y="4366325"/>
            <a:ext cx="3734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Opcode Masking: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that writes to the OPCODE register keep only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wr_data[3:0]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writing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0xFFFF_FF03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wr_strb=4'b1111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read back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0x00000003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7" name="Google Shape;98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25" y="433825"/>
            <a:ext cx="4457700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39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39"/>
          <p:cNvSpPr txBox="1"/>
          <p:nvPr/>
        </p:nvSpPr>
        <p:spPr>
          <a:xfrm>
            <a:off x="5066425" y="1045575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Control:</a:t>
            </a:r>
            <a:r>
              <a:rPr lang="en" sz="18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Pulse Timing: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Write </a:t>
            </a:r>
            <a:r>
              <a:rPr lang="en" sz="19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CTRL.START=1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</a:t>
            </a:r>
            <a:r>
              <a:rPr lang="en" sz="19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start_pulse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asserted for exactly 1 clock cycle; </a:t>
            </a:r>
            <a:r>
              <a:rPr lang="en" sz="19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STATUS.BUSY=1</a:t>
            </a: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23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3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0" name="Google Shape;99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350" y="3598700"/>
            <a:ext cx="7947339" cy="27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39"/>
          <p:cNvSpPr txBox="1"/>
          <p:nvPr/>
        </p:nvSpPr>
        <p:spPr>
          <a:xfrm>
            <a:off x="8283775" y="3027200"/>
            <a:ext cx="3779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 Rejection:</a:t>
            </a:r>
            <a:r>
              <a:rPr b="0" lang="en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Confirm busy state rejection of unexpected inputs.</a:t>
            </a:r>
            <a:endParaRPr b="0" sz="17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Font typeface="Times New Roman"/>
              <a:buChar char="-"/>
            </a:pPr>
            <a:r>
              <a:rPr b="1" lang="en" sz="1750">
                <a:latin typeface="Times New Roman"/>
                <a:ea typeface="Times New Roman"/>
                <a:cs typeface="Times New Roman"/>
                <a:sym typeface="Times New Roman"/>
              </a:rPr>
              <a:t>0.145 us</a:t>
            </a:r>
            <a:r>
              <a:rPr lang="en" sz="1750">
                <a:latin typeface="Times New Roman"/>
                <a:ea typeface="Times New Roman"/>
                <a:cs typeface="Times New Roman"/>
                <a:sym typeface="Times New Roman"/>
              </a:rPr>
              <a:t>: The first start command is accepted; start_pulse = 1 and STATUS = 0x1.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Font typeface="Times New Roman"/>
              <a:buChar char="-"/>
            </a:pPr>
            <a:r>
              <a:rPr b="1" lang="en" sz="1750">
                <a:latin typeface="Times New Roman"/>
                <a:ea typeface="Times New Roman"/>
                <a:cs typeface="Times New Roman"/>
                <a:sym typeface="Times New Roman"/>
              </a:rPr>
              <a:t>0.155 us</a:t>
            </a:r>
            <a:r>
              <a:rPr lang="en" sz="1750">
                <a:latin typeface="Times New Roman"/>
                <a:ea typeface="Times New Roman"/>
                <a:cs typeface="Times New Roman"/>
                <a:sym typeface="Times New Roman"/>
              </a:rPr>
              <a:t>: start_pulse is cleared to 0, while STATUS remains 0x1.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Font typeface="Times New Roman"/>
              <a:buChar char="-"/>
            </a:pPr>
            <a:r>
              <a:rPr b="1" lang="en" sz="1750">
                <a:latin typeface="Times New Roman"/>
                <a:ea typeface="Times New Roman"/>
                <a:cs typeface="Times New Roman"/>
                <a:sym typeface="Times New Roman"/>
              </a:rPr>
              <a:t>0.160-0.170 us:</a:t>
            </a:r>
            <a:r>
              <a:rPr lang="en" sz="1750">
                <a:latin typeface="Times New Roman"/>
                <a:ea typeface="Times New Roman"/>
                <a:cs typeface="Times New Roman"/>
                <a:sym typeface="Times New Roman"/>
              </a:rPr>
              <a:t> A second CTRL = 1 write is issued while the register bank is busy.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SzPts val="1750"/>
              <a:buFont typeface="Times New Roman"/>
              <a:buChar char="-"/>
            </a:pPr>
            <a:r>
              <a:rPr b="1" lang="en" sz="1750">
                <a:latin typeface="Times New Roman"/>
                <a:ea typeface="Times New Roman"/>
                <a:cs typeface="Times New Roman"/>
                <a:sym typeface="Times New Roman"/>
              </a:rPr>
              <a:t>0.175 us</a:t>
            </a:r>
            <a:r>
              <a:rPr lang="en" sz="1750">
                <a:latin typeface="Times New Roman"/>
                <a:ea typeface="Times New Roman"/>
                <a:cs typeface="Times New Roman"/>
                <a:sym typeface="Times New Roman"/>
              </a:rPr>
              <a:t>: start_pulse remains 0, confirming that the restart request is rejected.</a:t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0"/>
          <p:cNvSpPr txBox="1"/>
          <p:nvPr/>
        </p:nvSpPr>
        <p:spPr>
          <a:xfrm>
            <a:off x="0" y="-43300"/>
            <a:ext cx="11239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Verification Scenarios of RegisterBank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7" name="Google Shape;997;p40"/>
          <p:cNvSpPr txBox="1"/>
          <p:nvPr/>
        </p:nvSpPr>
        <p:spPr>
          <a:xfrm>
            <a:off x="316050" y="4349050"/>
            <a:ext cx="4572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Done:</a:t>
            </a:r>
            <a:r>
              <a:rPr b="0" lang="en" sz="1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Verify STATUS done states transition and assert correctly.</a:t>
            </a:r>
            <a:endParaRPr b="0" sz="17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verifies that when the ALU core completes successfully (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core_done=1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core_error=0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the register bank must clear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set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done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keep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deasserted, and latch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core_result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the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register. </a:t>
            </a:r>
            <a:endParaRPr sz="22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8" name="Google Shape;99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00" y="482900"/>
            <a:ext cx="5429250" cy="372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1950" y="482900"/>
            <a:ext cx="4562475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40"/>
          <p:cNvSpPr txBox="1"/>
          <p:nvPr/>
        </p:nvSpPr>
        <p:spPr>
          <a:xfrm>
            <a:off x="6443750" y="3777550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Limits:</a:t>
            </a:r>
            <a:r>
              <a:rPr b="0" lang="en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Verify invalid address (3c -  not a </a:t>
            </a:r>
            <a:r>
              <a:rPr lang="en" sz="1950">
                <a:latin typeface="Times New Roman"/>
                <a:ea typeface="Times New Roman"/>
                <a:cs typeface="Times New Roman"/>
                <a:sym typeface="Times New Roman"/>
              </a:rPr>
              <a:t>valid </a:t>
            </a:r>
            <a:r>
              <a:rPr lang="en" sz="1950">
                <a:latin typeface="Times New Roman"/>
                <a:ea typeface="Times New Roman"/>
                <a:cs typeface="Times New Roman"/>
                <a:sym typeface="Times New Roman"/>
              </a:rPr>
              <a:t>address</a:t>
            </a:r>
            <a:r>
              <a:rPr lang="en" sz="1950">
                <a:latin typeface="Times New Roman"/>
                <a:ea typeface="Times New Roman"/>
                <a:cs typeface="Times New Roman"/>
                <a:sym typeface="Times New Roman"/>
              </a:rPr>
              <a:t> in Register Bank</a:t>
            </a:r>
            <a:r>
              <a:rPr b="0" lang="en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boundaries return 0 on read. </a:t>
            </a:r>
            <a:r>
              <a:rPr lang="en" sz="1950">
                <a:latin typeface="Times New Roman"/>
                <a:ea typeface="Times New Roman"/>
                <a:cs typeface="Times New Roman"/>
                <a:sym typeface="Times New Roman"/>
              </a:rPr>
              <a:t>And not effect to operands A or B. </a:t>
            </a:r>
            <a:endParaRPr b="0" sz="195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5" name="Google Shape;1005;p41"/>
          <p:cNvGrpSpPr/>
          <p:nvPr/>
        </p:nvGrpSpPr>
        <p:grpSpPr>
          <a:xfrm>
            <a:off x="-4762" y="-6"/>
            <a:ext cx="12197919" cy="946409"/>
            <a:chOff x="-4762" y="-6"/>
            <a:chExt cx="12197919" cy="946409"/>
          </a:xfrm>
        </p:grpSpPr>
        <p:pic>
          <p:nvPicPr>
            <p:cNvPr id="1006" name="Google Shape;1006;p41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7" name="Google Shape;1007;p41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08" name="Google Shape;1008;p41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1009" name="Google Shape;1009;p41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41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1" name="Google Shape;1011;p41"/>
            <p:cNvGrpSpPr/>
            <p:nvPr/>
          </p:nvGrpSpPr>
          <p:grpSpPr>
            <a:xfrm>
              <a:off x="4477020" y="263617"/>
              <a:ext cx="3238090" cy="682786"/>
              <a:chOff x="4276725" y="109041"/>
              <a:chExt cx="3638700" cy="767259"/>
            </a:xfrm>
          </p:grpSpPr>
          <p:pic>
            <p:nvPicPr>
              <p:cNvPr id="1012" name="Google Shape;1012;p41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3" name="Google Shape;1013;p41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14" name="Google Shape;1014;p41"/>
              <p:cNvPicPr preferRelativeResize="0"/>
              <p:nvPr/>
            </p:nvPicPr>
            <p:blipFill rotWithShape="1">
              <a:blip r:embed="rId6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15" name="Google Shape;1015;p41"/>
          <p:cNvGrpSpPr/>
          <p:nvPr/>
        </p:nvGrpSpPr>
        <p:grpSpPr>
          <a:xfrm>
            <a:off x="285750" y="1000125"/>
            <a:ext cx="11620500" cy="714300"/>
            <a:chOff x="0" y="0"/>
            <a:chExt cx="11620500" cy="714300"/>
          </a:xfrm>
        </p:grpSpPr>
        <p:sp>
          <p:nvSpPr>
            <p:cNvPr id="1016" name="Google Shape;1016;p41"/>
            <p:cNvSpPr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41"/>
            <p:cNvSpPr txBox="1"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 &amp; Bridge Verification Scenarios</a:t>
              </a:r>
              <a:endParaRPr b="1" i="0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18" name="Google Shape;1018;p41"/>
          <p:cNvGrpSpPr/>
          <p:nvPr/>
        </p:nvGrpSpPr>
        <p:grpSpPr>
          <a:xfrm>
            <a:off x="428625" y="1809750"/>
            <a:ext cx="5429400" cy="4095900"/>
            <a:chOff x="0" y="0"/>
            <a:chExt cx="5429400" cy="4095900"/>
          </a:xfrm>
        </p:grpSpPr>
        <p:sp>
          <p:nvSpPr>
            <p:cNvPr id="1019" name="Google Shape;1019;p41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fmla="val 279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0" name="Google Shape;1020;p41"/>
            <p:cNvGrpSpPr/>
            <p:nvPr/>
          </p:nvGrpSpPr>
          <p:grpSpPr>
            <a:xfrm>
              <a:off x="285750" y="190500"/>
              <a:ext cx="4857900" cy="428700"/>
              <a:chOff x="0" y="0"/>
              <a:chExt cx="4857900" cy="428700"/>
            </a:xfrm>
          </p:grpSpPr>
          <p:sp>
            <p:nvSpPr>
              <p:cNvPr id="1021" name="Google Shape;1021;p41"/>
              <p:cNvSpPr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41"/>
              <p:cNvSpPr txBox="1"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2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AXI4-Lite Slave Tests</a:t>
                </a:r>
                <a:endParaRPr b="1" i="0" sz="22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023" name="Google Shape;1023;p41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24" name="Google Shape;1024;p41"/>
            <p:cNvGrpSpPr/>
            <p:nvPr/>
          </p:nvGrpSpPr>
          <p:grpSpPr>
            <a:xfrm>
              <a:off x="285750" y="762000"/>
              <a:ext cx="4857900" cy="2190900"/>
              <a:chOff x="0" y="0"/>
              <a:chExt cx="4857900" cy="2190900"/>
            </a:xfrm>
          </p:grpSpPr>
          <p:sp>
            <p:nvSpPr>
              <p:cNvPr id="1025" name="Google Shape;1025;p41"/>
              <p:cNvSpPr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41"/>
              <p:cNvSpPr txBox="1"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5250" spcFirstLastPara="1" rIns="95250" wrap="square" tIns="0">
                <a:noAutofit/>
              </a:bodyPr>
              <a:lstStyle/>
              <a:p>
                <a:pPr indent="-190500" lvl="0" marL="1905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Verify AW-before-W, W-before-AW (generating exactly one valid write pulse), and same-cycle AW/W writes.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Confirm ARVALID/ARREADY handshakes and back-to-back recovery during read transactions.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27" name="Google Shape;1027;p41"/>
            <p:cNvGrpSpPr/>
            <p:nvPr/>
          </p:nvGrpSpPr>
          <p:grpSpPr>
            <a:xfrm>
              <a:off x="381000" y="2809875"/>
              <a:ext cx="4581525" cy="1019175"/>
              <a:chOff x="381000" y="2809875"/>
              <a:chExt cx="4581525" cy="1019175"/>
            </a:xfrm>
          </p:grpSpPr>
          <p:sp>
            <p:nvSpPr>
              <p:cNvPr id="1028" name="Google Shape;1028;p41"/>
              <p:cNvSpPr/>
              <p:nvPr/>
            </p:nvSpPr>
            <p:spPr>
              <a:xfrm>
                <a:off x="381000" y="3095625"/>
                <a:ext cx="9525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41"/>
              <p:cNvSpPr txBox="1"/>
              <p:nvPr/>
            </p:nvSpPr>
            <p:spPr>
              <a:xfrm>
                <a:off x="381000" y="3095625"/>
                <a:ext cx="9525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Master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30" name="Google Shape;1030;p41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1333500" y="3214688"/>
                <a:ext cx="7335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1" name="Google Shape;1031;p41"/>
              <p:cNvSpPr txBox="1"/>
              <p:nvPr/>
            </p:nvSpPr>
            <p:spPr>
              <a:xfrm>
                <a:off x="1333500" y="2809875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AW/W, AR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32" name="Google Shape;1032;p41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1362075" y="3367088"/>
                <a:ext cx="7335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3" name="Google Shape;1033;p41"/>
              <p:cNvSpPr txBox="1"/>
              <p:nvPr/>
            </p:nvSpPr>
            <p:spPr>
              <a:xfrm>
                <a:off x="1333500" y="344805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READY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4" name="Google Shape;1034;p41"/>
              <p:cNvSpPr/>
              <p:nvPr/>
            </p:nvSpPr>
            <p:spPr>
              <a:xfrm>
                <a:off x="2095500" y="3095625"/>
                <a:ext cx="11430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41"/>
              <p:cNvSpPr txBox="1"/>
              <p:nvPr/>
            </p:nvSpPr>
            <p:spPr>
              <a:xfrm>
                <a:off x="2095500" y="3095625"/>
                <a:ext cx="1143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AXI Slave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36" name="Google Shape;1036;p41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3286125" y="3290888"/>
                <a:ext cx="4287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7" name="Google Shape;1037;p41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3705225" y="3086100"/>
                <a:ext cx="1257300" cy="495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8" name="Google Shape;1038;p41"/>
              <p:cNvSpPr txBox="1"/>
              <p:nvPr/>
            </p:nvSpPr>
            <p:spPr>
              <a:xfrm>
                <a:off x="3714750" y="3095625"/>
                <a:ext cx="12384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Directed</a:t>
                </a:r>
                <a:endParaRPr b="1" sz="12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Scenarios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39" name="Google Shape;1039;p41"/>
          <p:cNvGrpSpPr/>
          <p:nvPr/>
        </p:nvGrpSpPr>
        <p:grpSpPr>
          <a:xfrm>
            <a:off x="6334125" y="1809750"/>
            <a:ext cx="5429400" cy="4095900"/>
            <a:chOff x="0" y="0"/>
            <a:chExt cx="5429400" cy="4095900"/>
          </a:xfrm>
        </p:grpSpPr>
        <p:sp>
          <p:nvSpPr>
            <p:cNvPr id="1040" name="Google Shape;1040;p41"/>
            <p:cNvSpPr/>
            <p:nvPr/>
          </p:nvSpPr>
          <p:spPr>
            <a:xfrm>
              <a:off x="0" y="0"/>
              <a:ext cx="5429400" cy="4095900"/>
            </a:xfrm>
            <a:prstGeom prst="roundRect">
              <a:avLst>
                <a:gd fmla="val 2790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1" name="Google Shape;1041;p41"/>
            <p:cNvGrpSpPr/>
            <p:nvPr/>
          </p:nvGrpSpPr>
          <p:grpSpPr>
            <a:xfrm>
              <a:off x="285750" y="190500"/>
              <a:ext cx="4857900" cy="428700"/>
              <a:chOff x="0" y="0"/>
              <a:chExt cx="4857900" cy="428700"/>
            </a:xfrm>
          </p:grpSpPr>
          <p:sp>
            <p:nvSpPr>
              <p:cNvPr id="1042" name="Google Shape;1042;p41"/>
              <p:cNvSpPr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41"/>
              <p:cNvSpPr txBox="1"/>
              <p:nvPr/>
            </p:nvSpPr>
            <p:spPr>
              <a:xfrm>
                <a:off x="0" y="0"/>
                <a:ext cx="4857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200">
                    <a:solidFill>
                      <a:srgbClr val="05624A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Avalon Bridge Tests</a:t>
                </a:r>
                <a:endParaRPr b="1" i="0" sz="22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044" name="Google Shape;1044;p41"/>
            <p:cNvCxnSpPr/>
            <p:nvPr/>
          </p:nvCxnSpPr>
          <p:spPr>
            <a:xfrm>
              <a:off x="285750" y="619125"/>
              <a:ext cx="48579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45" name="Google Shape;1045;p41"/>
            <p:cNvGrpSpPr/>
            <p:nvPr/>
          </p:nvGrpSpPr>
          <p:grpSpPr>
            <a:xfrm>
              <a:off x="285750" y="762000"/>
              <a:ext cx="4857900" cy="2190900"/>
              <a:chOff x="0" y="0"/>
              <a:chExt cx="4857900" cy="2190900"/>
            </a:xfrm>
          </p:grpSpPr>
          <p:sp>
            <p:nvSpPr>
              <p:cNvPr id="1046" name="Google Shape;1046;p41"/>
              <p:cNvSpPr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41"/>
              <p:cNvSpPr txBox="1"/>
              <p:nvPr/>
            </p:nvSpPr>
            <p:spPr>
              <a:xfrm>
                <a:off x="0" y="0"/>
                <a:ext cx="4857900" cy="219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95250" spcFirstLastPara="1" rIns="95250" wrap="square" tIns="0">
                <a:noAutofit/>
              </a:bodyPr>
              <a:lstStyle/>
              <a:p>
                <a:pPr indent="-190500" lvl="0" marL="19050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550">
                    <a:solidFill>
                      <a:srgbClr val="43B692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■</a:t>
                </a:r>
                <a:r>
                  <a:rPr b="0" i="0" lang="en" sz="155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Validate write timing variations and delayed read responses.</a:t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-190500" lvl="0" marL="190500" marR="0" rtl="0" algn="l">
                  <a:spcBef>
                    <a:spcPts val="105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048" name="Google Shape;1048;p41"/>
            <p:cNvGrpSpPr/>
            <p:nvPr/>
          </p:nvGrpSpPr>
          <p:grpSpPr>
            <a:xfrm>
              <a:off x="381000" y="2809875"/>
              <a:ext cx="4476900" cy="1019175"/>
              <a:chOff x="381000" y="2809875"/>
              <a:chExt cx="4476900" cy="1019175"/>
            </a:xfrm>
          </p:grpSpPr>
          <p:sp>
            <p:nvSpPr>
              <p:cNvPr id="1049" name="Google Shape;1049;p41"/>
              <p:cNvSpPr/>
              <p:nvPr/>
            </p:nvSpPr>
            <p:spPr>
              <a:xfrm>
                <a:off x="3810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05624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41"/>
              <p:cNvSpPr txBox="1"/>
              <p:nvPr/>
            </p:nvSpPr>
            <p:spPr>
              <a:xfrm>
                <a:off x="3810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AXI Master</a:t>
                </a:r>
                <a:endParaRPr b="1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51" name="Google Shape;1051;p4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1428750" y="32146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2" name="Google Shape;1052;p41"/>
              <p:cNvSpPr txBox="1"/>
              <p:nvPr/>
            </p:nvSpPr>
            <p:spPr>
              <a:xfrm>
                <a:off x="1428750" y="2809875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AXI4-Lite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41"/>
              <p:cNvSpPr/>
              <p:nvPr/>
            </p:nvSpPr>
            <p:spPr>
              <a:xfrm>
                <a:off x="20955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E6F4F0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41"/>
              <p:cNvSpPr txBox="1"/>
              <p:nvPr/>
            </p:nvSpPr>
            <p:spPr>
              <a:xfrm>
                <a:off x="20955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AXI-Avalon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000">
                    <a:solidFill>
                      <a:srgbClr val="555555"/>
                    </a:solidFill>
                    <a:latin typeface="Arial"/>
                    <a:ea typeface="Arial"/>
                    <a:cs typeface="Arial"/>
                    <a:sym typeface="Arial"/>
                  </a:rPr>
                  <a:t>Bridge</a:t>
                </a:r>
                <a:endParaRPr b="0" sz="1000">
                  <a:solidFill>
                    <a:srgbClr val="55555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55" name="Google Shape;1055;p41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0"/>
              <a:stretch/>
            </p:blipFill>
            <p:spPr>
              <a:xfrm>
                <a:off x="3143250" y="32146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6" name="Google Shape;1056;p41"/>
              <p:cNvSpPr txBox="1"/>
              <p:nvPr/>
            </p:nvSpPr>
            <p:spPr>
              <a:xfrm>
                <a:off x="3143250" y="2809875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5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Avalon</a:t>
                </a:r>
                <a:endParaRPr b="1" sz="105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057" name="Google Shape;1057;p41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0"/>
              <a:stretch/>
            </p:blipFill>
            <p:spPr>
              <a:xfrm>
                <a:off x="3171825" y="3367088"/>
                <a:ext cx="638100" cy="858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58" name="Google Shape;1058;p41"/>
              <p:cNvSpPr txBox="1"/>
              <p:nvPr/>
            </p:nvSpPr>
            <p:spPr>
              <a:xfrm>
                <a:off x="3143250" y="3448050"/>
                <a:ext cx="666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79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waitrequest</a:t>
                </a:r>
                <a:endParaRPr b="1" sz="879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41"/>
              <p:cNvSpPr/>
              <p:nvPr/>
            </p:nvSpPr>
            <p:spPr>
              <a:xfrm>
                <a:off x="3810000" y="3095625"/>
                <a:ext cx="1047900" cy="4764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19050">
                <a:solidFill>
                  <a:srgbClr val="43B69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41"/>
              <p:cNvSpPr txBox="1"/>
              <p:nvPr/>
            </p:nvSpPr>
            <p:spPr>
              <a:xfrm>
                <a:off x="3810000" y="3095625"/>
                <a:ext cx="1047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5624A"/>
                    </a:solidFill>
                    <a:latin typeface="Arial"/>
                    <a:ea typeface="Arial"/>
                    <a:cs typeface="Arial"/>
                    <a:sym typeface="Arial"/>
                  </a:rPr>
                  <a:t>Slave Core</a:t>
                </a:r>
                <a:endParaRPr b="1" sz="13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61" name="Google Shape;1061;p41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1062" name="Google Shape;1062;p41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3" name="Google Shape;1063;p41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1064" name="Google Shape;1064;p41"/>
              <p:cNvPicPr preferRelativeResize="0"/>
              <p:nvPr/>
            </p:nvPicPr>
            <p:blipFill rotWithShape="1">
              <a:blip r:embed="rId13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5" name="Google Shape;1065;p41"/>
              <p:cNvPicPr preferRelativeResize="0"/>
              <p:nvPr/>
            </p:nvPicPr>
            <p:blipFill rotWithShape="1">
              <a:blip r:embed="rId14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66" name="Google Shape;1066;p41"/>
            <p:cNvGrpSpPr/>
            <p:nvPr/>
          </p:nvGrpSpPr>
          <p:grpSpPr>
            <a:xfrm>
              <a:off x="4038600" y="6356347"/>
              <a:ext cx="4114800" cy="365100"/>
              <a:chOff x="0" y="0"/>
              <a:chExt cx="4114800" cy="365100"/>
            </a:xfrm>
          </p:grpSpPr>
          <p:sp>
            <p:nvSpPr>
              <p:cNvPr id="1067" name="Google Shape;1067;p41"/>
              <p:cNvSpPr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41"/>
              <p:cNvSpPr txBox="1"/>
              <p:nvPr/>
            </p:nvSpPr>
            <p:spPr>
              <a:xfrm>
                <a:off x="0" y="0"/>
                <a:ext cx="4114800" cy="36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00" spcFirstLastPara="1" rIns="91400" wrap="square" tIns="457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200">
                    <a:solidFill>
                      <a:srgbClr val="888888"/>
                    </a:solidFill>
                    <a:latin typeface="Arial"/>
                    <a:ea typeface="Arial"/>
                    <a:cs typeface="Arial"/>
                    <a:sym typeface="Arial"/>
                  </a:rPr>
                  <a:t>Copyrights 2026 CE-UIT. All Rights Reserved.</a:t>
                </a:r>
                <a:endParaRPr b="0" i="0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375" y="-120400"/>
            <a:ext cx="4857750" cy="1247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4" name="Google Shape;1074;p42"/>
          <p:cNvGrpSpPr/>
          <p:nvPr/>
        </p:nvGrpSpPr>
        <p:grpSpPr>
          <a:xfrm>
            <a:off x="0" y="47625"/>
            <a:ext cx="11620500" cy="714300"/>
            <a:chOff x="0" y="0"/>
            <a:chExt cx="11620500" cy="714300"/>
          </a:xfrm>
        </p:grpSpPr>
        <p:sp>
          <p:nvSpPr>
            <p:cNvPr id="1075" name="Google Shape;1075;p42"/>
            <p:cNvSpPr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2"/>
            <p:cNvSpPr txBox="1"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 &amp; Bridge Verification Scenarios</a:t>
              </a:r>
              <a:endParaRPr b="1" i="0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 axi 4 lite </a:t>
              </a: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slave</a:t>
              </a: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 </a:t>
              </a:r>
              <a:endParaRPr b="1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1077" name="Google Shape;107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68450" y="1127363"/>
            <a:ext cx="4781550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3100" y="1084200"/>
            <a:ext cx="3962400" cy="3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5500" y="2716413"/>
            <a:ext cx="3647396" cy="1872987"/>
          </a:xfrm>
          <a:prstGeom prst="rect">
            <a:avLst/>
          </a:prstGeom>
          <a:noFill/>
          <a:ln>
            <a:noFill/>
          </a:ln>
        </p:spPr>
      </p:pic>
      <p:sp>
        <p:nvSpPr>
          <p:cNvPr id="1080" name="Google Shape;1080;p42"/>
          <p:cNvSpPr txBox="1"/>
          <p:nvPr/>
        </p:nvSpPr>
        <p:spPr>
          <a:xfrm>
            <a:off x="242875" y="4589400"/>
            <a:ext cx="118398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9525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that the slave handles all AW/W ordering cases: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AW-before-W: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address arrives before data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W-before-AW: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arrives before address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Same-cycle AW/W: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address and data arrive together.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all cases, the slave waits until both address and data are received, then generates exactly one internal write pulse: </a:t>
            </a: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wr_en = 1 for one clock cycle; 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ensures each write transaction is committed once, independent of AW/W arrival order.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1905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50">
              <a:solidFill>
                <a:srgbClr val="43B69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175" y="0"/>
            <a:ext cx="4991100" cy="571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6" name="Google Shape;1086;p43"/>
          <p:cNvGrpSpPr/>
          <p:nvPr/>
        </p:nvGrpSpPr>
        <p:grpSpPr>
          <a:xfrm>
            <a:off x="0" y="0"/>
            <a:ext cx="11720775" cy="761925"/>
            <a:chOff x="0" y="-47625"/>
            <a:chExt cx="11720775" cy="761925"/>
          </a:xfrm>
        </p:grpSpPr>
        <p:sp>
          <p:nvSpPr>
            <p:cNvPr id="1087" name="Google Shape;1087;p43"/>
            <p:cNvSpPr/>
            <p:nvPr/>
          </p:nvSpPr>
          <p:spPr>
            <a:xfrm>
              <a:off x="0" y="0"/>
              <a:ext cx="11620500" cy="71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43"/>
            <p:cNvSpPr txBox="1"/>
            <p:nvPr/>
          </p:nvSpPr>
          <p:spPr>
            <a:xfrm>
              <a:off x="100275" y="-47625"/>
              <a:ext cx="116205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Protocol &amp; Bridge Verification Scenarios</a:t>
              </a:r>
              <a:endParaRPr b="1" i="0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4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(axi 4 lite slave)</a:t>
              </a:r>
              <a:endParaRPr b="1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89" name="Google Shape;1089;p43"/>
          <p:cNvSpPr txBox="1"/>
          <p:nvPr/>
        </p:nvSpPr>
        <p:spPr>
          <a:xfrm>
            <a:off x="5408600" y="586925"/>
            <a:ext cx="6312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 = 6'h04                             </a:t>
            </a: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 = 6'h14</a:t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= 32'hCAFE_BABE        </a:t>
            </a: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= 32'h1234_5678</a:t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= "read transaction"     </a:t>
            </a:r>
            <a:r>
              <a:rPr b="1" i="1" lang="en" sz="19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= "back-to-back read"</a:t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9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0" name="Google Shape;1090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400" y="1562100"/>
            <a:ext cx="8467725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43"/>
          <p:cNvSpPr txBox="1"/>
          <p:nvPr/>
        </p:nvSpPr>
        <p:spPr>
          <a:xfrm>
            <a:off x="275225" y="3693950"/>
            <a:ext cx="11839800" cy="21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95250" wrap="square" tIns="0">
            <a:noAutofit/>
          </a:bodyPr>
          <a:lstStyle/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testcase verifies the AXI4-Lite slave read channel using two consecutive read transactions.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First, the test calls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axi_read(6'h04, 32'hCAFE_BABE, "read transaction")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the master drives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s_axi_araddr = 6'h04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asserts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s_axi_arvalid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the slave accepts the request when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s_axi_arready = 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returns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s_axi_rvalid = 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s_axi_rdata = 32'hCAFE_BABE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s_axi_rresp = 2'b00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first read response is completed with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s_axi_rready = 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test immediately calls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axi_read(6'h14, 32'h1234_5678, "back-to-back read")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check that the slave has recovered and can accept another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ARVALID/ARREADY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handshake, then return the expected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RDATA = 32'h1234_5678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1905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confirms correct read address handshaking, read response generation, and back-to-back read recovery. </a:t>
            </a:r>
            <a:endParaRPr b="1" sz="2750">
              <a:solidFill>
                <a:srgbClr val="43B69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44"/>
          <p:cNvSpPr txBox="1"/>
          <p:nvPr/>
        </p:nvSpPr>
        <p:spPr>
          <a:xfrm>
            <a:off x="140375" y="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&amp; Bridge Verification Scenarios (bridge)</a:t>
            </a:r>
            <a:endParaRPr b="1" i="0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7" name="Google Shape;1097;p44"/>
          <p:cNvSpPr/>
          <p:nvPr/>
        </p:nvSpPr>
        <p:spPr>
          <a:xfrm>
            <a:off x="94350" y="636875"/>
            <a:ext cx="7545600" cy="1380300"/>
          </a:xfrm>
          <a:prstGeom prst="roundRect">
            <a:avLst>
              <a:gd fmla="val 2790" name="adj"/>
            </a:avLst>
          </a:prstGeom>
          <a:solidFill>
            <a:srgbClr val="FFFFFF"/>
          </a:solidFill>
          <a:ln cap="flat" cmpd="sng" w="1905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5624A"/>
                </a:solidFill>
              </a:rPr>
              <a:t>avalon_write</a:t>
            </a:r>
            <a:r>
              <a:rPr lang="en" sz="1600"/>
              <a:t>(6'h08, 32'hAAAA_5555, 4'b1111, 0, 0, 2, </a:t>
            </a:r>
            <a:r>
              <a:rPr b="1" lang="en" sz="1600"/>
              <a:t>"write AW/W same cycle"</a:t>
            </a:r>
            <a:r>
              <a:rPr lang="en" sz="1600"/>
              <a:t>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5624A"/>
                </a:solidFill>
              </a:rPr>
              <a:t>avalon_write</a:t>
            </a:r>
            <a:r>
              <a:rPr lang="en" sz="1600"/>
              <a:t>(6'h0C, 32'h1111_2222, 4'b0011, 0, 3, 1, </a:t>
            </a:r>
            <a:r>
              <a:rPr b="1" lang="en" sz="1600"/>
              <a:t>"write AW before W"</a:t>
            </a:r>
            <a:r>
              <a:rPr lang="en" sz="1600"/>
              <a:t>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5624A"/>
                </a:solidFill>
              </a:rPr>
              <a:t>avalon_write_w_firs</a:t>
            </a:r>
            <a:r>
              <a:rPr lang="en" sz="1600"/>
              <a:t>t(6'h10, 32'h0000_0002, 4'b1111);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5624A"/>
                </a:solidFill>
              </a:rPr>
              <a:t>avalon_read</a:t>
            </a:r>
            <a:r>
              <a:rPr lang="en" sz="1600"/>
              <a:t>(6'h14, 32'hDEAD_BEEF, 2, 3, </a:t>
            </a:r>
            <a:r>
              <a:rPr b="1" lang="en" sz="1600"/>
              <a:t>"read with delays"</a:t>
            </a:r>
            <a:r>
              <a:rPr lang="en" sz="1600"/>
              <a:t>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98" name="Google Shape;109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26443"/>
            <a:ext cx="5170885" cy="453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44"/>
          <p:cNvSpPr txBox="1"/>
          <p:nvPr/>
        </p:nvSpPr>
        <p:spPr>
          <a:xfrm>
            <a:off x="5547900" y="2071800"/>
            <a:ext cx="6644100" cy="45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5624A"/>
                </a:solidFill>
              </a:rPr>
              <a:t>avalon_write</a:t>
            </a:r>
            <a:r>
              <a:rPr lang="en" sz="1600">
                <a:solidFill>
                  <a:schemeClr val="dk1"/>
                </a:solidFill>
              </a:rPr>
              <a:t>(6'h08, 32'hAAAA_5555, 4'b1111, 0, 0, 2, </a:t>
            </a:r>
            <a:r>
              <a:rPr b="1" lang="en" sz="1600">
                <a:solidFill>
                  <a:schemeClr val="dk1"/>
                </a:solidFill>
              </a:rPr>
              <a:t>"write AW/W same cycle"</a:t>
            </a:r>
            <a:r>
              <a:rPr lang="en" sz="1600">
                <a:solidFill>
                  <a:schemeClr val="dk1"/>
                </a:solidFill>
              </a:rPr>
              <a:t>);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1: Write AW/W Same Cycle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verifies that an Avalon-MM write is correctly converted into an AXI4-Lite write transaction. The test drives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avs_write=1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one clock with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avs_address=0x08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avs_writedata=0xAAAA_5555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avs_byteenable=4'b1111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The bridge is expected to assert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avs_waitrequest=1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while busy, drive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m_axi_awvalid=1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m_axi_awaddr=0x08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drive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m_axi_wvalid=1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m_axi_wdata=0xAAAA_5555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m_axi_wstrb=4'b1111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AWVALID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WVALID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must stay stable until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AWREADY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WREADY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handshakes occur.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Then the bridge asserts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m_axi_bready=1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waits for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m_axi_bvalid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completes the write response, and returns to idle with </a:t>
            </a:r>
            <a:r>
              <a:rPr lang="en" sz="17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avs_waitrequest=0</a:t>
            </a: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output: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bridge completes the AXI write transaction successfully, keeps address/data stable until handshake, then returns to idle with </a:t>
            </a:r>
            <a:r>
              <a:rPr lang="en" sz="16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avs_waitrequest = 0</a:t>
            </a: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375" y="804075"/>
            <a:ext cx="6143625" cy="542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45"/>
          <p:cNvSpPr txBox="1"/>
          <p:nvPr/>
        </p:nvSpPr>
        <p:spPr>
          <a:xfrm>
            <a:off x="140375" y="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&amp; Bridge Verification Scenarios (bridge)</a:t>
            </a:r>
            <a:endParaRPr b="1" i="0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6" name="Google Shape;1106;p45"/>
          <p:cNvSpPr txBox="1"/>
          <p:nvPr/>
        </p:nvSpPr>
        <p:spPr>
          <a:xfrm>
            <a:off x="6691200" y="217125"/>
            <a:ext cx="55008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5624A"/>
                </a:solidFill>
              </a:rPr>
              <a:t>avalon_write</a:t>
            </a:r>
            <a:r>
              <a:rPr lang="en" sz="1600">
                <a:solidFill>
                  <a:schemeClr val="dk1"/>
                </a:solidFill>
              </a:rPr>
              <a:t>(6'h0C, 32'h1111_2222, 4'b0011, 0, 3, 1, </a:t>
            </a:r>
            <a:r>
              <a:rPr b="1" lang="en" sz="1600">
                <a:solidFill>
                  <a:schemeClr val="dk1"/>
                </a:solidFill>
              </a:rPr>
              <a:t>"write AW before W"</a:t>
            </a:r>
            <a:r>
              <a:rPr lang="en" sz="1600">
                <a:solidFill>
                  <a:schemeClr val="dk1"/>
                </a:solidFill>
              </a:rPr>
              <a:t>);</a:t>
            </a:r>
            <a:endParaRPr sz="1600">
              <a:solidFill>
                <a:srgbClr val="05624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2: Write AW Before W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verifies that the bridge correctly handles an AXI4-Lite write when the address channel completes before the data channel. The test drives an Avalon-MM write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avs_address=0x0C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avs_writedata=0x1111_2222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avs_byteenable=4'b0011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aw_delay=0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testbench asserts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m_axi_awready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immediately, so the bridge handshakes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m_axi_awvalid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m_axi_awaddr=0x0C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w_delay=3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m_axi_wready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delayed by three clock cycles, so the bridge must keep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m_axi_wvalid=1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m_axi_wdata=0x1111_2222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m_axi_wstrb=4'b0011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stable while waiting.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W handshake,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b_delay=1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delays the write response by one clock cycle; the bridge asserts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m_axi_bready=1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waits for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m_axi_bvalid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completes the response, and returns to idle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avs_waitrequest=0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46"/>
          <p:cNvSpPr txBox="1"/>
          <p:nvPr/>
        </p:nvSpPr>
        <p:spPr>
          <a:xfrm>
            <a:off x="140375" y="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&amp; Bridge Verification Scenarios (bridge)</a:t>
            </a:r>
            <a:endParaRPr b="1" i="0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2" name="Google Shape;1112;p46"/>
          <p:cNvSpPr txBox="1"/>
          <p:nvPr/>
        </p:nvSpPr>
        <p:spPr>
          <a:xfrm>
            <a:off x="6691200" y="217125"/>
            <a:ext cx="55008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avalon_write_w_firs</a:t>
            </a:r>
            <a:r>
              <a:rPr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t(6'h10, 32'h0000_0002, 4'b1111);</a:t>
            </a:r>
            <a:endParaRPr sz="22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3: Write W Before AW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verifies that the bridge correctly handles an AXI4-Lite write when the data channel is accepted before the address channel.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test drives an Avalon-MM write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avs_address=0x10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avs_writedata=0x0000_0002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avs_byteenable=4'b1111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testbench asserts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m_axi_wready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first, so the W channel handshakes before the AW channel; after this handshake, the bridge must deassert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m_axi_wvalid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because the write data has already been accepted.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same time, it must keep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m_axi_awvalid=1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m_axi_awaddr=0x10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stable until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m_axi_awready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asserted.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the AW handshake completes, the bridge waits for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m_axi_bvalid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m_axi_bready=1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completes the write response, and returns to idle. 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3" name="Google Shape;111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6700"/>
            <a:ext cx="6386399" cy="447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47"/>
          <p:cNvSpPr txBox="1"/>
          <p:nvPr/>
        </p:nvSpPr>
        <p:spPr>
          <a:xfrm>
            <a:off x="140375" y="0"/>
            <a:ext cx="11620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&amp; Bridge Verification Scenarios (bridge)</a:t>
            </a:r>
            <a:endParaRPr b="1" i="0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9" name="Google Shape;1119;p47"/>
          <p:cNvSpPr txBox="1"/>
          <p:nvPr/>
        </p:nvSpPr>
        <p:spPr>
          <a:xfrm>
            <a:off x="6691200" y="217125"/>
            <a:ext cx="5500800" cy="6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5624A"/>
                </a:solidFill>
              </a:rPr>
              <a:t>avalon_read</a:t>
            </a:r>
            <a:r>
              <a:rPr lang="en" sz="1600">
                <a:solidFill>
                  <a:schemeClr val="dk1"/>
                </a:solidFill>
              </a:rPr>
              <a:t>(6'h14, 32'hDEAD_BEEF, 2, 3, </a:t>
            </a:r>
            <a:r>
              <a:rPr b="1" lang="en" sz="1600">
                <a:solidFill>
                  <a:schemeClr val="dk1"/>
                </a:solidFill>
              </a:rPr>
              <a:t>"read with delays"</a:t>
            </a:r>
            <a:r>
              <a:rPr lang="en" sz="1600">
                <a:solidFill>
                  <a:schemeClr val="dk1"/>
                </a:solidFill>
              </a:rPr>
              <a:t>);</a:t>
            </a:r>
            <a:endParaRPr sz="22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 4: Read With Delays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verifies that the bridge correctly converts an Avalon-MM read request into an AXI4-Lite read transaction while handling delayed address and data responses.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test drives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avs_read=1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one clock cycle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avs_address=0x14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ar_delay=2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testbench delays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m_axi_arready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two clock cycles, so the bridge must keep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m_axi_arvalid=1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m_axi_araddr=0x14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stable until the AR handshake occurs.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the address is accepted,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r_delay=3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delays the read data response, so the bridge must assert and hold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m_axi_rready=1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while waiting for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m_axi_rvalid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testbench returns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m_axi_rdata=0xDEAD_BEEF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m_axi_rvalid=1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bridge outputs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avs_readdata=0xDEAD_BEEF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asserts </a:t>
            </a:r>
            <a:r>
              <a:rPr lang="en" sz="18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avs_readdatavalid=1</a:t>
            </a: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exactly one clock cycle, then returns to idle. </a:t>
            </a:r>
            <a:endParaRPr sz="4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0" name="Google Shape;112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6700"/>
            <a:ext cx="6386400" cy="4882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5" name="Google Shape;1125;p48"/>
          <p:cNvGrpSpPr/>
          <p:nvPr/>
        </p:nvGrpSpPr>
        <p:grpSpPr>
          <a:xfrm>
            <a:off x="-4762" y="-6"/>
            <a:ext cx="12197919" cy="984711"/>
            <a:chOff x="-4762" y="-6"/>
            <a:chExt cx="12197919" cy="984711"/>
          </a:xfrm>
        </p:grpSpPr>
        <p:pic>
          <p:nvPicPr>
            <p:cNvPr id="1126" name="Google Shape;1126;p48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7" name="Google Shape;1127;p48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48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9" name="Google Shape;1129;p48"/>
            <p:cNvGrpSpPr/>
            <p:nvPr/>
          </p:nvGrpSpPr>
          <p:grpSpPr>
            <a:xfrm>
              <a:off x="4477020" y="263617"/>
              <a:ext cx="3238090" cy="721088"/>
              <a:chOff x="4276725" y="109041"/>
              <a:chExt cx="3638700" cy="810300"/>
            </a:xfrm>
          </p:grpSpPr>
          <p:pic>
            <p:nvPicPr>
              <p:cNvPr id="1130" name="Google Shape;1130;p48"/>
              <p:cNvPicPr preferRelativeResize="0"/>
              <p:nvPr/>
            </p:nvPicPr>
            <p:blipFill rotWithShape="1">
              <a:blip r:embed="rId5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1" name="Google Shape;1131;p48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132" name="Google Shape;1132;p48"/>
              <p:cNvPicPr preferRelativeResize="0"/>
              <p:nvPr/>
            </p:nvPicPr>
            <p:blipFill rotWithShape="1">
              <a:blip r:embed="rId6">
                <a:alphaModFix/>
              </a:blip>
              <a:srcRect b="-26163" l="0" r="-26263" t="76"/>
              <a:stretch/>
            </p:blipFill>
            <p:spPr>
              <a:xfrm>
                <a:off x="5604843" y="109041"/>
                <a:ext cx="979500" cy="8103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33" name="Google Shape;1133;p48"/>
          <p:cNvSpPr txBox="1"/>
          <p:nvPr/>
        </p:nvSpPr>
        <p:spPr>
          <a:xfrm>
            <a:off x="476250" y="904875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 Report &amp; Synthesis Analysis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34" name="Google Shape;1134;p48"/>
          <p:cNvGrpSpPr/>
          <p:nvPr/>
        </p:nvGrpSpPr>
        <p:grpSpPr>
          <a:xfrm>
            <a:off x="476250" y="1619250"/>
            <a:ext cx="3429000" cy="4333800"/>
            <a:chOff x="0" y="0"/>
            <a:chExt cx="3429000" cy="4333800"/>
          </a:xfrm>
        </p:grpSpPr>
        <p:sp>
          <p:nvSpPr>
            <p:cNvPr id="1135" name="Google Shape;1135;p48"/>
            <p:cNvSpPr/>
            <p:nvPr/>
          </p:nvSpPr>
          <p:spPr>
            <a:xfrm>
              <a:off x="0" y="0"/>
              <a:ext cx="3429000" cy="43338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1905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8"/>
            <p:cNvSpPr/>
            <p:nvPr/>
          </p:nvSpPr>
          <p:spPr>
            <a:xfrm>
              <a:off x="0" y="0"/>
              <a:ext cx="3429000" cy="428700"/>
            </a:xfrm>
            <a:custGeom>
              <a:rect b="b" l="l" r="r" t="t"/>
              <a:pathLst>
                <a:path extrusionOk="0" h="120000" w="120000">
                  <a:moveTo>
                    <a:pt x="0" y="32000"/>
                  </a:moveTo>
                  <a:cubicBezTo>
                    <a:pt x="0" y="14327"/>
                    <a:pt x="1791" y="0"/>
                    <a:pt x="4000" y="0"/>
                  </a:cubicBezTo>
                  <a:lnTo>
                    <a:pt x="116000" y="0"/>
                  </a:lnTo>
                  <a:cubicBezTo>
                    <a:pt x="118209" y="0"/>
                    <a:pt x="120000" y="14327"/>
                    <a:pt x="120000" y="32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8"/>
            <p:cNvSpPr txBox="1"/>
            <p:nvPr/>
          </p:nvSpPr>
          <p:spPr>
            <a:xfrm>
              <a:off x="0" y="0"/>
              <a:ext cx="3429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SYNTHESIS &amp; COVERAGE OVERVIEW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48"/>
            <p:cNvSpPr txBox="1"/>
            <p:nvPr/>
          </p:nvSpPr>
          <p:spPr>
            <a:xfrm>
              <a:off x="190500" y="619125"/>
              <a:ext cx="30480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Vivado Simulator Analysis</a:t>
              </a:r>
              <a:endParaRPr b="1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Standalone target RTL modules achieved </a:t>
              </a:r>
              <a:r>
                <a:rPr b="1" lang="en" sz="19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 statement and branch coverage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1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 </a:t>
              </a:r>
              <a:r>
                <a:rPr b="1" lang="en" sz="17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tb_avalon_axi4lite_bridge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report hit </a:t>
              </a:r>
              <a:r>
                <a:rPr b="1" lang="en" sz="19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98.75% Statement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and </a:t>
              </a:r>
              <a:r>
                <a:rPr b="1" lang="en" sz="19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92.86% Branch</a:t>
              </a:r>
              <a:r>
                <a:rPr lang="en" sz="1950">
                  <a:solidFill>
                    <a:srgbClr val="333333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coverage.</a:t>
              </a:r>
              <a:endParaRPr sz="195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t/>
              </a:r>
              <a:endParaRPr sz="1250">
                <a:solidFill>
                  <a:srgbClr val="555555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39" name="Google Shape;1139;p48"/>
          <p:cNvSpPr/>
          <p:nvPr/>
        </p:nvSpPr>
        <p:spPr>
          <a:xfrm>
            <a:off x="4095750" y="1619250"/>
            <a:ext cx="7620000" cy="4333800"/>
          </a:xfrm>
          <a:prstGeom prst="roundRect">
            <a:avLst>
              <a:gd fmla="val 2637" name="adj"/>
            </a:avLst>
          </a:prstGeom>
          <a:solidFill>
            <a:srgbClr val="FFFFFF"/>
          </a:solidFill>
          <a:ln cap="flat" cmpd="sng" w="1905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48"/>
          <p:cNvSpPr/>
          <p:nvPr/>
        </p:nvSpPr>
        <p:spPr>
          <a:xfrm>
            <a:off x="4095750" y="1619250"/>
            <a:ext cx="7620000" cy="428700"/>
          </a:xfrm>
          <a:custGeom>
            <a:rect b="b" l="l" r="r" t="t"/>
            <a:pathLst>
              <a:path extrusionOk="0" h="120000" w="120000">
                <a:moveTo>
                  <a:pt x="0" y="32000"/>
                </a:moveTo>
                <a:cubicBezTo>
                  <a:pt x="0" y="14327"/>
                  <a:pt x="806" y="0"/>
                  <a:pt x="1800" y="0"/>
                </a:cubicBezTo>
                <a:lnTo>
                  <a:pt x="118200" y="0"/>
                </a:lnTo>
                <a:cubicBezTo>
                  <a:pt x="119194" y="0"/>
                  <a:pt x="120000" y="14327"/>
                  <a:pt x="120000" y="32000"/>
                </a:cubicBez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5624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48"/>
          <p:cNvSpPr/>
          <p:nvPr/>
        </p:nvSpPr>
        <p:spPr>
          <a:xfrm>
            <a:off x="4105275" y="3333750"/>
            <a:ext cx="7601100" cy="1285800"/>
          </a:xfrm>
          <a:prstGeom prst="rect">
            <a:avLst/>
          </a:prstGeom>
          <a:solidFill>
            <a:srgbClr val="E6F4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2" name="Google Shape;1142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1738" y="2047875"/>
            <a:ext cx="9600" cy="390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948738" y="2047875"/>
            <a:ext cx="9600" cy="3905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4" name="Google Shape;1144;p48"/>
          <p:cNvCxnSpPr/>
          <p:nvPr/>
        </p:nvCxnSpPr>
        <p:spPr>
          <a:xfrm>
            <a:off x="4095750" y="2047875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14300">
            <a:solidFill>
              <a:srgbClr val="43B6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5" name="Google Shape;1145;p48"/>
          <p:cNvCxnSpPr/>
          <p:nvPr/>
        </p:nvCxnSpPr>
        <p:spPr>
          <a:xfrm>
            <a:off x="4095750" y="3333750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6" name="Google Shape;1146;p48"/>
          <p:cNvCxnSpPr/>
          <p:nvPr/>
        </p:nvCxnSpPr>
        <p:spPr>
          <a:xfrm>
            <a:off x="4095750" y="4619625"/>
            <a:ext cx="76200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7" name="Google Shape;1147;p48"/>
          <p:cNvSpPr txBox="1"/>
          <p:nvPr/>
        </p:nvSpPr>
        <p:spPr>
          <a:xfrm>
            <a:off x="4286250" y="1619250"/>
            <a:ext cx="1809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MODULE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48"/>
          <p:cNvSpPr txBox="1"/>
          <p:nvPr/>
        </p:nvSpPr>
        <p:spPr>
          <a:xfrm>
            <a:off x="6477000" y="1619250"/>
            <a:ext cx="2286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TESTBENCH REPORT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48"/>
          <p:cNvSpPr txBox="1"/>
          <p:nvPr/>
        </p:nvSpPr>
        <p:spPr>
          <a:xfrm>
            <a:off x="9144000" y="1619250"/>
            <a:ext cx="2381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RTL STANDALONE TARGET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48"/>
          <p:cNvSpPr txBox="1"/>
          <p:nvPr/>
        </p:nvSpPr>
        <p:spPr>
          <a:xfrm>
            <a:off x="4286250" y="2047875"/>
            <a:ext cx="1809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axi_register_bank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51" name="Google Shape;1151;p48"/>
          <p:cNvGraphicFramePr/>
          <p:nvPr/>
        </p:nvGraphicFramePr>
        <p:xfrm>
          <a:off x="6477000" y="2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{13F48517-7848-405E-B573-682A14E346C8}</a:tableStyleId>
              </a:tblPr>
              <a:tblGrid>
                <a:gridCol w="1143000"/>
                <a:gridCol w="1143000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98.46%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91.30%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30.93%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1152" name="Google Shape;1152;p48"/>
          <p:cNvGraphicFramePr/>
          <p:nvPr/>
        </p:nvGraphicFramePr>
        <p:xfrm>
          <a:off x="9144000" y="20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{13F48517-7848-405E-B573-682A14E346C8}</a:tableStyleId>
              </a:tblPr>
              <a:tblGrid>
                <a:gridCol w="1190625"/>
                <a:gridCol w="1190625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44.73%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sp>
        <p:nvSpPr>
          <p:cNvPr id="1153" name="Google Shape;1153;p48"/>
          <p:cNvSpPr txBox="1"/>
          <p:nvPr/>
        </p:nvSpPr>
        <p:spPr>
          <a:xfrm>
            <a:off x="4286250" y="3333750"/>
            <a:ext cx="18096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axi4lite_slave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54" name="Google Shape;1154;p48"/>
          <p:cNvGraphicFramePr/>
          <p:nvPr/>
        </p:nvGraphicFramePr>
        <p:xfrm>
          <a:off x="6477000" y="33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{13F48517-7848-405E-B573-682A14E346C8}</a:tableStyleId>
              </a:tblPr>
              <a:tblGrid>
                <a:gridCol w="1143000"/>
                <a:gridCol w="1143000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98.61%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90.48%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15.30%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1155" name="Google Shape;1155;p48"/>
          <p:cNvGraphicFramePr/>
          <p:nvPr/>
        </p:nvGraphicFramePr>
        <p:xfrm>
          <a:off x="9144000" y="3333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{13F48517-7848-405E-B573-682A14E346C8}</a:tableStyleId>
              </a:tblPr>
              <a:tblGrid>
                <a:gridCol w="1190625"/>
                <a:gridCol w="1190625"/>
              </a:tblGrid>
              <a:tr h="642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777777"/>
                          </a:solidFill>
                        </a:rPr>
                        <a:t>0%</a:t>
                      </a:r>
                      <a:endParaRPr b="1" sz="1400">
                        <a:solidFill>
                          <a:srgbClr val="777777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15.69%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sp>
        <p:nvSpPr>
          <p:cNvPr id="1156" name="Google Shape;1156;p48"/>
          <p:cNvSpPr txBox="1"/>
          <p:nvPr/>
        </p:nvSpPr>
        <p:spPr>
          <a:xfrm>
            <a:off x="4286250" y="4619625"/>
            <a:ext cx="1809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rPr>
              <a:t>avalon_axi4lite_bridge</a:t>
            </a:r>
            <a:endParaRPr b="1" sz="1250">
              <a:solidFill>
                <a:srgbClr val="05624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57" name="Google Shape;1157;p48"/>
          <p:cNvGraphicFramePr/>
          <p:nvPr/>
        </p:nvGraphicFramePr>
        <p:xfrm>
          <a:off x="6477000" y="461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{13F48517-7848-405E-B573-682A14E346C8}</a:tableStyleId>
              </a:tblPr>
              <a:tblGrid>
                <a:gridCol w="1143000"/>
                <a:gridCol w="1143000"/>
              </a:tblGrid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98.75%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5624A"/>
                          </a:solidFill>
                        </a:rPr>
                        <a:t>92.86%</a:t>
                      </a:r>
                      <a:endParaRPr b="1" sz="1400">
                        <a:solidFill>
                          <a:srgbClr val="05624A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52.38%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20.73%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aphicFrame>
        <p:nvGraphicFramePr>
          <p:cNvPr id="1158" name="Google Shape;1158;p48"/>
          <p:cNvGraphicFramePr/>
          <p:nvPr/>
        </p:nvGraphicFramePr>
        <p:xfrm>
          <a:off x="9144000" y="461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{13F48517-7848-405E-B573-682A14E346C8}</a:tableStyleId>
              </a:tblPr>
              <a:tblGrid>
                <a:gridCol w="1190625"/>
                <a:gridCol w="1190625"/>
              </a:tblGrid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Statement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Branch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</a:tr>
              <a:tr h="66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Condition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43B692"/>
                          </a:solidFill>
                        </a:rPr>
                        <a:t>100%</a:t>
                      </a:r>
                      <a:endParaRPr b="1" sz="1400">
                        <a:solidFill>
                          <a:srgbClr val="43B692"/>
                        </a:solidFill>
                      </a:endParaRPr>
                    </a:p>
                  </a:txBody>
                  <a:tcPr marT="47625" marB="47625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50">
                          <a:solidFill>
                            <a:srgbClr val="888888"/>
                          </a:solidFill>
                        </a:rPr>
                        <a:t>Toggle</a:t>
                      </a:r>
                      <a:endParaRPr b="1" sz="950">
                        <a:solidFill>
                          <a:srgbClr val="888888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7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400">
                          <a:solidFill>
                            <a:srgbClr val="000000"/>
                          </a:solidFill>
                        </a:rPr>
                        <a:t>29.92%</a:t>
                      </a:r>
                      <a:endParaRPr b="1" sz="1400">
                        <a:solidFill>
                          <a:srgbClr val="000000"/>
                        </a:solidFill>
                      </a:endParaRPr>
                    </a:p>
                  </a:txBody>
                  <a:tcPr marT="47625" marB="47625" marR="0" marL="0"/>
                </a:tc>
              </a:tr>
            </a:tbl>
          </a:graphicData>
        </a:graphic>
      </p:graphicFrame>
      <p:grpSp>
        <p:nvGrpSpPr>
          <p:cNvPr id="1159" name="Google Shape;1159;p48"/>
          <p:cNvGrpSpPr/>
          <p:nvPr/>
        </p:nvGrpSpPr>
        <p:grpSpPr>
          <a:xfrm>
            <a:off x="0" y="1425"/>
            <a:ext cx="12194400" cy="6863700"/>
            <a:chOff x="0" y="1425"/>
            <a:chExt cx="12194400" cy="6863700"/>
          </a:xfrm>
        </p:grpSpPr>
        <p:sp>
          <p:nvSpPr>
            <p:cNvPr id="1160" name="Google Shape;1160;p48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1" name="Google Shape;1161;p48"/>
            <p:cNvGrpSpPr/>
            <p:nvPr/>
          </p:nvGrpSpPr>
          <p:grpSpPr>
            <a:xfrm>
              <a:off x="11503192" y="6266643"/>
              <a:ext cx="547839" cy="552553"/>
              <a:chOff x="11077575" y="194161"/>
              <a:chExt cx="488100" cy="492300"/>
            </a:xfrm>
          </p:grpSpPr>
          <p:pic>
            <p:nvPicPr>
              <p:cNvPr id="1162" name="Google Shape;1162;p48"/>
              <p:cNvPicPr preferRelativeResize="0"/>
              <p:nvPr/>
            </p:nvPicPr>
            <p:blipFill rotWithShape="1">
              <a:blip r:embed="rId8">
                <a:alphaModFix/>
              </a:blip>
              <a:srcRect b="10913" l="0" r="10905" t="0"/>
              <a:stretch/>
            </p:blipFill>
            <p:spPr>
              <a:xfrm>
                <a:off x="11077575" y="194161"/>
                <a:ext cx="488100" cy="4923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163" name="Google Shape;1163;p48"/>
              <p:cNvPicPr preferRelativeResize="0"/>
              <p:nvPr/>
            </p:nvPicPr>
            <p:blipFill rotWithShape="1">
              <a:blip r:embed="rId9">
                <a:alphaModFix/>
              </a:blip>
              <a:srcRect b="10955" l="0" r="10905" t="53"/>
              <a:stretch/>
            </p:blipFill>
            <p:spPr>
              <a:xfrm>
                <a:off x="11209115" y="329943"/>
                <a:ext cx="225000" cy="220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164" name="Google Shape;1164;p48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5" name="Google Shape;1165;p48"/>
          <p:cNvSpPr txBox="1"/>
          <p:nvPr/>
        </p:nvSpPr>
        <p:spPr>
          <a:xfrm>
            <a:off x="476250" y="6356347"/>
            <a:ext cx="4286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Vivado Simulator Coverage Report 2023.1, 17/07/2026</a:t>
            </a:r>
            <a:endParaRPr b="0" sz="11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0" name="Google Shape;1170;p49"/>
          <p:cNvGrpSpPr/>
          <p:nvPr/>
        </p:nvGrpSpPr>
        <p:grpSpPr>
          <a:xfrm>
            <a:off x="523875" y="904875"/>
            <a:ext cx="11144400" cy="857400"/>
            <a:chOff x="0" y="0"/>
            <a:chExt cx="11144400" cy="857400"/>
          </a:xfrm>
        </p:grpSpPr>
        <p:sp>
          <p:nvSpPr>
            <p:cNvPr id="1171" name="Google Shape;1171;p49"/>
            <p:cNvSpPr/>
            <p:nvPr/>
          </p:nvSpPr>
          <p:spPr>
            <a:xfrm>
              <a:off x="0" y="0"/>
              <a:ext cx="111444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49"/>
            <p:cNvSpPr txBox="1"/>
            <p:nvPr/>
          </p:nvSpPr>
          <p:spPr>
            <a:xfrm>
              <a:off x="0" y="0"/>
              <a:ext cx="1114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2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FPGA Implementation &amp; Platform Integration</a:t>
              </a:r>
              <a:endParaRPr b="1" i="0" sz="2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Cyclone IV E platform target and Qsys system design integration</a:t>
              </a:r>
              <a:endParaRPr b="1" i="0" sz="16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73" name="Google Shape;1173;p49"/>
          <p:cNvSpPr/>
          <p:nvPr>
            <p:ph idx="2" type="pic"/>
          </p:nvPr>
        </p:nvSpPr>
        <p:spPr>
          <a:xfrm>
            <a:off x="-4762" y="0"/>
            <a:ext cx="12196800" cy="633300"/>
          </a:xfrm>
          <a:prstGeom prst="rect">
            <a:avLst/>
          </a:prstGeom>
          <a:noFill/>
          <a:ln>
            <a:noFill/>
          </a:ln>
        </p:spPr>
      </p:sp>
      <p:sp>
        <p:nvSpPr>
          <p:cNvPr id="1174" name="Google Shape;1174;p49"/>
          <p:cNvSpPr/>
          <p:nvPr/>
        </p:nvSpPr>
        <p:spPr>
          <a:xfrm flipH="1" rot="-5400000">
            <a:off x="5780206" y="-5781456"/>
            <a:ext cx="631500" cy="1219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49"/>
          <p:cNvSpPr txBox="1"/>
          <p:nvPr/>
        </p:nvSpPr>
        <p:spPr>
          <a:xfrm>
            <a:off x="240281" y="141423"/>
            <a:ext cx="291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KỸ THUẬT MÁY TÍNH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49"/>
          <p:cNvSpPr/>
          <p:nvPr>
            <p:ph idx="3" type="pic"/>
          </p:nvPr>
        </p:nvSpPr>
        <p:spPr>
          <a:xfrm>
            <a:off x="4477020" y="302202"/>
            <a:ext cx="3238090" cy="644201"/>
          </a:xfrm>
          <a:prstGeom prst="rect">
            <a:avLst/>
          </a:prstGeom>
          <a:noFill/>
          <a:ln>
            <a:noFill/>
          </a:ln>
        </p:spPr>
      </p:sp>
      <p:sp>
        <p:nvSpPr>
          <p:cNvPr id="1177" name="Google Shape;1177;p49"/>
          <p:cNvSpPr/>
          <p:nvPr/>
        </p:nvSpPr>
        <p:spPr>
          <a:xfrm>
            <a:off x="4538304" y="357311"/>
            <a:ext cx="3115283" cy="534476"/>
          </a:xfrm>
          <a:prstGeom prst="roundRect">
            <a:avLst>
              <a:gd fmla="val 3959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49"/>
          <p:cNvSpPr/>
          <p:nvPr>
            <p:ph idx="4" type="pic"/>
          </p:nvPr>
        </p:nvSpPr>
        <p:spPr>
          <a:xfrm>
            <a:off x="5658917" y="263617"/>
            <a:ext cx="871660" cy="721088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179" name="Google Shape;1179;p49"/>
          <p:cNvGrpSpPr/>
          <p:nvPr/>
        </p:nvGrpSpPr>
        <p:grpSpPr>
          <a:xfrm>
            <a:off x="523875" y="1857375"/>
            <a:ext cx="2571900" cy="4000500"/>
            <a:chOff x="0" y="0"/>
            <a:chExt cx="2571900" cy="4000500"/>
          </a:xfrm>
        </p:grpSpPr>
        <p:sp>
          <p:nvSpPr>
            <p:cNvPr id="1180" name="Google Shape;1180;p49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49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49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FPGA Platform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83" name="Google Shape;1183;p49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84" name="Google Shape;1184;p49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PLATFORM FAMILY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Cyclone IV E</a:t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TARGET ROLE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Low-power, low-cost system design and hardware verification prototyping.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SUPPORTED TOOLCHAIN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Quartus Prime design software integration.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85" name="Google Shape;1185;p49"/>
          <p:cNvGrpSpPr/>
          <p:nvPr/>
        </p:nvGrpSpPr>
        <p:grpSpPr>
          <a:xfrm>
            <a:off x="3381375" y="1857375"/>
            <a:ext cx="2571900" cy="4000500"/>
            <a:chOff x="0" y="0"/>
            <a:chExt cx="2571900" cy="4000500"/>
          </a:xfrm>
        </p:grpSpPr>
        <p:sp>
          <p:nvSpPr>
            <p:cNvPr id="1186" name="Google Shape;1186;p49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49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49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 Device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89" name="Google Shape;1189;p49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0" name="Google Shape;1190;p49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DEVICE PART NUMBER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EP4CE22F17C6</a:t>
              </a:r>
              <a:endParaRPr b="1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HARDWARE RESOURCES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22,320 Logic Elements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154 M9K Memory Blocks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75 Embedded Multipliers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153 Max User I/O Pins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91" name="Google Shape;1191;p49"/>
          <p:cNvGrpSpPr/>
          <p:nvPr/>
        </p:nvGrpSpPr>
        <p:grpSpPr>
          <a:xfrm>
            <a:off x="6238875" y="1857375"/>
            <a:ext cx="2571900" cy="4000500"/>
            <a:chOff x="0" y="0"/>
            <a:chExt cx="2571900" cy="4000500"/>
          </a:xfrm>
        </p:grpSpPr>
        <p:sp>
          <p:nvSpPr>
            <p:cNvPr id="1192" name="Google Shape;1192;p49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49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49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Top Entity &amp; Clock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95" name="Google Shape;1195;p49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6" name="Google Shape;1196;p49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DESIGN TOP ENTITY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AXI_LITE_RESEARCH</a:t>
              </a:r>
              <a:endParaRPr b="1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SYSTEM CLOCK CONFIG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Signal: </a:t>
              </a:r>
              <a:r>
                <a:rPr b="1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CLOCK_50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FPGA Pin: </a:t>
              </a:r>
              <a:r>
                <a:rPr b="1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Pin R8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Frequency: 50 MHz input reference</a:t>
              </a:r>
              <a:endParaRPr b="0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97" name="Google Shape;1197;p49"/>
          <p:cNvGrpSpPr/>
          <p:nvPr/>
        </p:nvGrpSpPr>
        <p:grpSpPr>
          <a:xfrm>
            <a:off x="9096375" y="1857375"/>
            <a:ext cx="2571900" cy="4000500"/>
            <a:chOff x="0" y="0"/>
            <a:chExt cx="2571900" cy="4000500"/>
          </a:xfrm>
        </p:grpSpPr>
        <p:sp>
          <p:nvSpPr>
            <p:cNvPr id="1198" name="Google Shape;1198;p49"/>
            <p:cNvSpPr/>
            <p:nvPr/>
          </p:nvSpPr>
          <p:spPr>
            <a:xfrm>
              <a:off x="0" y="0"/>
              <a:ext cx="2571900" cy="40005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49"/>
            <p:cNvSpPr/>
            <p:nvPr/>
          </p:nvSpPr>
          <p:spPr>
            <a:xfrm>
              <a:off x="190500" y="238125"/>
              <a:ext cx="571500" cy="47700"/>
            </a:xfrm>
            <a:prstGeom prst="roundRect">
              <a:avLst>
                <a:gd fmla="val 50000" name="adj"/>
              </a:avLst>
            </a:prstGeom>
            <a:solidFill>
              <a:srgbClr val="0562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9"/>
            <p:cNvSpPr txBox="1"/>
            <p:nvPr/>
          </p:nvSpPr>
          <p:spPr>
            <a:xfrm>
              <a:off x="190500" y="428625"/>
              <a:ext cx="219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IP &amp; Integration</a:t>
              </a:r>
              <a:endParaRPr b="1" sz="18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01" name="Google Shape;1201;p49"/>
            <p:cNvCxnSpPr/>
            <p:nvPr/>
          </p:nvCxnSpPr>
          <p:spPr>
            <a:xfrm>
              <a:off x="190500" y="1000125"/>
              <a:ext cx="21909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2" name="Google Shape;1202;p49"/>
            <p:cNvSpPr txBox="1"/>
            <p:nvPr/>
          </p:nvSpPr>
          <p:spPr>
            <a:xfrm>
              <a:off x="190500" y="1143000"/>
              <a:ext cx="21909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IP PACKAGING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Platform Designer IP packaged via </a:t>
              </a: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ALU_AXI4_LITE_hw.tcl</a:t>
              </a: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incorporating all </a:t>
              </a: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RTL files</a:t>
              </a: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QSYS SYSTEM CONFIG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System generation configuration path:</a:t>
              </a:r>
              <a:endParaRPr b="0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quartus/system.qsys</a:t>
              </a:r>
              <a:endParaRPr b="1" sz="1100">
                <a:solidFill>
                  <a:srgbClr val="05624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3" name="Google Shape;1203;p49"/>
          <p:cNvSpPr/>
          <p:nvPr/>
        </p:nvSpPr>
        <p:spPr>
          <a:xfrm>
            <a:off x="0" y="1425"/>
            <a:ext cx="12194400" cy="6863700"/>
          </a:xfrm>
          <a:custGeom>
            <a:rect b="b" l="l" r="r" t="t"/>
            <a:pathLst>
              <a:path extrusionOk="0" h="120000" w="120000">
                <a:moveTo>
                  <a:pt x="0" y="115362"/>
                </a:moveTo>
                <a:cubicBezTo>
                  <a:pt x="0" y="117896"/>
                  <a:pt x="1156" y="119951"/>
                  <a:pt x="2583" y="119951"/>
                </a:cubicBezTo>
                <a:lnTo>
                  <a:pt x="117419" y="119951"/>
                </a:lnTo>
                <a:cubicBezTo>
                  <a:pt x="118843" y="119951"/>
                  <a:pt x="120000" y="117896"/>
                  <a:pt x="120000" y="115362"/>
                </a:cubicBezTo>
                <a:lnTo>
                  <a:pt x="120000" y="120000"/>
                </a:lnTo>
                <a:lnTo>
                  <a:pt x="0" y="120000"/>
                </a:lnTo>
                <a:close/>
                <a:moveTo>
                  <a:pt x="0" y="0"/>
                </a:moveTo>
                <a:lnTo>
                  <a:pt x="120000" y="0"/>
                </a:lnTo>
                <a:lnTo>
                  <a:pt x="120000" y="4638"/>
                </a:lnTo>
                <a:cubicBezTo>
                  <a:pt x="120000" y="2104"/>
                  <a:pt x="118843" y="49"/>
                  <a:pt x="117419" y="49"/>
                </a:cubicBezTo>
                <a:lnTo>
                  <a:pt x="2583" y="49"/>
                </a:lnTo>
                <a:cubicBezTo>
                  <a:pt x="1156" y="49"/>
                  <a:pt x="0" y="2104"/>
                  <a:pt x="0" y="4638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49"/>
          <p:cNvSpPr/>
          <p:nvPr>
            <p:ph idx="5" type="pic"/>
          </p:nvPr>
        </p:nvSpPr>
        <p:spPr>
          <a:xfrm>
            <a:off x="11503192" y="6266643"/>
            <a:ext cx="547839" cy="552553"/>
          </a:xfrm>
          <a:prstGeom prst="rect">
            <a:avLst/>
          </a:prstGeom>
          <a:noFill/>
          <a:ln>
            <a:noFill/>
          </a:ln>
        </p:spPr>
      </p:sp>
      <p:sp>
        <p:nvSpPr>
          <p:cNvPr id="1205" name="Google Shape;1205;p49"/>
          <p:cNvSpPr/>
          <p:nvPr>
            <p:ph idx="6" type="pic"/>
          </p:nvPr>
        </p:nvSpPr>
        <p:spPr>
          <a:xfrm>
            <a:off x="11650831" y="6419043"/>
            <a:ext cx="252538" cy="247487"/>
          </a:xfrm>
          <a:prstGeom prst="rect">
            <a:avLst/>
          </a:prstGeom>
          <a:noFill/>
          <a:ln>
            <a:noFill/>
          </a:ln>
        </p:spPr>
      </p:sp>
      <p:sp>
        <p:nvSpPr>
          <p:cNvPr id="1206" name="Google Shape;1206;p49"/>
          <p:cNvSpPr txBox="1"/>
          <p:nvPr/>
        </p:nvSpPr>
        <p:spPr>
          <a:xfrm>
            <a:off x="4038600" y="6356347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Copyrights 2026 CE-UIT. All Rights Reserved.</a:t>
            </a:r>
            <a:endParaRPr b="0" sz="120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7" name="Google Shape;1207;p49"/>
          <p:cNvGrpSpPr/>
          <p:nvPr/>
        </p:nvGrpSpPr>
        <p:grpSpPr>
          <a:xfrm>
            <a:off x="-4762" y="-6"/>
            <a:ext cx="12197919" cy="946406"/>
            <a:chOff x="-4762" y="-6"/>
            <a:chExt cx="12197919" cy="946406"/>
          </a:xfrm>
        </p:grpSpPr>
        <p:pic>
          <p:nvPicPr>
            <p:cNvPr id="1208" name="Google Shape;1208;p49"/>
            <p:cNvPicPr preferRelativeResize="0"/>
            <p:nvPr/>
          </p:nvPicPr>
          <p:blipFill rotWithShape="1">
            <a:blip r:embed="rId3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9" name="Google Shape;1209;p49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10" name="Google Shape;1210;p49"/>
            <p:cNvGrpSpPr/>
            <p:nvPr/>
          </p:nvGrpSpPr>
          <p:grpSpPr>
            <a:xfrm>
              <a:off x="240281" y="141423"/>
              <a:ext cx="2916000" cy="338700"/>
              <a:chOff x="0" y="0"/>
              <a:chExt cx="2916000" cy="338700"/>
            </a:xfrm>
          </p:grpSpPr>
          <p:sp>
            <p:nvSpPr>
              <p:cNvPr id="1211" name="Google Shape;1211;p49"/>
              <p:cNvSpPr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49"/>
              <p:cNvSpPr txBox="1"/>
              <p:nvPr/>
            </p:nvSpPr>
            <p:spPr>
              <a:xfrm>
                <a:off x="0" y="0"/>
                <a:ext cx="29160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00" spcFirstLastPara="1" rIns="91400" wrap="square" tIns="457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6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KHOA KỸ THUẬT MÁY TÍNH</a:t>
                </a:r>
                <a:endParaRPr b="1" i="0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13" name="Google Shape;1213;p49"/>
            <p:cNvGrpSpPr/>
            <p:nvPr/>
          </p:nvGrpSpPr>
          <p:grpSpPr>
            <a:xfrm>
              <a:off x="4477007" y="263617"/>
              <a:ext cx="3238079" cy="682784"/>
              <a:chOff x="4276725" y="109041"/>
              <a:chExt cx="3638700" cy="767259"/>
            </a:xfrm>
          </p:grpSpPr>
          <p:pic>
            <p:nvPicPr>
              <p:cNvPr id="1214" name="Google Shape;1214;p49"/>
              <p:cNvPicPr preferRelativeResize="0"/>
              <p:nvPr/>
            </p:nvPicPr>
            <p:blipFill rotWithShape="1">
              <a:blip r:embed="rId4">
                <a:alphaModFix/>
              </a:blip>
              <a:srcRect b="-12372" l="0" r="-12372" t="0"/>
              <a:stretch/>
            </p:blipFill>
            <p:spPr>
              <a:xfrm>
                <a:off x="4276725" y="152400"/>
                <a:ext cx="3638700" cy="723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5" name="Google Shape;1215;p49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16" name="Google Shape;1216;p49"/>
              <p:cNvPicPr preferRelativeResize="0"/>
              <p:nvPr/>
            </p:nvPicPr>
            <p:blipFill rotWithShape="1">
              <a:blip r:embed="rId5">
                <a:alphaModFix/>
              </a:blip>
              <a:srcRect b="-12260" l="0" r="-12372" t="90"/>
              <a:stretch/>
            </p:blipFill>
            <p:spPr>
              <a:xfrm>
                <a:off x="5604843" y="109041"/>
                <a:ext cx="871800" cy="720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50" title="Untitled Diagram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300" y="194525"/>
            <a:ext cx="9956326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50"/>
          <p:cNvSpPr txBox="1"/>
          <p:nvPr/>
        </p:nvSpPr>
        <p:spPr>
          <a:xfrm>
            <a:off x="10121800" y="60800"/>
            <a:ext cx="20154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ASM&amp; Result</a:t>
            </a:r>
            <a:endParaRPr b="1" sz="24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3" name="Google Shape;122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5100" y="1474500"/>
            <a:ext cx="5286975" cy="165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8" name="Google Shape;1228;p51"/>
          <p:cNvGrpSpPr/>
          <p:nvPr/>
        </p:nvGrpSpPr>
        <p:grpSpPr>
          <a:xfrm>
            <a:off x="-4762" y="-6"/>
            <a:ext cx="12197919" cy="891792"/>
            <a:chOff x="-4762" y="-6"/>
            <a:chExt cx="12197919" cy="891792"/>
          </a:xfrm>
        </p:grpSpPr>
        <p:pic>
          <p:nvPicPr>
            <p:cNvPr id="1229" name="Google Shape;1229;p51"/>
            <p:cNvPicPr preferRelativeResize="0"/>
            <p:nvPr/>
          </p:nvPicPr>
          <p:blipFill rotWithShape="1">
            <a:blip r:embed="rId4">
              <a:alphaModFix/>
            </a:blip>
            <a:srcRect b="10" l="0" r="0" t="10"/>
            <a:stretch/>
          </p:blipFill>
          <p:spPr>
            <a:xfrm>
              <a:off x="-4762" y="0"/>
              <a:ext cx="12196800" cy="6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51"/>
            <p:cNvSpPr/>
            <p:nvPr/>
          </p:nvSpPr>
          <p:spPr>
            <a:xfrm flipH="1" rot="-5400000">
              <a:off x="5780206" y="-5781456"/>
              <a:ext cx="631500" cy="1219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51"/>
            <p:cNvSpPr txBox="1"/>
            <p:nvPr/>
          </p:nvSpPr>
          <p:spPr>
            <a:xfrm>
              <a:off x="240281" y="141423"/>
              <a:ext cx="2916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KHOA KỸ THUẬT MÁY TÍNH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32" name="Google Shape;1232;p51"/>
            <p:cNvGrpSpPr/>
            <p:nvPr/>
          </p:nvGrpSpPr>
          <p:grpSpPr>
            <a:xfrm>
              <a:off x="4477020" y="263617"/>
              <a:ext cx="3176567" cy="628170"/>
              <a:chOff x="4276725" y="109041"/>
              <a:chExt cx="3569566" cy="705886"/>
            </a:xfrm>
          </p:grpSpPr>
          <p:pic>
            <p:nvPicPr>
              <p:cNvPr id="1233" name="Google Shape;1233;p5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4276725" y="152400"/>
                <a:ext cx="3238200" cy="644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4" name="Google Shape;1234;p51"/>
              <p:cNvSpPr/>
              <p:nvPr/>
            </p:nvSpPr>
            <p:spPr>
              <a:xfrm>
                <a:off x="4345591" y="214327"/>
                <a:ext cx="3500700" cy="600600"/>
              </a:xfrm>
              <a:prstGeom prst="roundRect">
                <a:avLst>
                  <a:gd fmla="val 39596" name="adj"/>
                </a:avLst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235" name="Google Shape;1235;p51"/>
              <p:cNvPicPr preferRelativeResize="0"/>
              <p:nvPr/>
            </p:nvPicPr>
            <p:blipFill rotWithShape="1">
              <a:blip r:embed="rId6">
                <a:alphaModFix/>
              </a:blip>
              <a:srcRect b="-80" l="0" r="10" t="80"/>
              <a:stretch/>
            </p:blipFill>
            <p:spPr>
              <a:xfrm>
                <a:off x="5604843" y="109041"/>
                <a:ext cx="775800" cy="6426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236" name="Google Shape;1236;p51"/>
          <p:cNvGrpSpPr/>
          <p:nvPr/>
        </p:nvGrpSpPr>
        <p:grpSpPr>
          <a:xfrm>
            <a:off x="0" y="1425"/>
            <a:ext cx="12194400" cy="6885450"/>
            <a:chOff x="0" y="1425"/>
            <a:chExt cx="12194400" cy="6885450"/>
          </a:xfrm>
        </p:grpSpPr>
        <p:sp>
          <p:nvSpPr>
            <p:cNvPr id="1237" name="Google Shape;1237;p51"/>
            <p:cNvSpPr/>
            <p:nvPr/>
          </p:nvSpPr>
          <p:spPr>
            <a:xfrm>
              <a:off x="0" y="1425"/>
              <a:ext cx="12194400" cy="6863700"/>
            </a:xfrm>
            <a:custGeom>
              <a:rect b="b" l="l" r="r" t="t"/>
              <a:pathLst>
                <a:path extrusionOk="0" h="120000" w="120000">
                  <a:moveTo>
                    <a:pt x="0" y="115362"/>
                  </a:moveTo>
                  <a:cubicBezTo>
                    <a:pt x="0" y="117896"/>
                    <a:pt x="1156" y="119951"/>
                    <a:pt x="2583" y="119951"/>
                  </a:cubicBezTo>
                  <a:lnTo>
                    <a:pt x="117419" y="119951"/>
                  </a:lnTo>
                  <a:cubicBezTo>
                    <a:pt x="118843" y="119951"/>
                    <a:pt x="120000" y="117896"/>
                    <a:pt x="120000" y="115362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  <a:moveTo>
                    <a:pt x="0" y="0"/>
                  </a:moveTo>
                  <a:lnTo>
                    <a:pt x="120000" y="0"/>
                  </a:lnTo>
                  <a:lnTo>
                    <a:pt x="120000" y="4638"/>
                  </a:lnTo>
                  <a:cubicBezTo>
                    <a:pt x="120000" y="2104"/>
                    <a:pt x="118843" y="49"/>
                    <a:pt x="117419" y="49"/>
                  </a:cubicBezTo>
                  <a:lnTo>
                    <a:pt x="2583" y="49"/>
                  </a:lnTo>
                  <a:cubicBezTo>
                    <a:pt x="1156" y="49"/>
                    <a:pt x="0" y="2104"/>
                    <a:pt x="0" y="463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38" name="Google Shape;1238;p51"/>
            <p:cNvGrpSpPr/>
            <p:nvPr/>
          </p:nvGrpSpPr>
          <p:grpSpPr>
            <a:xfrm>
              <a:off x="11503192" y="6266643"/>
              <a:ext cx="614845" cy="620233"/>
              <a:chOff x="11077575" y="194161"/>
              <a:chExt cx="547800" cy="552600"/>
            </a:xfrm>
          </p:grpSpPr>
          <p:pic>
            <p:nvPicPr>
              <p:cNvPr id="1239" name="Google Shape;1239;p51"/>
              <p:cNvPicPr preferRelativeResize="0"/>
              <p:nvPr/>
            </p:nvPicPr>
            <p:blipFill rotWithShape="1">
              <a:blip r:embed="rId7">
                <a:alphaModFix/>
              </a:blip>
              <a:srcRect b="10" l="0" r="0" t="0"/>
              <a:stretch/>
            </p:blipFill>
            <p:spPr>
              <a:xfrm>
                <a:off x="11077575" y="194161"/>
                <a:ext cx="547800" cy="5526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240" name="Google Shape;1240;p51"/>
              <p:cNvPicPr preferRelativeResize="0"/>
              <p:nvPr/>
            </p:nvPicPr>
            <p:blipFill rotWithShape="1">
              <a:blip r:embed="rId8">
                <a:alphaModFix/>
              </a:blip>
              <a:srcRect b="60" l="0" r="0" t="60"/>
              <a:stretch/>
            </p:blipFill>
            <p:spPr>
              <a:xfrm>
                <a:off x="11209115" y="329943"/>
                <a:ext cx="252600" cy="2475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241" name="Google Shape;1241;p51"/>
            <p:cNvSpPr txBox="1"/>
            <p:nvPr/>
          </p:nvSpPr>
          <p:spPr>
            <a:xfrm>
              <a:off x="4038600" y="6356347"/>
              <a:ext cx="4114800" cy="3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00" spcFirstLastPara="1" rIns="91400" wrap="square" tIns="457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Copyrights 2026 CE-UIT. All Rights Reserved.</a:t>
              </a:r>
              <a:endParaRPr b="0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2" name="Google Shape;1242;p51"/>
          <p:cNvSpPr txBox="1"/>
          <p:nvPr/>
        </p:nvSpPr>
        <p:spPr>
          <a:xfrm>
            <a:off x="476250" y="1047750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Future Outlook</a:t>
            </a:r>
            <a:endParaRPr b="1" sz="3000">
              <a:solidFill>
                <a:srgbClr val="05624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43" name="Google Shape;1243;p51"/>
          <p:cNvGrpSpPr/>
          <p:nvPr/>
        </p:nvGrpSpPr>
        <p:grpSpPr>
          <a:xfrm>
            <a:off x="476250" y="1857375"/>
            <a:ext cx="5334000" cy="4000500"/>
            <a:chOff x="0" y="0"/>
            <a:chExt cx="5334000" cy="4000500"/>
          </a:xfrm>
        </p:grpSpPr>
        <p:sp>
          <p:nvSpPr>
            <p:cNvPr id="1244" name="Google Shape;1244;p51"/>
            <p:cNvSpPr/>
            <p:nvPr/>
          </p:nvSpPr>
          <p:spPr>
            <a:xfrm>
              <a:off x="0" y="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51"/>
            <p:cNvSpPr txBox="1"/>
            <p:nvPr/>
          </p:nvSpPr>
          <p:spPr>
            <a:xfrm>
              <a:off x="285750" y="23812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Project Achievements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46" name="Google Shape;1246;p51"/>
            <p:cNvCxnSpPr/>
            <p:nvPr/>
          </p:nvCxnSpPr>
          <p:spPr>
            <a:xfrm>
              <a:off x="285750" y="714375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47" name="Google Shape;1247;p51"/>
            <p:cNvSpPr txBox="1"/>
            <p:nvPr/>
          </p:nvSpPr>
          <p:spPr>
            <a:xfrm>
              <a:off x="285750" y="904875"/>
              <a:ext cx="4762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3270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Successfully verified register behavior, AXI4-Lite compliance, and Avalon-to-AXI translation.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Robust testbenches uncovered boundary corner cases.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Standalone RTL blocks scored 100% in branch and statement coverage.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8" name="Google Shape;1248;p51"/>
            <p:cNvSpPr/>
            <p:nvPr/>
          </p:nvSpPr>
          <p:spPr>
            <a:xfrm>
              <a:off x="381000" y="3143250"/>
              <a:ext cx="571500" cy="571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762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49" name="Google Shape;1249;p5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42900" y="3105150"/>
              <a:ext cx="6477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0" name="Google Shape;1250;p51"/>
            <p:cNvSpPr txBox="1"/>
            <p:nvPr/>
          </p:nvSpPr>
          <p:spPr>
            <a:xfrm>
              <a:off x="381000" y="31432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100%</a:t>
              </a:r>
              <a:endParaRPr b="1" sz="13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1" name="Google Shape;1251;p51"/>
            <p:cNvSpPr txBox="1"/>
            <p:nvPr/>
          </p:nvSpPr>
          <p:spPr>
            <a:xfrm>
              <a:off x="1095375" y="3095625"/>
              <a:ext cx="39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RTL Coverage Achieved</a:t>
              </a:r>
              <a:endParaRPr b="1" sz="13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Branch &amp; statement standalone block results</a:t>
              </a:r>
              <a:endParaRPr b="0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2" name="Google Shape;1252;p51"/>
          <p:cNvGrpSpPr/>
          <p:nvPr/>
        </p:nvGrpSpPr>
        <p:grpSpPr>
          <a:xfrm>
            <a:off x="6381750" y="1857375"/>
            <a:ext cx="5334000" cy="4000500"/>
            <a:chOff x="0" y="0"/>
            <a:chExt cx="5334000" cy="4000500"/>
          </a:xfrm>
        </p:grpSpPr>
        <p:sp>
          <p:nvSpPr>
            <p:cNvPr id="1253" name="Google Shape;1253;p51"/>
            <p:cNvSpPr/>
            <p:nvPr/>
          </p:nvSpPr>
          <p:spPr>
            <a:xfrm>
              <a:off x="0" y="0"/>
              <a:ext cx="5334000" cy="4000500"/>
            </a:xfrm>
            <a:prstGeom prst="roundRect">
              <a:avLst>
                <a:gd fmla="val 2857" name="adj"/>
              </a:avLst>
            </a:prstGeom>
            <a:solidFill>
              <a:srgbClr val="FFFFFF"/>
            </a:solidFill>
            <a:ln cap="flat" cmpd="sng" w="23825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51"/>
            <p:cNvSpPr txBox="1"/>
            <p:nvPr/>
          </p:nvSpPr>
          <p:spPr>
            <a:xfrm>
              <a:off x="285750" y="238125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Future Enhancements</a:t>
              </a:r>
              <a:endParaRPr b="1" sz="20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55" name="Google Shape;1255;p51"/>
            <p:cNvCxnSpPr/>
            <p:nvPr/>
          </p:nvCxnSpPr>
          <p:spPr>
            <a:xfrm>
              <a:off x="285750" y="714375"/>
              <a:ext cx="4762500" cy="0"/>
            </a:xfrm>
            <a:prstGeom prst="straightConnector1">
              <a:avLst/>
            </a:prstGeom>
            <a:solidFill>
              <a:srgbClr val="FFFFFF"/>
            </a:solidFill>
            <a:ln cap="flat" cmpd="sng" w="14300">
              <a:solidFill>
                <a:srgbClr val="43B69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6" name="Google Shape;1256;p51"/>
            <p:cNvSpPr txBox="1"/>
            <p:nvPr/>
          </p:nvSpPr>
          <p:spPr>
            <a:xfrm>
              <a:off x="285750" y="904875"/>
              <a:ext cx="4762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5250" spcFirstLastPara="1" rIns="0" wrap="square" tIns="0">
              <a:noAutofit/>
            </a:bodyPr>
            <a:lstStyle/>
            <a:p>
              <a:pPr indent="-3270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 end-to-end transaction testing for </a:t>
              </a:r>
              <a:r>
                <a:rPr b="1" lang="en" sz="1350">
                  <a:solidFill>
                    <a:srgbClr val="05624A"/>
                  </a:solidFill>
                  <a:latin typeface="Arial"/>
                  <a:ea typeface="Arial"/>
                  <a:cs typeface="Arial"/>
                  <a:sym typeface="Arial"/>
                </a:rPr>
                <a:t>avalon_axi4lite_alu</a:t>
              </a: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standalone ALU core coverage.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Develop functional coverage (covergroups) for transitions.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32702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550"/>
                <a:buFont typeface="Times New Roman"/>
                <a:buChar char="●"/>
              </a:pPr>
              <a:r>
                <a:rPr b="0" lang="en" sz="155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Assert AXI handshake stability.</a:t>
              </a:r>
              <a:endParaRPr b="0" sz="15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7" name="Google Shape;1257;p51"/>
            <p:cNvSpPr/>
            <p:nvPr/>
          </p:nvSpPr>
          <p:spPr>
            <a:xfrm>
              <a:off x="381000" y="3143250"/>
              <a:ext cx="571500" cy="571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cap="flat" cmpd="sng" w="76200">
              <a:solidFill>
                <a:srgbClr val="E6F4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58" name="Google Shape;1258;p5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42900" y="3105150"/>
              <a:ext cx="647700" cy="64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51"/>
            <p:cNvSpPr txBox="1"/>
            <p:nvPr/>
          </p:nvSpPr>
          <p:spPr>
            <a:xfrm>
              <a:off x="381000" y="31432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04</a:t>
              </a:r>
              <a:endParaRPr b="1" sz="130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60" name="Google Shape;1260;p51"/>
            <p:cNvSpPr txBox="1"/>
            <p:nvPr/>
          </p:nvSpPr>
          <p:spPr>
            <a:xfrm>
              <a:off x="1095375" y="3095625"/>
              <a:ext cx="3952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5624A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Key Objectives Defined</a:t>
              </a:r>
              <a:endParaRPr b="1" sz="1350">
                <a:solidFill>
                  <a:srgbClr val="05624A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Next phase verification roadmap</a:t>
              </a:r>
              <a:endParaRPr b="0" sz="11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user-V4d3BxkaQVnDD1xcuyKgPHmK/aaf26c3248f94b2bb107d2d639d3b92f/mnt/data/uit_unzip/ppt/media/image2.png" id="1266" name="Google Shape;1266;p52"/>
          <p:cNvPicPr preferRelativeResize="0"/>
          <p:nvPr/>
        </p:nvPicPr>
        <p:blipFill rotWithShape="1">
          <a:blip r:embed="rId3">
            <a:alphaModFix amt="90000"/>
          </a:blip>
          <a:srcRect b="0" l="0" r="0" t="0"/>
          <a:stretch/>
        </p:blipFill>
        <p:spPr>
          <a:xfrm>
            <a:off x="10972800" y="512064"/>
            <a:ext cx="457200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67" name="Google Shape;1267;p52"/>
          <p:cNvSpPr/>
          <p:nvPr/>
        </p:nvSpPr>
        <p:spPr>
          <a:xfrm>
            <a:off x="658368" y="2560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5AA5"/>
              </a:buClr>
              <a:buSzPts val="1400"/>
              <a:buFont typeface="Times New Roman"/>
              <a:buNone/>
            </a:pPr>
            <a:r>
              <a:rPr b="1" lang="en" sz="1400">
                <a:solidFill>
                  <a:srgbClr val="245AA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AXI4-Lite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8" name="Google Shape;1268;p52"/>
          <p:cNvSpPr/>
          <p:nvPr/>
        </p:nvSpPr>
        <p:spPr>
          <a:xfrm>
            <a:off x="10104120" y="25603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200"/>
              <a:buFont typeface="Times New Roman"/>
              <a:buNone/>
            </a:pPr>
            <a:r>
              <a:rPr lang="en" sz="12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11/11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9" name="Google Shape;1269;p52"/>
          <p:cNvSpPr/>
          <p:nvPr/>
        </p:nvSpPr>
        <p:spPr>
          <a:xfrm>
            <a:off x="658368" y="685800"/>
            <a:ext cx="9372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5" lIns="125" spcFirstLastPara="1" rIns="125" wrap="square" tIns="1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2800"/>
              <a:buFont typeface="Times New Roman"/>
              <a:buNone/>
            </a:pPr>
            <a:r>
              <a:rPr b="1" lang="en" sz="28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70" name="Google Shape;1270;p52"/>
          <p:cNvCxnSpPr/>
          <p:nvPr/>
        </p:nvCxnSpPr>
        <p:spPr>
          <a:xfrm>
            <a:off x="658368" y="6291072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D7E3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1" name="Google Shape;1271;p52"/>
          <p:cNvSpPr/>
          <p:nvPr/>
        </p:nvSpPr>
        <p:spPr>
          <a:xfrm>
            <a:off x="868680" y="1389888"/>
            <a:ext cx="320040" cy="274320"/>
          </a:xfrm>
          <a:prstGeom prst="ellipse">
            <a:avLst/>
          </a:prstGeom>
          <a:solidFill>
            <a:srgbClr val="245AA5"/>
          </a:solidFill>
          <a:ln cap="flat" cmpd="sng" w="95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2" name="Google Shape;1272;p52"/>
          <p:cNvSpPr/>
          <p:nvPr/>
        </p:nvSpPr>
        <p:spPr>
          <a:xfrm>
            <a:off x="1417320" y="137160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 — AMBA 4 / AMBA 3 / AMBA 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3" name="Google Shape;1273;p52"/>
          <p:cNvSpPr/>
          <p:nvPr/>
        </p:nvSpPr>
        <p:spPr>
          <a:xfrm>
            <a:off x="1417320" y="1609344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920"/>
              <a:buFont typeface="Times New Roman"/>
              <a:buNone/>
            </a:pPr>
            <a:r>
              <a:rPr lang="en" sz="92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https://www.arm.com/architecture/system-architectures/amba/amba-4</a:t>
            </a:r>
            <a:endParaRPr sz="9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4" name="Google Shape;1274;p52"/>
          <p:cNvSpPr/>
          <p:nvPr/>
        </p:nvSpPr>
        <p:spPr>
          <a:xfrm>
            <a:off x="868680" y="2011680"/>
            <a:ext cx="320040" cy="274320"/>
          </a:xfrm>
          <a:prstGeom prst="ellipse">
            <a:avLst/>
          </a:prstGeom>
          <a:solidFill>
            <a:srgbClr val="245AA5"/>
          </a:solidFill>
          <a:ln cap="flat" cmpd="sng" w="95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5" name="Google Shape;1275;p52"/>
          <p:cNvSpPr/>
          <p:nvPr/>
        </p:nvSpPr>
        <p:spPr>
          <a:xfrm>
            <a:off x="1417320" y="1993392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Arm — AMBA Specifications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6" name="Google Shape;1276;p52"/>
          <p:cNvSpPr/>
          <p:nvPr/>
        </p:nvSpPr>
        <p:spPr>
          <a:xfrm>
            <a:off x="1417320" y="2231136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920"/>
              <a:buFont typeface="Times New Roman"/>
              <a:buNone/>
            </a:pPr>
            <a:r>
              <a:rPr lang="en" sz="92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https://www.arm.com/architecture/system-architectures/amba/amba-specifications</a:t>
            </a:r>
            <a:endParaRPr sz="9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7" name="Google Shape;1277;p52"/>
          <p:cNvSpPr/>
          <p:nvPr/>
        </p:nvSpPr>
        <p:spPr>
          <a:xfrm>
            <a:off x="868680" y="2633472"/>
            <a:ext cx="320040" cy="274320"/>
          </a:xfrm>
          <a:prstGeom prst="ellipse">
            <a:avLst/>
          </a:prstGeom>
          <a:solidFill>
            <a:srgbClr val="245AA5"/>
          </a:solidFill>
          <a:ln cap="flat" cmpd="sng" w="95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8" name="Google Shape;1278;p52"/>
          <p:cNvSpPr/>
          <p:nvPr/>
        </p:nvSpPr>
        <p:spPr>
          <a:xfrm>
            <a:off x="1417320" y="2615184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CIOL — ARM announces AMBA-4 phase one, 10 Mar 2010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9" name="Google Shape;1279;p52"/>
          <p:cNvSpPr/>
          <p:nvPr/>
        </p:nvSpPr>
        <p:spPr>
          <a:xfrm>
            <a:off x="1417320" y="2852928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920"/>
              <a:buFont typeface="Times New Roman"/>
              <a:buNone/>
            </a:pPr>
            <a:r>
              <a:rPr lang="en" sz="92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https://www.ciol.com/arm-announces-amba-phase/</a:t>
            </a:r>
            <a:endParaRPr sz="9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0" name="Google Shape;1280;p52"/>
          <p:cNvSpPr/>
          <p:nvPr/>
        </p:nvSpPr>
        <p:spPr>
          <a:xfrm>
            <a:off x="868680" y="3255264"/>
            <a:ext cx="320040" cy="274320"/>
          </a:xfrm>
          <a:prstGeom prst="ellipse">
            <a:avLst/>
          </a:prstGeom>
          <a:solidFill>
            <a:srgbClr val="245AA5"/>
          </a:solidFill>
          <a:ln cap="flat" cmpd="sng" w="95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1" name="Google Shape;1281;p52"/>
          <p:cNvSpPr/>
          <p:nvPr/>
        </p:nvSpPr>
        <p:spPr>
          <a:xfrm>
            <a:off x="1417320" y="3236976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 — AMBA® AXI4 Interface Protocol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2" name="Google Shape;1282;p52"/>
          <p:cNvSpPr/>
          <p:nvPr/>
        </p:nvSpPr>
        <p:spPr>
          <a:xfrm>
            <a:off x="1417320" y="3474720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920"/>
              <a:buFont typeface="Times New Roman"/>
              <a:buNone/>
            </a:pPr>
            <a:r>
              <a:rPr lang="en" sz="92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https://www.amd.com/en/products/adaptive-socs-and-fpgas/intellectual-property/axi.html</a:t>
            </a:r>
            <a:endParaRPr sz="9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3" name="Google Shape;1283;p52"/>
          <p:cNvSpPr/>
          <p:nvPr/>
        </p:nvSpPr>
        <p:spPr>
          <a:xfrm>
            <a:off x="868680" y="3877056"/>
            <a:ext cx="320040" cy="274320"/>
          </a:xfrm>
          <a:prstGeom prst="ellipse">
            <a:avLst/>
          </a:prstGeom>
          <a:solidFill>
            <a:srgbClr val="245AA5"/>
          </a:solidFill>
          <a:ln cap="flat" cmpd="sng" w="9525">
            <a:solidFill>
              <a:srgbClr val="245A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4" name="Google Shape;1284;p52"/>
          <p:cNvSpPr/>
          <p:nvPr/>
        </p:nvSpPr>
        <p:spPr>
          <a:xfrm>
            <a:off x="1417320" y="3858768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600"/>
              <a:buFont typeface="Times New Roman"/>
              <a:buNone/>
            </a:pPr>
            <a:r>
              <a:rPr b="1" lang="en" sz="1600">
                <a:solidFill>
                  <a:srgbClr val="1B1B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Digital — AXI4-Lite Interface tutorial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5" name="Google Shape;1285;p52"/>
          <p:cNvSpPr/>
          <p:nvPr/>
        </p:nvSpPr>
        <p:spPr>
          <a:xfrm>
            <a:off x="1417320" y="4096512"/>
            <a:ext cx="8778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920"/>
              <a:buFont typeface="Times New Roman"/>
              <a:buNone/>
            </a:pPr>
            <a:r>
              <a:rPr lang="en" sz="92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https://www.realdigital.org/doc/a9fee931f7a172423e1ba73f66ca4081</a:t>
            </a:r>
            <a:endParaRPr sz="9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6" name="Google Shape;1286;p52"/>
          <p:cNvSpPr/>
          <p:nvPr/>
        </p:nvSpPr>
        <p:spPr>
          <a:xfrm>
            <a:off x="388620" y="6446520"/>
            <a:ext cx="1371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 July 2026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7" name="Google Shape;1287;p52"/>
          <p:cNvSpPr/>
          <p:nvPr/>
        </p:nvSpPr>
        <p:spPr>
          <a:xfrm>
            <a:off x="3977640" y="6446520"/>
            <a:ext cx="32918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800"/>
              <a:buFont typeface="Times New Roman"/>
              <a:buNone/>
            </a:pPr>
            <a:r>
              <a:rPr lang="en" sz="800">
                <a:solidFill>
                  <a:srgbClr val="5B5B5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Copyrights 2026 UIT. All Rights Reserved.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