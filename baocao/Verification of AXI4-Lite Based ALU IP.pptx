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4cdd5a93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4cdd5a93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4cdd5a93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54cdd5a93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4cdd5a9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54cdd5a9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4cdd5a93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54cdd5a93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4cdd5a93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54cdd5a93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4cdd5a93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54cdd5a93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4cdd5a93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54cdd5a93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4cdd5a93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54cdd5a93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54cdd5a93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54cdd5a93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54cdd5a93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f54cdd5a93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54cdd5a93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54cdd5a93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54cdd5a9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54cdd5a9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54cdd5a93_7_0)">
  <p:cSld name="Generated (g3f54cdd5a93_7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31245" y="0"/>
            <a:ext cx="12085616" cy="6858000"/>
            <a:chOff x="-31245" y="0"/>
            <a:chExt cx="12085616" cy="68580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4"/>
            <p:cNvSpPr/>
            <p:nvPr/>
          </p:nvSpPr>
          <p:spPr>
            <a:xfrm rot="10800000" flipH="1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8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sz="88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11508216" y="243068"/>
              <a:ext cx="546155" cy="546155"/>
              <a:chOff x="11082052" y="197383"/>
              <a:chExt cx="486600" cy="486600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4493294" y="113148"/>
              <a:ext cx="3238090" cy="723500"/>
              <a:chOff x="4276725" y="63291"/>
              <a:chExt cx="3638700" cy="813009"/>
            </a:xfrm>
          </p:grpSpPr>
          <p:pic>
            <p:nvPicPr>
              <p:cNvPr id="63" name="Google Shape;63;p14"/>
              <p:cNvPicPr preferRelativeResize="0"/>
              <p:nvPr/>
            </p:nvPicPr>
            <p:blipFill rotWithShape="1">
              <a:blip r:embed="rId5">
                <a:alphaModFix/>
              </a:blip>
              <a:srcRect r="-12372" b="-12372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" name="Google Shape;64;p1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5" name="Google Shape;65;p14"/>
              <p:cNvPicPr preferRelativeResize="0"/>
              <p:nvPr/>
            </p:nvPicPr>
            <p:blipFill rotWithShape="1">
              <a:blip r:embed="rId6">
                <a:alphaModFix/>
              </a:blip>
              <a:srcRect t="90" r="-12372" b="-1226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6" name="Google Shape;66;p1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1425"/>
              <a:ext cx="12194400" cy="6863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" name="Google Shape;68;p14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7">
                <a:alphaModFix/>
              </a:blip>
              <a:srcRect r="10905" b="10913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14"/>
              <p:cNvPicPr preferRelativeResize="0"/>
              <p:nvPr/>
            </p:nvPicPr>
            <p:blipFill rotWithShape="1">
              <a:blip r:embed="rId8">
                <a:alphaModFix/>
              </a:blip>
              <a:srcRect t="53" r="10905" b="10955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1" name="Google Shape;71;p14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2034569" y="2190750"/>
            <a:ext cx="8506200" cy="2073900"/>
            <a:chOff x="0" y="0"/>
            <a:chExt cx="8506200" cy="20739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8506200" cy="2073900"/>
            </a:xfrm>
            <a:prstGeom prst="roundRect">
              <a:avLst>
                <a:gd name="adj" fmla="val 3901"/>
              </a:avLst>
            </a:prstGeom>
            <a:solidFill>
              <a:srgbClr val="000000">
                <a:alpha val="0"/>
              </a:srgbClr>
            </a:solidFill>
            <a:ln w="254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23696" y="23696"/>
              <a:ext cx="8458800" cy="202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of AXI4-Lite Based ALU IP</a:t>
              </a:r>
              <a:endParaRPr sz="32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Đinh </a:t>
              </a:r>
              <a:r>
                <a:rPr lang="en" sz="20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Khánh Đăng - Ph</a:t>
              </a:r>
              <a:r>
                <a:rPr lang="en" sz="2000" b="1">
                  <a:latin typeface="Times New Roman"/>
                  <a:ea typeface="Times New Roman"/>
                  <a:cs typeface="Times New Roman"/>
                  <a:sym typeface="Times New Roman"/>
                </a:rPr>
                <a:t>ạm Chí Đạt</a:t>
              </a:r>
              <a:endPara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endParaRPr sz="1600" b="1">
                <a:solidFill>
                  <a:srgbClr val="43B69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5426393" y="2000250"/>
            <a:ext cx="1722900" cy="381000"/>
            <a:chOff x="0" y="0"/>
            <a:chExt cx="1722900" cy="3810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1722900" cy="381000"/>
            </a:xfrm>
            <a:prstGeom prst="roundRect">
              <a:avLst>
                <a:gd name="adj" fmla="val 8146"/>
              </a:avLst>
            </a:pr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9525" y="9525"/>
              <a:ext cx="17049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IC VERIFICATION</a:t>
              </a:r>
              <a:endParaRPr sz="1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16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88" name="Google Shape;88;p16"/>
            <p:cNvPicPr preferRelativeResize="0"/>
            <p:nvPr/>
          </p:nvPicPr>
          <p:blipFill rotWithShape="1">
            <a:blip r:embed="rId3">
              <a:alphaModFix/>
            </a:blip>
            <a:srcRect t="10" b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6"/>
            <p:cNvSpPr/>
            <p:nvPr/>
          </p:nvSpPr>
          <p:spPr>
            <a:xfrm rot="-5400000" flipH="1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16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92" name="Google Shape;92;p16"/>
              <p:cNvPicPr preferRelativeResize="0"/>
              <p:nvPr/>
            </p:nvPicPr>
            <p:blipFill rotWithShape="1">
              <a:blip r:embed="rId4">
                <a:alphaModFix/>
              </a:blip>
              <a:srcRect r="-12372" b="-12372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" name="Google Shape;93;p1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4" name="Google Shape;94;p16"/>
              <p:cNvPicPr preferRelativeResize="0"/>
              <p:nvPr/>
            </p:nvPicPr>
            <p:blipFill rotWithShape="1">
              <a:blip r:embed="rId5">
                <a:alphaModFix/>
              </a:blip>
              <a:srcRect t="76" r="-26263" b="-26163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5" name="Google Shape;95;p16"/>
          <p:cNvSpPr txBox="1"/>
          <p:nvPr/>
        </p:nvSpPr>
        <p:spPr>
          <a:xfrm>
            <a:off x="428625" y="904875"/>
            <a:ext cx="11334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Control Interface via AXI4-Lite</a:t>
            </a:r>
            <a:endParaRPr sz="28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70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provides a simplified, non-burst interface ideal for memory-mapped control.</a:t>
            </a:r>
            <a:endParaRPr sz="1700" b="0" i="1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428625" y="1857375"/>
            <a:ext cx="5429400" cy="4095900"/>
            <a:chOff x="0" y="0"/>
            <a:chExt cx="5429400" cy="40959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Selection &amp; Efficiency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9" name="Google Shape;99;p16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0" name="Google Shape;100;p16"/>
            <p:cNvSpPr txBox="1"/>
            <p:nvPr/>
          </p:nvSpPr>
          <p:spPr>
            <a:xfrm>
              <a:off x="285750" y="762000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7625" rIns="0" bIns="0" anchor="t" anchorCtr="0">
              <a:noAutofit/>
            </a:bodyPr>
            <a:lstStyle/>
            <a:p>
              <a:pPr marL="457200" lvl="0" indent="-310833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Char char="●"/>
              </a:pPr>
              <a:r>
                <a:rPr lang="en" sz="1295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Selected for its high efficiency in handling memory-mapped control and status register (CSR) interfaces.</a:t>
              </a:r>
              <a:endParaRPr sz="1295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0833" algn="l" rtl="0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Char char="●"/>
              </a:pPr>
              <a:r>
                <a:rPr lang="en" sz="1295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Compared to the AXI Full protocol, it </a:t>
              </a:r>
              <a:r>
                <a:rPr lang="en" sz="1295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eliminates complex burst transaction overhead</a:t>
              </a:r>
              <a:r>
                <a:rPr lang="en" sz="1295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95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0833" algn="l" rtl="0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Char char="●"/>
              </a:pPr>
              <a:r>
                <a:rPr lang="en" sz="1295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Perfectly suited for lightweight, single-beat control mechanisms.</a:t>
              </a:r>
              <a:endParaRPr sz="1295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" name="Google Shape;101;p16"/>
            <p:cNvGrpSpPr/>
            <p:nvPr/>
          </p:nvGrpSpPr>
          <p:grpSpPr>
            <a:xfrm>
              <a:off x="381000" y="2762250"/>
              <a:ext cx="4667400" cy="619200"/>
              <a:chOff x="381000" y="2762250"/>
              <a:chExt cx="4667400" cy="619200"/>
            </a:xfrm>
          </p:grpSpPr>
          <p:grpSp>
            <p:nvGrpSpPr>
              <p:cNvPr id="102" name="Google Shape;102;p16"/>
              <p:cNvGrpSpPr/>
              <p:nvPr/>
            </p:nvGrpSpPr>
            <p:grpSpPr>
              <a:xfrm>
                <a:off x="381000" y="2762250"/>
                <a:ext cx="1047900" cy="619200"/>
                <a:chOff x="0" y="0"/>
                <a:chExt cx="1047900" cy="619200"/>
              </a:xfrm>
            </p:grpSpPr>
            <p:sp>
              <p:nvSpPr>
                <p:cNvPr id="103" name="Google Shape;103;p16"/>
                <p:cNvSpPr/>
                <p:nvPr/>
              </p:nvSpPr>
              <p:spPr>
                <a:xfrm>
                  <a:off x="0" y="0"/>
                  <a:ext cx="1047900" cy="619200"/>
                </a:xfrm>
                <a:prstGeom prst="roundRect">
                  <a:avLst>
                    <a:gd name="adj" fmla="val 9230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43B6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16"/>
                <p:cNvSpPr txBox="1"/>
                <p:nvPr/>
              </p:nvSpPr>
              <p:spPr>
                <a:xfrm>
                  <a:off x="0" y="0"/>
                  <a:ext cx="1047900" cy="619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CPU</a:t>
                  </a:r>
                  <a:endParaRPr sz="12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Master</a:t>
                  </a:r>
                  <a:endParaRPr sz="10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5" name="Google Shape;105;p16"/>
              <p:cNvSpPr/>
              <p:nvPr/>
            </p:nvSpPr>
            <p:spPr>
              <a:xfrm>
                <a:off x="1476375" y="3071813"/>
                <a:ext cx="5715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5624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1971675" y="3024188"/>
                <a:ext cx="762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476375" y="2809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Single-Beat</a:t>
                </a:r>
                <a:endParaRPr sz="85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8" name="Google Shape;108;p16"/>
              <p:cNvGrpSpPr/>
              <p:nvPr/>
            </p:nvGrpSpPr>
            <p:grpSpPr>
              <a:xfrm>
                <a:off x="2143125" y="2857500"/>
                <a:ext cx="1143000" cy="428700"/>
                <a:chOff x="0" y="0"/>
                <a:chExt cx="1143000" cy="428700"/>
              </a:xfrm>
            </p:grpSpPr>
            <p:sp>
              <p:nvSpPr>
                <p:cNvPr id="109" name="Google Shape;109;p16"/>
                <p:cNvSpPr/>
                <p:nvPr/>
              </p:nvSpPr>
              <p:spPr>
                <a:xfrm>
                  <a:off x="0" y="0"/>
                  <a:ext cx="1143000" cy="4287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5624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16"/>
                <p:cNvSpPr txBox="1"/>
                <p:nvPr/>
              </p:nvSpPr>
              <p:spPr>
                <a:xfrm>
                  <a:off x="0" y="0"/>
                  <a:ext cx="11430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AXI4-Lite</a:t>
                  </a:r>
                  <a:endParaRPr sz="11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" name="Google Shape;111;p16"/>
              <p:cNvSpPr/>
              <p:nvPr/>
            </p:nvSpPr>
            <p:spPr>
              <a:xfrm>
                <a:off x="3333750" y="3071813"/>
                <a:ext cx="5715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5624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3829050" y="3024188"/>
                <a:ext cx="762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" name="Google Shape;113;p16"/>
              <p:cNvGrpSpPr/>
              <p:nvPr/>
            </p:nvGrpSpPr>
            <p:grpSpPr>
              <a:xfrm>
                <a:off x="4000500" y="2762250"/>
                <a:ext cx="1047900" cy="619200"/>
                <a:chOff x="0" y="0"/>
                <a:chExt cx="1047900" cy="619200"/>
              </a:xfrm>
            </p:grpSpPr>
            <p:sp>
              <p:nvSpPr>
                <p:cNvPr id="114" name="Google Shape;114;p16"/>
                <p:cNvSpPr/>
                <p:nvPr/>
              </p:nvSpPr>
              <p:spPr>
                <a:xfrm>
                  <a:off x="0" y="0"/>
                  <a:ext cx="1047900" cy="619200"/>
                </a:xfrm>
                <a:prstGeom prst="roundRect">
                  <a:avLst>
                    <a:gd name="adj" fmla="val 9230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43B6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16"/>
                <p:cNvSpPr txBox="1"/>
                <p:nvPr/>
              </p:nvSpPr>
              <p:spPr>
                <a:xfrm>
                  <a:off x="0" y="0"/>
                  <a:ext cx="1047900" cy="619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CSR</a:t>
                  </a:r>
                  <a:endParaRPr sz="12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Registers</a:t>
                  </a:r>
                  <a:endParaRPr sz="10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6" name="Google Shape;116;p16"/>
          <p:cNvGrpSpPr/>
          <p:nvPr/>
        </p:nvGrpSpPr>
        <p:grpSpPr>
          <a:xfrm>
            <a:off x="6334125" y="1857375"/>
            <a:ext cx="5429400" cy="4095900"/>
            <a:chOff x="0" y="0"/>
            <a:chExt cx="5429400" cy="40959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Hardware-Software Control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" name="Google Shape;119;p16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0" name="Google Shape;120;p16"/>
            <p:cNvSpPr txBox="1"/>
            <p:nvPr/>
          </p:nvSpPr>
          <p:spPr>
            <a:xfrm>
              <a:off x="285750" y="762000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7625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lang="en" sz="14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Creates a </a:t>
              </a:r>
              <a:r>
                <a:rPr lang="en" sz="14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highly reliable hardware-software link</a:t>
              </a:r>
              <a:r>
                <a:rPr lang="en" sz="14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for system control.</a:t>
              </a:r>
              <a:endPara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lang="en" sz="14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Software writes configurations, operands, and triggers execution start signals.</a:t>
              </a:r>
              <a:endPara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lang="en" sz="14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Software seamlessly reads back hardware execution status and final computation results.</a:t>
              </a:r>
              <a:endPara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333375" y="2667000"/>
              <a:ext cx="4762425" cy="857400"/>
              <a:chOff x="333375" y="2667000"/>
              <a:chExt cx="4762425" cy="85740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333375" y="2667000"/>
                <a:ext cx="1095300" cy="809700"/>
                <a:chOff x="0" y="0"/>
                <a:chExt cx="1095300" cy="8097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0" y="0"/>
                  <a:ext cx="1095300" cy="809700"/>
                </a:xfrm>
                <a:prstGeom prst="roundRect">
                  <a:avLst>
                    <a:gd name="adj" fmla="val 7058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43B6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16"/>
                <p:cNvSpPr txBox="1"/>
                <p:nvPr/>
              </p:nvSpPr>
              <p:spPr>
                <a:xfrm>
                  <a:off x="0" y="0"/>
                  <a:ext cx="1095300" cy="8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Software</a:t>
                  </a:r>
                  <a:endParaRPr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(CPU Code)</a:t>
                  </a:r>
                  <a:endParaRPr sz="10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5" name="Google Shape;125;p16"/>
              <p:cNvSpPr/>
              <p:nvPr/>
            </p:nvSpPr>
            <p:spPr>
              <a:xfrm>
                <a:off x="1476375" y="2886075"/>
                <a:ext cx="24765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5624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3876675" y="2838450"/>
                <a:ext cx="762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524000" y="2667000"/>
                <a:ext cx="2381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Writes: Operands, Opcodes, Start</a:t>
                </a:r>
                <a:endParaRPr sz="9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1476375" y="3267075"/>
                <a:ext cx="24765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43B6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1476375" y="3219450"/>
                <a:ext cx="762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12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1524000" y="3314700"/>
                <a:ext cx="2381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Reads: Status, Computation Results</a:t>
                </a:r>
                <a:endParaRPr sz="9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1" name="Google Shape;131;p16"/>
              <p:cNvGrpSpPr/>
              <p:nvPr/>
            </p:nvGrpSpPr>
            <p:grpSpPr>
              <a:xfrm>
                <a:off x="4000500" y="2667000"/>
                <a:ext cx="1095300" cy="809700"/>
                <a:chOff x="0" y="0"/>
                <a:chExt cx="1095300" cy="809700"/>
              </a:xfrm>
            </p:grpSpPr>
            <p:sp>
              <p:nvSpPr>
                <p:cNvPr id="132" name="Google Shape;132;p16"/>
                <p:cNvSpPr/>
                <p:nvPr/>
              </p:nvSpPr>
              <p:spPr>
                <a:xfrm>
                  <a:off x="0" y="0"/>
                  <a:ext cx="1095300" cy="809700"/>
                </a:xfrm>
                <a:prstGeom prst="roundRect">
                  <a:avLst>
                    <a:gd name="adj" fmla="val 7058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43B6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16"/>
                <p:cNvSpPr txBox="1"/>
                <p:nvPr/>
              </p:nvSpPr>
              <p:spPr>
                <a:xfrm>
                  <a:off x="0" y="0"/>
                  <a:ext cx="1095300" cy="8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Hardware</a:t>
                  </a:r>
                  <a:endParaRPr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(CSR Registers)</a:t>
                  </a:r>
                  <a:endParaRPr sz="10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34" name="Google Shape;134;p16"/>
          <p:cNvGrpSpPr/>
          <p:nvPr/>
        </p:nvGrpSpPr>
        <p:grpSpPr>
          <a:xfrm>
            <a:off x="4038600" y="6266643"/>
            <a:ext cx="8012430" cy="552553"/>
            <a:chOff x="4038600" y="6266643"/>
            <a:chExt cx="8012430" cy="552553"/>
          </a:xfrm>
        </p:grpSpPr>
        <p:grpSp>
          <p:nvGrpSpPr>
            <p:cNvPr id="135" name="Google Shape;135;p16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36" name="Google Shape;136;p16"/>
              <p:cNvPicPr preferRelativeResize="0"/>
              <p:nvPr/>
            </p:nvPicPr>
            <p:blipFill rotWithShape="1">
              <a:blip r:embed="rId6">
                <a:alphaModFix/>
              </a:blip>
              <a:srcRect r="10905" b="10913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" name="Google Shape;137;p16"/>
              <p:cNvPicPr preferRelativeResize="0"/>
              <p:nvPr/>
            </p:nvPicPr>
            <p:blipFill rotWithShape="1">
              <a:blip r:embed="rId7">
                <a:alphaModFix/>
              </a:blip>
              <a:srcRect t="53" r="10905" b="10955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8" name="Google Shape;138;p16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 i="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sz="1200" b="0" i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" name="Google Shape;141;p16"/>
          <p:cNvSpPr/>
          <p:nvPr/>
        </p:nvSpPr>
        <p:spPr>
          <a:xfrm>
            <a:off x="0" y="0"/>
            <a:ext cx="12194400" cy="6863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7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147" name="Google Shape;147;p17"/>
            <p:cNvPicPr preferRelativeResize="0"/>
            <p:nvPr/>
          </p:nvPicPr>
          <p:blipFill rotWithShape="1">
            <a:blip r:embed="rId3">
              <a:alphaModFix/>
            </a:blip>
            <a:srcRect t="10" b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7"/>
            <p:cNvSpPr/>
            <p:nvPr/>
          </p:nvSpPr>
          <p:spPr>
            <a:xfrm rot="-5400000" flipH="1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17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150" name="Google Shape;150;p17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7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sz="160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17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153" name="Google Shape;153;p17"/>
              <p:cNvPicPr preferRelativeResize="0"/>
              <p:nvPr/>
            </p:nvPicPr>
            <p:blipFill rotWithShape="1">
              <a:blip r:embed="rId4">
                <a:alphaModFix/>
              </a:blip>
              <a:srcRect r="-12372" b="-12372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1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55" name="Google Shape;155;p17"/>
              <p:cNvPicPr preferRelativeResize="0"/>
              <p:nvPr/>
            </p:nvPicPr>
            <p:blipFill rotWithShape="1">
              <a:blip r:embed="rId5">
                <a:alphaModFix/>
              </a:blip>
              <a:srcRect t="76" r="-26263" b="-26163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6" name="Google Shape;156;p17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1425"/>
              <a:ext cx="12194400" cy="6863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17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59" name="Google Shape;159;p17"/>
              <p:cNvPicPr preferRelativeResize="0"/>
              <p:nvPr/>
            </p:nvPicPr>
            <p:blipFill rotWithShape="1">
              <a:blip r:embed="rId6">
                <a:alphaModFix/>
              </a:blip>
              <a:srcRect r="10905" b="10913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17"/>
              <p:cNvPicPr preferRelativeResize="0"/>
              <p:nvPr/>
            </p:nvPicPr>
            <p:blipFill rotWithShape="1">
              <a:blip r:embed="rId7">
                <a:alphaModFix/>
              </a:blip>
              <a:srcRect t="53" r="10905" b="10955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p17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476250" y="904875"/>
            <a:ext cx="11239500" cy="857400"/>
            <a:chOff x="0" y="0"/>
            <a:chExt cx="11239500" cy="8574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11239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0" y="0"/>
              <a:ext cx="1123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Under Test (DUT) Architecture</a:t>
              </a:r>
              <a:endParaRPr sz="2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Integrating five distinct sub-modules for execution and control</a:t>
              </a:r>
              <a:endPara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71400" y="1762125"/>
            <a:ext cx="4700625" cy="4057650"/>
            <a:chOff x="71400" y="1762125"/>
            <a:chExt cx="4700625" cy="4057650"/>
          </a:xfrm>
        </p:grpSpPr>
        <p:pic>
          <p:nvPicPr>
            <p:cNvPr id="167" name="Google Shape;167;p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66725" y="1895475"/>
              <a:ext cx="4305300" cy="392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7"/>
            <p:cNvSpPr/>
            <p:nvPr/>
          </p:nvSpPr>
          <p:spPr>
            <a:xfrm>
              <a:off x="1428750" y="1762125"/>
              <a:ext cx="2381400" cy="285900"/>
            </a:xfrm>
            <a:prstGeom prst="roundRect">
              <a:avLst>
                <a:gd name="adj" fmla="val 20000"/>
              </a:avLst>
            </a:pr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1428750" y="17621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avalon_axi4lite_alu</a:t>
              </a:r>
              <a:endParaRPr sz="10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42875" y="3000375"/>
              <a:ext cx="5715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7"/>
            <p:cNvSpPr txBox="1"/>
            <p:nvPr/>
          </p:nvSpPr>
          <p:spPr>
            <a:xfrm>
              <a:off x="71400" y="2757488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05624A"/>
                  </a:solidFill>
                </a:rPr>
                <a:t>Avalon Bus</a:t>
              </a:r>
              <a:endParaRPr sz="950" b="1">
                <a:solidFill>
                  <a:srgbClr val="05624A"/>
                </a:solidFill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666750" y="2190750"/>
              <a:ext cx="1809600" cy="33813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666750" y="2286000"/>
              <a:ext cx="1809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INTERFACE &amp; CONTROL</a:t>
              </a:r>
              <a:endParaRPr sz="85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809625" y="2571750"/>
              <a:ext cx="1524000" cy="952500"/>
            </a:xfrm>
            <a:prstGeom prst="roundRect">
              <a:avLst>
                <a:gd name="adj" fmla="val 6000"/>
              </a:avLst>
            </a:prstGeom>
            <a:solidFill>
              <a:srgbClr val="E6F4F0"/>
            </a:solidFill>
            <a:ln w="14300" cap="flat" cmpd="sng">
              <a:solidFill>
                <a:srgbClr val="056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857250" y="2619375"/>
              <a:ext cx="142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avalon_axi4lite_</a:t>
              </a:r>
              <a:b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</a:t>
              </a:r>
              <a:endParaRPr sz="11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Avalon to AXI4-Lite</a:t>
              </a:r>
              <a:endParaRPr sz="8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533525" y="3524250"/>
              <a:ext cx="76200" cy="2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7"/>
            <p:cNvSpPr/>
            <p:nvPr/>
          </p:nvSpPr>
          <p:spPr>
            <a:xfrm>
              <a:off x="809625" y="3810000"/>
              <a:ext cx="1524000" cy="952500"/>
            </a:xfrm>
            <a:prstGeom prst="roundRect">
              <a:avLst>
                <a:gd name="adj" fmla="val 6000"/>
              </a:avLst>
            </a:prstGeom>
            <a:solidFill>
              <a:srgbClr val="E6F4F0"/>
            </a:solidFill>
            <a:ln w="14300" cap="flat" cmpd="sng">
              <a:solidFill>
                <a:srgbClr val="056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857250" y="3857625"/>
              <a:ext cx="142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</a:t>
              </a:r>
              <a:endParaRPr sz="11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AXI Protocol Decoder</a:t>
              </a:r>
              <a:endParaRPr sz="8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1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333625" y="3000375"/>
              <a:ext cx="552600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7"/>
            <p:cNvSpPr/>
            <p:nvPr/>
          </p:nvSpPr>
          <p:spPr>
            <a:xfrm>
              <a:off x="2762250" y="2190750"/>
              <a:ext cx="1809600" cy="33813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14300" cap="flat" cmpd="sng">
              <a:solidFill>
                <a:srgbClr val="056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2762250" y="2286000"/>
              <a:ext cx="1809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EXECUTION &amp; STORAGE</a:t>
              </a:r>
              <a:endParaRPr sz="85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2905125" y="2571750"/>
              <a:ext cx="1524000" cy="952500"/>
            </a:xfrm>
            <a:prstGeom prst="roundRect">
              <a:avLst>
                <a:gd name="adj" fmla="val 6000"/>
              </a:avLst>
            </a:prstGeom>
            <a:solidFill>
              <a:srgbClr val="E6F4F0"/>
            </a:solidFill>
            <a:ln w="14300" cap="flat" cmpd="sng">
              <a:solidFill>
                <a:srgbClr val="056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2952750" y="2619375"/>
              <a:ext cx="142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axi_register_bank</a:t>
              </a:r>
              <a:endParaRPr sz="11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Config &amp; Operands</a:t>
              </a:r>
              <a:endParaRPr sz="8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" name="Google Shape;184;p1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629025" y="3524250"/>
              <a:ext cx="76200" cy="2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7"/>
            <p:cNvSpPr/>
            <p:nvPr/>
          </p:nvSpPr>
          <p:spPr>
            <a:xfrm>
              <a:off x="2905125" y="3810000"/>
              <a:ext cx="1524000" cy="952500"/>
            </a:xfrm>
            <a:prstGeom prst="roundRect">
              <a:avLst>
                <a:gd name="adj" fmla="val 6000"/>
              </a:avLst>
            </a:prstGeom>
            <a:solidFill>
              <a:srgbClr val="E6F4F0"/>
            </a:solidFill>
            <a:ln w="14300" cap="flat" cmpd="sng">
              <a:solidFill>
                <a:srgbClr val="056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2952750" y="3857625"/>
              <a:ext cx="142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alu_core</a:t>
              </a:r>
              <a:endParaRPr sz="11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Arithmetic &amp; Logic</a:t>
              </a:r>
              <a:endParaRPr sz="8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5000625" y="1905000"/>
            <a:ext cx="6715200" cy="3905400"/>
            <a:chOff x="5000625" y="1905000"/>
            <a:chExt cx="6715200" cy="3905400"/>
          </a:xfrm>
        </p:grpSpPr>
        <p:sp>
          <p:nvSpPr>
            <p:cNvPr id="188" name="Google Shape;188;p17"/>
            <p:cNvSpPr/>
            <p:nvPr/>
          </p:nvSpPr>
          <p:spPr>
            <a:xfrm>
              <a:off x="5000625" y="1905000"/>
              <a:ext cx="67152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000625" y="1905000"/>
              <a:ext cx="1524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0000" y="0"/>
                  </a:lnTo>
                  <a:cubicBezTo>
                    <a:pt x="44087" y="0"/>
                    <a:pt x="28826" y="1445"/>
                    <a:pt x="17574" y="4017"/>
                  </a:cubicBezTo>
                  <a:cubicBezTo>
                    <a:pt x="6321" y="6589"/>
                    <a:pt x="0" y="10077"/>
                    <a:pt x="0" y="13714"/>
                  </a:cubicBezTo>
                  <a:lnTo>
                    <a:pt x="0" y="106286"/>
                  </a:lnTo>
                  <a:cubicBezTo>
                    <a:pt x="1" y="113860"/>
                    <a:pt x="26863" y="120000"/>
                    <a:pt x="60000" y="12000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38EF7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5286375" y="1952625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avalon_axi4lite_alu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The top-level wrapper integrating all sub-modules into a cohesive unit.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000625" y="2714625"/>
              <a:ext cx="67152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000625" y="2714625"/>
              <a:ext cx="1524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0000" y="0"/>
                  </a:lnTo>
                  <a:cubicBezTo>
                    <a:pt x="44087" y="0"/>
                    <a:pt x="28826" y="1445"/>
                    <a:pt x="17574" y="4017"/>
                  </a:cubicBezTo>
                  <a:cubicBezTo>
                    <a:pt x="6321" y="6589"/>
                    <a:pt x="0" y="10077"/>
                    <a:pt x="0" y="13714"/>
                  </a:cubicBezTo>
                  <a:lnTo>
                    <a:pt x="0" y="106286"/>
                  </a:lnTo>
                  <a:cubicBezTo>
                    <a:pt x="1" y="113860"/>
                    <a:pt x="26863" y="120000"/>
                    <a:pt x="60000" y="12000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3B69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5286375" y="2762250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avalon_axi4lite_bridge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Adapts incoming Avalon bus transactions to the AXI4-Lite protocol standard.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5000625" y="3524250"/>
              <a:ext cx="67152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000625" y="3524250"/>
              <a:ext cx="1524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0000" y="0"/>
                  </a:lnTo>
                  <a:cubicBezTo>
                    <a:pt x="44087" y="0"/>
                    <a:pt x="28826" y="1445"/>
                    <a:pt x="17574" y="4017"/>
                  </a:cubicBezTo>
                  <a:cubicBezTo>
                    <a:pt x="6321" y="6589"/>
                    <a:pt x="0" y="10077"/>
                    <a:pt x="0" y="13714"/>
                  </a:cubicBezTo>
                  <a:lnTo>
                    <a:pt x="0" y="106286"/>
                  </a:lnTo>
                  <a:cubicBezTo>
                    <a:pt x="1" y="113860"/>
                    <a:pt x="26863" y="120000"/>
                    <a:pt x="60000" y="12000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3B69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5286375" y="3571875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Decodes AXI protocol handshakes and manages register read/write access.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5000625" y="4333875"/>
              <a:ext cx="67152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5000625" y="4333875"/>
              <a:ext cx="1524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0000" y="0"/>
                  </a:lnTo>
                  <a:cubicBezTo>
                    <a:pt x="44087" y="0"/>
                    <a:pt x="28826" y="1445"/>
                    <a:pt x="17574" y="4017"/>
                  </a:cubicBezTo>
                  <a:cubicBezTo>
                    <a:pt x="6321" y="6589"/>
                    <a:pt x="0" y="10077"/>
                    <a:pt x="0" y="13714"/>
                  </a:cubicBezTo>
                  <a:lnTo>
                    <a:pt x="0" y="106286"/>
                  </a:lnTo>
                  <a:cubicBezTo>
                    <a:pt x="1" y="113860"/>
                    <a:pt x="26863" y="120000"/>
                    <a:pt x="60000" y="12000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5286375" y="4381500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axi_register_bank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Stores operational configuration, input operands, and output results.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5000625" y="5143500"/>
              <a:ext cx="67152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000625" y="5143500"/>
              <a:ext cx="1524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60000" y="0"/>
                  </a:lnTo>
                  <a:cubicBezTo>
                    <a:pt x="44087" y="0"/>
                    <a:pt x="28826" y="1445"/>
                    <a:pt x="17574" y="4017"/>
                  </a:cubicBezTo>
                  <a:cubicBezTo>
                    <a:pt x="6321" y="6589"/>
                    <a:pt x="0" y="10077"/>
                    <a:pt x="0" y="13714"/>
                  </a:cubicBezTo>
                  <a:lnTo>
                    <a:pt x="0" y="106286"/>
                  </a:lnTo>
                  <a:cubicBezTo>
                    <a:pt x="1" y="113860"/>
                    <a:pt x="26863" y="120000"/>
                    <a:pt x="60000" y="12000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5286375" y="5191125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alu_core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Executes the core arithmetic and logic operations.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18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8"/>
          <p:cNvGrpSpPr/>
          <p:nvPr/>
        </p:nvGrpSpPr>
        <p:grpSpPr>
          <a:xfrm>
            <a:off x="4477020" y="263617"/>
            <a:ext cx="3176567" cy="628170"/>
            <a:chOff x="4276725" y="109041"/>
            <a:chExt cx="3569566" cy="705886"/>
          </a:xfrm>
        </p:grpSpPr>
        <p:pic>
          <p:nvPicPr>
            <p:cNvPr id="210" name="Google Shape;210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76725" y="152400"/>
              <a:ext cx="3238200" cy="644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8"/>
            <p:cNvSpPr/>
            <p:nvPr/>
          </p:nvSpPr>
          <p:spPr>
            <a:xfrm>
              <a:off x="4345591" y="214327"/>
              <a:ext cx="3500700" cy="600600"/>
            </a:xfrm>
            <a:prstGeom prst="roundRect">
              <a:avLst>
                <a:gd name="adj" fmla="val 3959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2" name="Google Shape;212;p18"/>
            <p:cNvPicPr preferRelativeResize="0"/>
            <p:nvPr/>
          </p:nvPicPr>
          <p:blipFill rotWithShape="1">
            <a:blip r:embed="rId5">
              <a:alphaModFix/>
            </a:blip>
            <a:srcRect r="10"/>
            <a:stretch/>
          </p:blipFill>
          <p:spPr>
            <a:xfrm>
              <a:off x="5604843" y="109041"/>
              <a:ext cx="775800" cy="642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18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Map Interface Bridge</a:t>
            </a:r>
            <a:endParaRPr sz="30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263"/>
              </a:spcBef>
              <a:spcAft>
                <a:spcPts val="0"/>
              </a:spcAft>
              <a:buNone/>
            </a:pPr>
            <a:r>
              <a:rPr lang="en" sz="180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strictly defined register map bridges the software firmware flow to the RTL design.</a:t>
            </a:r>
            <a:endParaRPr sz="1800" b="0" i="1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5" name="Google Shape;215;p18"/>
          <p:cNvGrpSpPr/>
          <p:nvPr/>
        </p:nvGrpSpPr>
        <p:grpSpPr>
          <a:xfrm>
            <a:off x="523875" y="1857375"/>
            <a:ext cx="2571900" cy="4095900"/>
            <a:chOff x="0" y="0"/>
            <a:chExt cx="2571900" cy="40959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5"/>
                  </a:moveTo>
                  <a:cubicBezTo>
                    <a:pt x="0" y="12822"/>
                    <a:pt x="374" y="8384"/>
                    <a:pt x="1041" y="5114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4"/>
                  </a:cubicBezTo>
                  <a:cubicBezTo>
                    <a:pt x="119625" y="8384"/>
                    <a:pt x="120000" y="12822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 &amp; Status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142875" y="762000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0x00 CTRL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Control register for start and reset signals.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0x04 STATUS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Status register indicating busy, done, or error states.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3381375" y="1857375"/>
            <a:ext cx="2571900" cy="4095900"/>
            <a:chOff x="0" y="0"/>
            <a:chExt cx="2571900" cy="409590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5"/>
                  </a:moveTo>
                  <a:cubicBezTo>
                    <a:pt x="0" y="12822"/>
                    <a:pt x="374" y="8384"/>
                    <a:pt x="1041" y="5114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4"/>
                  </a:cubicBezTo>
                  <a:cubicBezTo>
                    <a:pt x="119625" y="8384"/>
                    <a:pt x="120000" y="12822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Input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142875" y="762000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0x08 Operand A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32-bit input operand A.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0x0C Operand B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32-bit input operand B.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18"/>
          <p:cNvGrpSpPr/>
          <p:nvPr/>
        </p:nvGrpSpPr>
        <p:grpSpPr>
          <a:xfrm>
            <a:off x="6238875" y="1857375"/>
            <a:ext cx="2571900" cy="4095900"/>
            <a:chOff x="0" y="0"/>
            <a:chExt cx="2571900" cy="4095900"/>
          </a:xfrm>
        </p:grpSpPr>
        <p:sp>
          <p:nvSpPr>
            <p:cNvPr id="226" name="Google Shape;226;p18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5"/>
                  </a:moveTo>
                  <a:cubicBezTo>
                    <a:pt x="0" y="12822"/>
                    <a:pt x="374" y="8384"/>
                    <a:pt x="1041" y="5114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4"/>
                  </a:cubicBezTo>
                  <a:cubicBezTo>
                    <a:pt x="119625" y="8384"/>
                    <a:pt x="120000" y="12822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Operation Config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8"/>
            <p:cNvSpPr txBox="1"/>
            <p:nvPr/>
          </p:nvSpPr>
          <p:spPr>
            <a:xfrm>
              <a:off x="142875" y="762000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0x10 Opcode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Selector for the specific arithmetic or logic operation.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8"/>
          <p:cNvGrpSpPr/>
          <p:nvPr/>
        </p:nvGrpSpPr>
        <p:grpSpPr>
          <a:xfrm>
            <a:off x="9096375" y="1857375"/>
            <a:ext cx="2571900" cy="4095900"/>
            <a:chOff x="0" y="0"/>
            <a:chExt cx="2571900" cy="4095900"/>
          </a:xfrm>
        </p:grpSpPr>
        <p:sp>
          <p:nvSpPr>
            <p:cNvPr id="231" name="Google Shape;231;p18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5"/>
                  </a:moveTo>
                  <a:cubicBezTo>
                    <a:pt x="0" y="12822"/>
                    <a:pt x="374" y="8384"/>
                    <a:pt x="1041" y="5114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4"/>
                  </a:cubicBezTo>
                  <a:cubicBezTo>
                    <a:pt x="119625" y="8384"/>
                    <a:pt x="120000" y="12822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Execution Results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142875" y="762000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0x14 Result</a:t>
              </a:r>
              <a:endParaRPr/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The final ALU computation output.</a:t>
              </a:r>
              <a:endParaRPr sz="13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8"/>
          <p:cNvSpPr/>
          <p:nvPr/>
        </p:nvSpPr>
        <p:spPr>
          <a:xfrm>
            <a:off x="0" y="1425"/>
            <a:ext cx="12194400" cy="6863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18"/>
          <p:cNvGrpSpPr/>
          <p:nvPr/>
        </p:nvGrpSpPr>
        <p:grpSpPr>
          <a:xfrm>
            <a:off x="11503192" y="6266643"/>
            <a:ext cx="547839" cy="552553"/>
            <a:chOff x="11077575" y="194161"/>
            <a:chExt cx="488100" cy="492300"/>
          </a:xfrm>
        </p:grpSpPr>
        <p:pic>
          <p:nvPicPr>
            <p:cNvPr id="237" name="Google Shape;237;p18"/>
            <p:cNvPicPr preferRelativeResize="0"/>
            <p:nvPr/>
          </p:nvPicPr>
          <p:blipFill rotWithShape="1">
            <a:blip r:embed="rId6">
              <a:alphaModFix/>
            </a:blip>
            <a:srcRect r="10905" b="10913"/>
            <a:stretch/>
          </p:blipFill>
          <p:spPr>
            <a:xfrm>
              <a:off x="11077575" y="194161"/>
              <a:ext cx="488100" cy="49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8"/>
            <p:cNvPicPr preferRelativeResize="0"/>
            <p:nvPr/>
          </p:nvPicPr>
          <p:blipFill rotWithShape="1">
            <a:blip r:embed="rId7">
              <a:alphaModFix/>
            </a:blip>
            <a:srcRect t="53" r="10905" b="10955"/>
            <a:stretch/>
          </p:blipFill>
          <p:spPr>
            <a:xfrm>
              <a:off x="11209115" y="329943"/>
              <a:ext cx="225000" cy="22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" name="Google Shape;239;p18"/>
          <p:cNvGrpSpPr/>
          <p:nvPr/>
        </p:nvGrpSpPr>
        <p:grpSpPr>
          <a:xfrm>
            <a:off x="4038600" y="6356347"/>
            <a:ext cx="4114800" cy="365100"/>
            <a:chOff x="0" y="0"/>
            <a:chExt cx="4114800" cy="365100"/>
          </a:xfrm>
        </p:grpSpPr>
        <p:sp>
          <p:nvSpPr>
            <p:cNvPr id="240" name="Google Shape;240;p18"/>
            <p:cNvSpPr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" name="Google Shape;247;p19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248" name="Google Shape;248;p19"/>
            <p:cNvPicPr preferRelativeResize="0"/>
            <p:nvPr/>
          </p:nvPicPr>
          <p:blipFill rotWithShape="1">
            <a:blip r:embed="rId3">
              <a:alphaModFix/>
            </a:blip>
            <a:srcRect t="10" b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9"/>
            <p:cNvSpPr/>
            <p:nvPr/>
          </p:nvSpPr>
          <p:spPr>
            <a:xfrm rot="-5400000" flipH="1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sz="16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" name="Google Shape;251;p19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252" name="Google Shape;252;p19"/>
              <p:cNvPicPr preferRelativeResize="0"/>
              <p:nvPr/>
            </p:nvPicPr>
            <p:blipFill rotWithShape="1">
              <a:blip r:embed="rId4">
                <a:alphaModFix/>
              </a:blip>
              <a:srcRect r="-12372" b="-12372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3" name="Google Shape;253;p1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54" name="Google Shape;254;p19"/>
              <p:cNvPicPr preferRelativeResize="0"/>
              <p:nvPr/>
            </p:nvPicPr>
            <p:blipFill rotWithShape="1">
              <a:blip r:embed="rId5">
                <a:alphaModFix/>
              </a:blip>
              <a:srcRect t="76" r="-26263" b="-26163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5" name="Google Shape;255;p19"/>
          <p:cNvGrpSpPr/>
          <p:nvPr/>
        </p:nvGrpSpPr>
        <p:grpSpPr>
          <a:xfrm>
            <a:off x="476250" y="904875"/>
            <a:ext cx="11239500" cy="904800"/>
            <a:chOff x="0" y="0"/>
            <a:chExt cx="11239500" cy="904800"/>
          </a:xfrm>
        </p:grpSpPr>
        <p:sp>
          <p:nvSpPr>
            <p:cNvPr id="256" name="Google Shape;256;p19"/>
            <p:cNvSpPr/>
            <p:nvPr/>
          </p:nvSpPr>
          <p:spPr>
            <a:xfrm>
              <a:off x="0" y="0"/>
              <a:ext cx="112395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0" y="0"/>
              <a:ext cx="1123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AXI4-Lite Handshake &amp; Stall Compliance</a:t>
              </a:r>
              <a:endParaRPr sz="28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80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ensures strict protocol compliance across independent channel handshakes</a:t>
              </a:r>
              <a:endPara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476250" y="1952625"/>
            <a:ext cx="5429400" cy="4000500"/>
            <a:chOff x="0" y="0"/>
            <a:chExt cx="5429400" cy="40005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5429400" cy="4000500"/>
            </a:xfrm>
            <a:prstGeom prst="roundRect">
              <a:avLst>
                <a:gd name="adj" fmla="val 2856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Channel Protocol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1" name="Google Shape;261;p1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2" name="Google Shape;262;p19"/>
            <p:cNvSpPr txBox="1"/>
            <p:nvPr/>
          </p:nvSpPr>
          <p:spPr>
            <a:xfrm>
              <a:off x="285750" y="809625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9525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Out-of-Order Arrival: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Verifies independent handshake performance and correct out-of-order arrival of Write Address (AW) and Write Data (W).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Internal Write Enable: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Monitors internal write enables to ensure they pulse for exactly one cycle only when both AW and W handshakes complete.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BVALID Stall Rules: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Verifies BVALID remains high until BREADY is asserted, guaranteeing correct handshake response and proper channel stall handling.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6286500" y="1952625"/>
            <a:ext cx="5429400" cy="4000500"/>
            <a:chOff x="0" y="0"/>
            <a:chExt cx="5429400" cy="4000500"/>
          </a:xfrm>
        </p:grpSpPr>
        <p:sp>
          <p:nvSpPr>
            <p:cNvPr id="264" name="Google Shape;264;p19"/>
            <p:cNvSpPr/>
            <p:nvPr/>
          </p:nvSpPr>
          <p:spPr>
            <a:xfrm>
              <a:off x="0" y="0"/>
              <a:ext cx="5429400" cy="4000500"/>
            </a:xfrm>
            <a:prstGeom prst="roundRect">
              <a:avLst>
                <a:gd name="adj" fmla="val 2856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Channel Protocol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6" name="Google Shape;266;p1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7" name="Google Shape;267;p19"/>
            <p:cNvSpPr txBox="1"/>
            <p:nvPr/>
          </p:nvSpPr>
          <p:spPr>
            <a:xfrm>
              <a:off x="285750" y="809625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9525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AR Handshake Check: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Ensures proper Read Address (AR) handshakes are executed cleanly as the first stage of any read transaction.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RVALID/RDATA Delay: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Verifies proper sequence and checks the correct delay relationship between the AR handshake and subsequent RVALID/RDATA output.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lang="en" sz="1600" b="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 </a:t>
              </a: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Response Validation: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Evaluates and validates read transaction data responses directly against the established OKAY standard.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1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269" name="Google Shape;269;p19"/>
            <p:cNvSpPr/>
            <p:nvPr/>
          </p:nvSpPr>
          <p:spPr>
            <a:xfrm>
              <a:off x="0" y="1425"/>
              <a:ext cx="12194400" cy="6863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9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271" name="Google Shape;271;p19"/>
              <p:cNvPicPr preferRelativeResize="0"/>
              <p:nvPr/>
            </p:nvPicPr>
            <p:blipFill rotWithShape="1">
              <a:blip r:embed="rId6">
                <a:alphaModFix/>
              </a:blip>
              <a:srcRect r="10905" b="10913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" name="Google Shape;272;p19"/>
              <p:cNvPicPr preferRelativeResize="0"/>
              <p:nvPr/>
            </p:nvPicPr>
            <p:blipFill rotWithShape="1">
              <a:blip r:embed="rId7">
                <a:alphaModFix/>
              </a:blip>
              <a:srcRect t="53" r="10905" b="10955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3" name="Google Shape;273;p19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45700" rIns="91400" bIns="457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 i="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sz="1200" b="0" i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0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0" y="0"/>
            <a:ext cx="12192000" cy="6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/>
          <p:nvPr/>
        </p:nvSpPr>
        <p:spPr>
          <a:xfrm>
            <a:off x="0" y="628650"/>
            <a:ext cx="1219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20"/>
          <p:cNvGrpSpPr/>
          <p:nvPr/>
        </p:nvGrpSpPr>
        <p:grpSpPr>
          <a:xfrm>
            <a:off x="4477020" y="263617"/>
            <a:ext cx="3238090" cy="721088"/>
            <a:chOff x="4276725" y="109041"/>
            <a:chExt cx="3638700" cy="810300"/>
          </a:xfrm>
        </p:grpSpPr>
        <p:pic>
          <p:nvPicPr>
            <p:cNvPr id="284" name="Google Shape;284;p20"/>
            <p:cNvPicPr preferRelativeResize="0"/>
            <p:nvPr/>
          </p:nvPicPr>
          <p:blipFill rotWithShape="1">
            <a:blip r:embed="rId4">
              <a:alphaModFix/>
            </a:blip>
            <a:srcRect r="-12372" b="-12372"/>
            <a:stretch/>
          </p:blipFill>
          <p:spPr>
            <a:xfrm>
              <a:off x="4276725" y="152400"/>
              <a:ext cx="3638700" cy="72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0"/>
            <p:cNvSpPr/>
            <p:nvPr/>
          </p:nvSpPr>
          <p:spPr>
            <a:xfrm>
              <a:off x="4345591" y="214327"/>
              <a:ext cx="3500700" cy="600600"/>
            </a:xfrm>
            <a:prstGeom prst="roundRect">
              <a:avLst>
                <a:gd name="adj" fmla="val 3959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0"/>
            <p:cNvPicPr preferRelativeResize="0"/>
            <p:nvPr/>
          </p:nvPicPr>
          <p:blipFill rotWithShape="1">
            <a:blip r:embed="rId5">
              <a:alphaModFix/>
            </a:blip>
            <a:srcRect t="76" r="-26263" b="-26163"/>
            <a:stretch/>
          </p:blipFill>
          <p:spPr>
            <a:xfrm>
              <a:off x="5604843" y="109041"/>
              <a:ext cx="979500" cy="810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0"/>
          <p:cNvSpPr txBox="1"/>
          <p:nvPr/>
        </p:nvSpPr>
        <p:spPr>
          <a:xfrm>
            <a:off x="571500" y="904875"/>
            <a:ext cx="11049000" cy="10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Multi-Tiered Verification Strategy</a:t>
            </a:r>
            <a:endParaRPr sz="3000" b="1" i="0" u="none" strike="noStrike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8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robust functional and protocol coverage.</a:t>
            </a:r>
            <a:endParaRPr sz="18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8" name="Google Shape;288;p20"/>
          <p:cNvGrpSpPr/>
          <p:nvPr/>
        </p:nvGrpSpPr>
        <p:grpSpPr>
          <a:xfrm>
            <a:off x="571500" y="2190750"/>
            <a:ext cx="5334000" cy="1666800"/>
            <a:chOff x="0" y="0"/>
            <a:chExt cx="5334000" cy="1666800"/>
          </a:xfrm>
        </p:grpSpPr>
        <p:sp>
          <p:nvSpPr>
            <p:cNvPr id="289" name="Google Shape;289;p20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 u="none" strike="noStrike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600" b="1" i="0" u="none" strike="noStrike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 i="0" u="none" strike="noStrike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Directed Testing</a:t>
              </a:r>
              <a:endParaRPr sz="19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600" b="0" i="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Targets specific functional corner cases and basic bring-up scenarios.</a:t>
              </a:r>
              <a:endParaRPr sz="16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6286500" y="2190750"/>
            <a:ext cx="5334000" cy="1666800"/>
            <a:chOff x="0" y="0"/>
            <a:chExt cx="5334000" cy="1666800"/>
          </a:xfrm>
        </p:grpSpPr>
        <p:sp>
          <p:nvSpPr>
            <p:cNvPr id="295" name="Google Shape;295;p20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0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 u="none" strike="noStrike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600" b="1" i="0" u="none" strike="noStrike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 i="0" u="none" strike="noStrike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Constrained Random</a:t>
              </a:r>
              <a:endParaRPr sz="19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600" b="0" i="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Generates randomized operands, addresses, byte enables, and bus stall conditions to find unexpected edge cases.</a:t>
              </a:r>
              <a:endParaRPr sz="16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571500" y="4048125"/>
            <a:ext cx="5334000" cy="1666800"/>
            <a:chOff x="0" y="0"/>
            <a:chExt cx="5334000" cy="1666800"/>
          </a:xfrm>
        </p:grpSpPr>
        <p:sp>
          <p:nvSpPr>
            <p:cNvPr id="301" name="Google Shape;301;p20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 u="none" strike="noStrike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600" b="1" i="0" u="none" strike="noStrike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 i="0" u="none" strike="noStrike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Assertions (ABV)</a:t>
              </a:r>
              <a:endParaRPr sz="19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600" b="0" i="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Utilizes SystemVerilog Assertions (SVA) to continuously monitor protocol handshakes.</a:t>
              </a:r>
              <a:endParaRPr sz="16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6" name="Google Shape;306;p20"/>
          <p:cNvGrpSpPr/>
          <p:nvPr/>
        </p:nvGrpSpPr>
        <p:grpSpPr>
          <a:xfrm>
            <a:off x="6286500" y="4048125"/>
            <a:ext cx="5334000" cy="1666800"/>
            <a:chOff x="0" y="0"/>
            <a:chExt cx="5334000" cy="1666800"/>
          </a:xfrm>
        </p:grpSpPr>
        <p:sp>
          <p:nvSpPr>
            <p:cNvPr id="307" name="Google Shape;307;p20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 u="none" strike="noStrike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600" b="1" i="0" u="none" strike="noStrike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 i="0" u="none" strike="noStrike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Scoreboard Model</a:t>
              </a:r>
              <a:endParaRPr sz="19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600" b="0" i="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Employs a reference predictor model (C/Python or SystemVerilog) to automatically verify ALU outputs against expected golden results.</a:t>
              </a:r>
              <a:endParaRPr sz="1600" b="1" i="0" u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" name="Google Shape;312;p20"/>
          <p:cNvGrpSpPr/>
          <p:nvPr/>
        </p:nvGrpSpPr>
        <p:grpSpPr>
          <a:xfrm>
            <a:off x="11503192" y="6266643"/>
            <a:ext cx="547839" cy="552553"/>
            <a:chOff x="11077575" y="194161"/>
            <a:chExt cx="488100" cy="492300"/>
          </a:xfrm>
        </p:grpSpPr>
        <p:pic>
          <p:nvPicPr>
            <p:cNvPr id="313" name="Google Shape;313;p20"/>
            <p:cNvPicPr preferRelativeResize="0"/>
            <p:nvPr/>
          </p:nvPicPr>
          <p:blipFill rotWithShape="1">
            <a:blip r:embed="rId6">
              <a:alphaModFix/>
            </a:blip>
            <a:srcRect r="10905" b="10913"/>
            <a:stretch/>
          </p:blipFill>
          <p:spPr>
            <a:xfrm>
              <a:off x="11077575" y="194161"/>
              <a:ext cx="488100" cy="49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0"/>
            <p:cNvPicPr preferRelativeResize="0"/>
            <p:nvPr/>
          </p:nvPicPr>
          <p:blipFill rotWithShape="1">
            <a:blip r:embed="rId7">
              <a:alphaModFix/>
            </a:blip>
            <a:srcRect t="53" r="10905" b="10955"/>
            <a:stretch/>
          </p:blipFill>
          <p:spPr>
            <a:xfrm>
              <a:off x="11209115" y="329943"/>
              <a:ext cx="225000" cy="22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20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sz="1200" b="0" i="0" u="none" strike="noStrik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0" y="1425"/>
            <a:ext cx="12194400" cy="6863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2" name="Google Shape;322;p21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21"/>
          <p:cNvGrpSpPr/>
          <p:nvPr/>
        </p:nvGrpSpPr>
        <p:grpSpPr>
          <a:xfrm>
            <a:off x="4477020" y="263617"/>
            <a:ext cx="3176567" cy="628170"/>
            <a:chOff x="4276725" y="109041"/>
            <a:chExt cx="3569566" cy="705886"/>
          </a:xfrm>
        </p:grpSpPr>
        <p:pic>
          <p:nvPicPr>
            <p:cNvPr id="325" name="Google Shape;325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76725" y="152400"/>
              <a:ext cx="3238200" cy="644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1"/>
            <p:cNvSpPr/>
            <p:nvPr/>
          </p:nvSpPr>
          <p:spPr>
            <a:xfrm>
              <a:off x="4345591" y="214327"/>
              <a:ext cx="3500700" cy="600600"/>
            </a:xfrm>
            <a:prstGeom prst="roundRect">
              <a:avLst>
                <a:gd name="adj" fmla="val 3959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7" name="Google Shape;327;p21"/>
            <p:cNvPicPr preferRelativeResize="0"/>
            <p:nvPr/>
          </p:nvPicPr>
          <p:blipFill rotWithShape="1">
            <a:blip r:embed="rId5">
              <a:alphaModFix/>
            </a:blip>
            <a:srcRect r="10"/>
            <a:stretch/>
          </p:blipFill>
          <p:spPr>
            <a:xfrm>
              <a:off x="5604843" y="109041"/>
              <a:ext cx="775800" cy="642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p21"/>
          <p:cNvSpPr txBox="1"/>
          <p:nvPr/>
        </p:nvSpPr>
        <p:spPr>
          <a:xfrm>
            <a:off x="476250" y="1000125"/>
            <a:ext cx="11239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Stimulus Matrix for Dual-Core IP Verification</a:t>
            </a:r>
            <a:endParaRPr sz="30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Targeting out-of-order transactions, handshake stalls, and invalid address accesses</a:t>
            </a:r>
            <a:endParaRPr sz="1800" b="0" i="1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9" name="Google Shape;329;p21"/>
          <p:cNvGrpSpPr/>
          <p:nvPr/>
        </p:nvGrpSpPr>
        <p:grpSpPr>
          <a:xfrm>
            <a:off x="476250" y="1857375"/>
            <a:ext cx="5429400" cy="4095900"/>
            <a:chOff x="0" y="0"/>
            <a:chExt cx="5429400" cy="4095900"/>
          </a:xfrm>
        </p:grpSpPr>
        <p:sp>
          <p:nvSpPr>
            <p:cNvPr id="330" name="Google Shape;330;p21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 Test Suite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2" name="Google Shape;332;p21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1"/>
            <p:cNvSpPr txBox="1"/>
            <p:nvPr/>
          </p:nvSpPr>
          <p:spPr>
            <a:xfrm>
              <a:off x="285750" y="762000"/>
              <a:ext cx="4857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Transaction Ordering: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Stressing AW arriving before W, W arriving before AW, and simultaneous arrivals.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13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Interface Stalls: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Injecting randomized BVALID and RVALID stalls to challenge interface robustness.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13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Back-to-Back Operations: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Verifying back-to-back read and write transaction sequences under load.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6286500" y="1857375"/>
            <a:ext cx="5429400" cy="4095900"/>
            <a:chOff x="0" y="0"/>
            <a:chExt cx="5429400" cy="4095900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axi_register_bank Test Suite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7" name="Google Shape;337;p21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8" name="Google Shape;338;p21"/>
            <p:cNvSpPr txBox="1"/>
            <p:nvPr/>
          </p:nvSpPr>
          <p:spPr>
            <a:xfrm>
              <a:off x="285750" y="762000"/>
              <a:ext cx="4857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Register Access: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Validating basic write and read access behavior for operands and opcodes.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10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Byte Masking: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Verifying byte enable masking functionality on partial register writes.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10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Handshake Protocols: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Triggering start pulses while monitoring busy, done, and error states.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10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Invalid Accesses:</a:t>
              </a: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Actively executing out-of-bounds and invalid address accesses to ensure proper error recovery.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11503192" y="6266643"/>
            <a:ext cx="614845" cy="620233"/>
            <a:chOff x="11077575" y="194161"/>
            <a:chExt cx="547800" cy="552600"/>
          </a:xfrm>
        </p:grpSpPr>
        <p:pic>
          <p:nvPicPr>
            <p:cNvPr id="340" name="Google Shape;340;p21"/>
            <p:cNvPicPr preferRelativeResize="0"/>
            <p:nvPr/>
          </p:nvPicPr>
          <p:blipFill rotWithShape="1">
            <a:blip r:embed="rId6">
              <a:alphaModFix/>
            </a:blip>
            <a:srcRect b="10"/>
            <a:stretch/>
          </p:blipFill>
          <p:spPr>
            <a:xfrm>
              <a:off x="11077575" y="194161"/>
              <a:ext cx="547800" cy="5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1"/>
            <p:cNvPicPr preferRelativeResize="0"/>
            <p:nvPr/>
          </p:nvPicPr>
          <p:blipFill rotWithShape="1">
            <a:blip r:embed="rId7">
              <a:alphaModFix/>
            </a:blip>
            <a:srcRect t="60" b="60"/>
            <a:stretch/>
          </p:blipFill>
          <p:spPr>
            <a:xfrm>
              <a:off x="11209115" y="329943"/>
              <a:ext cx="252600" cy="247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21"/>
          <p:cNvGrpSpPr/>
          <p:nvPr/>
        </p:nvGrpSpPr>
        <p:grpSpPr>
          <a:xfrm>
            <a:off x="4038600" y="6356347"/>
            <a:ext cx="4114800" cy="365100"/>
            <a:chOff x="0" y="0"/>
            <a:chExt cx="4114800" cy="365100"/>
          </a:xfrm>
        </p:grpSpPr>
        <p:sp>
          <p:nvSpPr>
            <p:cNvPr id="343" name="Google Shape;343;p21"/>
            <p:cNvSpPr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22"/>
          <p:cNvGrpSpPr/>
          <p:nvPr/>
        </p:nvGrpSpPr>
        <p:grpSpPr>
          <a:xfrm>
            <a:off x="-4762" y="-6"/>
            <a:ext cx="12197919" cy="905154"/>
            <a:chOff x="-4762" y="-6"/>
            <a:chExt cx="12197919" cy="905154"/>
          </a:xfrm>
        </p:grpSpPr>
        <p:pic>
          <p:nvPicPr>
            <p:cNvPr id="351" name="Google Shape;351;p22"/>
            <p:cNvPicPr preferRelativeResize="0"/>
            <p:nvPr/>
          </p:nvPicPr>
          <p:blipFill rotWithShape="1">
            <a:blip r:embed="rId3">
              <a:alphaModFix/>
            </a:blip>
            <a:srcRect t="10" b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2"/>
            <p:cNvSpPr/>
            <p:nvPr/>
          </p:nvSpPr>
          <p:spPr>
            <a:xfrm rot="-5400000" flipH="1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22"/>
            <p:cNvGrpSpPr/>
            <p:nvPr/>
          </p:nvGrpSpPr>
          <p:grpSpPr>
            <a:xfrm>
              <a:off x="671150" y="166581"/>
              <a:ext cx="6982438" cy="738567"/>
              <a:chOff x="0" y="0"/>
              <a:chExt cx="7846291" cy="829941"/>
            </a:xfrm>
          </p:grpSpPr>
          <p:pic>
            <p:nvPicPr>
              <p:cNvPr id="355" name="Google Shape;355;p22"/>
              <p:cNvPicPr preferRelativeResize="0"/>
              <p:nvPr/>
            </p:nvPicPr>
            <p:blipFill rotWithShape="1">
              <a:blip r:embed="rId4">
                <a:alphaModFix/>
              </a:blip>
              <a:srcRect l="-132071" t="-23654" r="119699" b="11282"/>
              <a:stretch/>
            </p:blipFill>
            <p:spPr>
              <a:xfrm>
                <a:off x="0" y="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p2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57" name="Google Shape;357;p22"/>
              <p:cNvPicPr preferRelativeResize="0"/>
              <p:nvPr/>
            </p:nvPicPr>
            <p:blipFill rotWithShape="1">
              <a:blip r:embed="rId5">
                <a:alphaModFix/>
              </a:blip>
              <a:srcRect r="-12385" b="-12183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58" name="Google Shape;358;p22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Functional Coverage Plan</a:t>
            </a:r>
            <a:endParaRPr sz="30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80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operational states, transaction stalls, and critical protocol crosses</a:t>
            </a:r>
            <a:endParaRPr sz="1800" b="0" i="1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9" name="Google Shape;359;p22"/>
          <p:cNvGrpSpPr/>
          <p:nvPr/>
        </p:nvGrpSpPr>
        <p:grpSpPr>
          <a:xfrm>
            <a:off x="523875" y="1857375"/>
            <a:ext cx="2571900" cy="4095900"/>
            <a:chOff x="0" y="0"/>
            <a:chExt cx="2571900" cy="4095900"/>
          </a:xfrm>
        </p:grpSpPr>
        <p:sp>
          <p:nvSpPr>
            <p:cNvPr id="360" name="Google Shape;360;p22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1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7"/>
                  </a:moveTo>
                  <a:cubicBezTo>
                    <a:pt x="0" y="12824"/>
                    <a:pt x="374" y="8385"/>
                    <a:pt x="1040" y="5115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5"/>
                  </a:cubicBezTo>
                  <a:cubicBezTo>
                    <a:pt x="119625" y="8385"/>
                    <a:pt x="120000" y="12824"/>
                    <a:pt x="120000" y="1745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Opcode Coverpoints</a:t>
              </a:r>
              <a:endPara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2"/>
            <p:cNvSpPr txBox="1"/>
            <p:nvPr/>
          </p:nvSpPr>
          <p:spPr>
            <a:xfrm>
              <a:off x="142875" y="714375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Types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ADD / SUB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Standard math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MUL / DIV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Complex math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Illegal Instructions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Invalid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Error handling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22"/>
          <p:cNvGrpSpPr/>
          <p:nvPr/>
        </p:nvGrpSpPr>
        <p:grpSpPr>
          <a:xfrm>
            <a:off x="3333750" y="1857375"/>
            <a:ext cx="2571900" cy="4095900"/>
            <a:chOff x="0" y="0"/>
            <a:chExt cx="2571900" cy="4095900"/>
          </a:xfrm>
        </p:grpSpPr>
        <p:sp>
          <p:nvSpPr>
            <p:cNvPr id="365" name="Google Shape;365;p22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1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7"/>
                  </a:moveTo>
                  <a:cubicBezTo>
                    <a:pt x="0" y="12824"/>
                    <a:pt x="374" y="8385"/>
                    <a:pt x="1040" y="5115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5"/>
                  </a:cubicBezTo>
                  <a:cubicBezTo>
                    <a:pt x="119625" y="8385"/>
                    <a:pt x="120000" y="12824"/>
                    <a:pt x="120000" y="1745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Operand &amp; Byte Enables</a:t>
              </a:r>
              <a:endPara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142875" y="714375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Classes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Zero / One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Boundary inputs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Max / Random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Extreme ranges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Byte Enables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0000 / 1111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Null and full writes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Single / Mixed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Partial strobe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22"/>
          <p:cNvGrpSpPr/>
          <p:nvPr/>
        </p:nvGrpSpPr>
        <p:grpSpPr>
          <a:xfrm>
            <a:off x="6143625" y="1857375"/>
            <a:ext cx="2571900" cy="4095900"/>
            <a:chOff x="0" y="0"/>
            <a:chExt cx="2571900" cy="4095900"/>
          </a:xfrm>
        </p:grpSpPr>
        <p:sp>
          <p:nvSpPr>
            <p:cNvPr id="370" name="Google Shape;370;p22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1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7"/>
                  </a:moveTo>
                  <a:cubicBezTo>
                    <a:pt x="0" y="12824"/>
                    <a:pt x="374" y="8385"/>
                    <a:pt x="1040" y="5115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5"/>
                  </a:cubicBezTo>
                  <a:cubicBezTo>
                    <a:pt x="119625" y="8385"/>
                    <a:pt x="120000" y="12824"/>
                    <a:pt x="120000" y="1745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Protocol &amp; Stall Types</a:t>
              </a:r>
              <a:endPara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142875" y="714375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Ordering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AW / W First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Phase skew timing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Simultaneous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Concurrent phases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Stall Types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B/R Channel Stalls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Backpressure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Handshake Delay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Dynamic stalls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22"/>
          <p:cNvGrpSpPr/>
          <p:nvPr/>
        </p:nvGrpSpPr>
        <p:grpSpPr>
          <a:xfrm>
            <a:off x="8953500" y="1857375"/>
            <a:ext cx="2571900" cy="4095900"/>
            <a:chOff x="0" y="0"/>
            <a:chExt cx="2571900" cy="4095900"/>
          </a:xfrm>
        </p:grpSpPr>
        <p:sp>
          <p:nvSpPr>
            <p:cNvPr id="375" name="Google Shape;375;p22"/>
            <p:cNvSpPr/>
            <p:nvPr/>
          </p:nvSpPr>
          <p:spPr>
            <a:xfrm>
              <a:off x="0" y="0"/>
              <a:ext cx="2571900" cy="4095900"/>
            </a:xfrm>
            <a:prstGeom prst="roundRect">
              <a:avLst>
                <a:gd name="adj" fmla="val 2961"/>
              </a:avLst>
            </a:prstGeom>
            <a:solidFill>
              <a:srgbClr val="FFFFFF"/>
            </a:solidFill>
            <a:ln w="238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0" y="0"/>
              <a:ext cx="2571900" cy="523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7457"/>
                  </a:moveTo>
                  <a:cubicBezTo>
                    <a:pt x="0" y="12824"/>
                    <a:pt x="374" y="8385"/>
                    <a:pt x="1040" y="5115"/>
                  </a:cubicBezTo>
                  <a:cubicBezTo>
                    <a:pt x="1708" y="1838"/>
                    <a:pt x="2613" y="0"/>
                    <a:pt x="3557" y="0"/>
                  </a:cubicBezTo>
                  <a:lnTo>
                    <a:pt x="116443" y="0"/>
                  </a:lnTo>
                  <a:cubicBezTo>
                    <a:pt x="117387" y="0"/>
                    <a:pt x="118292" y="1838"/>
                    <a:pt x="118958" y="5115"/>
                  </a:cubicBezTo>
                  <a:cubicBezTo>
                    <a:pt x="119625" y="8385"/>
                    <a:pt x="120000" y="12824"/>
                    <a:pt x="120000" y="1745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0" y="0"/>
              <a:ext cx="25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Critical Cross Coverage</a:t>
              </a:r>
              <a:endPara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142875" y="714375"/>
              <a:ext cx="2286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 Relations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Opcode × Error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Exception modes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Address × Byte En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Alignment cases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Write Order × Stall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: Phase delay sync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Goal</a:t>
              </a:r>
              <a:endParaRPr sz="13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20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" sz="120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Ensure complex, deep corner cases are validated</a:t>
              </a:r>
              <a:endParaRPr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2"/>
          <p:cNvSpPr/>
          <p:nvPr/>
        </p:nvSpPr>
        <p:spPr>
          <a:xfrm>
            <a:off x="0" y="0"/>
            <a:ext cx="12194400" cy="6863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22"/>
          <p:cNvGrpSpPr/>
          <p:nvPr/>
        </p:nvGrpSpPr>
        <p:grpSpPr>
          <a:xfrm>
            <a:off x="-930168" y="6048718"/>
            <a:ext cx="547839" cy="552553"/>
            <a:chOff x="0" y="0"/>
            <a:chExt cx="488100" cy="492300"/>
          </a:xfrm>
        </p:grpSpPr>
        <p:pic>
          <p:nvPicPr>
            <p:cNvPr id="381" name="Google Shape;381;p22"/>
            <p:cNvPicPr preferRelativeResize="0"/>
            <p:nvPr/>
          </p:nvPicPr>
          <p:blipFill rotWithShape="1">
            <a:blip r:embed="rId6">
              <a:alphaModFix/>
            </a:blip>
            <a:srcRect l="-2022033" t="-35136" r="2032938" b="46049"/>
            <a:stretch/>
          </p:blipFill>
          <p:spPr>
            <a:xfrm>
              <a:off x="0" y="0"/>
              <a:ext cx="488100" cy="49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22"/>
            <p:cNvPicPr preferRelativeResize="0"/>
            <p:nvPr/>
          </p:nvPicPr>
          <p:blipFill rotWithShape="1">
            <a:blip r:embed="rId7">
              <a:alphaModFix/>
            </a:blip>
            <a:srcRect l="-4438569" t="-133256" r="4449474" b="144264"/>
            <a:stretch/>
          </p:blipFill>
          <p:spPr>
            <a:xfrm>
              <a:off x="0" y="0"/>
              <a:ext cx="225000" cy="22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3" name="Google Shape;383;p22"/>
          <p:cNvGrpSpPr/>
          <p:nvPr/>
        </p:nvGrpSpPr>
        <p:grpSpPr>
          <a:xfrm>
            <a:off x="4038600" y="6356347"/>
            <a:ext cx="4114800" cy="365100"/>
            <a:chOff x="0" y="0"/>
            <a:chExt cx="4114800" cy="365100"/>
          </a:xfrm>
        </p:grpSpPr>
        <p:sp>
          <p:nvSpPr>
            <p:cNvPr id="384" name="Google Shape;384;p22"/>
            <p:cNvSpPr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3"/>
          <p:cNvPicPr preferRelativeResize="0"/>
          <p:nvPr/>
        </p:nvPicPr>
        <p:blipFill rotWithShape="1">
          <a:blip r:embed="rId4">
            <a:alphaModFix/>
          </a:blip>
          <a:srcRect t="10" b="10"/>
          <a:stretch/>
        </p:blipFill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4477020" y="263617"/>
            <a:ext cx="3238090" cy="721088"/>
            <a:chOff x="4276725" y="109041"/>
            <a:chExt cx="3638700" cy="810300"/>
          </a:xfrm>
        </p:grpSpPr>
        <p:pic>
          <p:nvPicPr>
            <p:cNvPr id="393" name="Google Shape;393;p23"/>
            <p:cNvPicPr preferRelativeResize="0"/>
            <p:nvPr/>
          </p:nvPicPr>
          <p:blipFill rotWithShape="1">
            <a:blip r:embed="rId5">
              <a:alphaModFix/>
            </a:blip>
            <a:srcRect r="-12372" b="-12372"/>
            <a:stretch/>
          </p:blipFill>
          <p:spPr>
            <a:xfrm>
              <a:off x="4276725" y="152400"/>
              <a:ext cx="3638700" cy="72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23"/>
            <p:cNvSpPr/>
            <p:nvPr/>
          </p:nvSpPr>
          <p:spPr>
            <a:xfrm>
              <a:off x="4345591" y="214327"/>
              <a:ext cx="3500700" cy="600600"/>
            </a:xfrm>
            <a:prstGeom prst="roundRect">
              <a:avLst>
                <a:gd name="adj" fmla="val 3959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23"/>
            <p:cNvPicPr preferRelativeResize="0"/>
            <p:nvPr/>
          </p:nvPicPr>
          <p:blipFill rotWithShape="1">
            <a:blip r:embed="rId6">
              <a:alphaModFix/>
            </a:blip>
            <a:srcRect t="76" r="-26263" b="-26163"/>
            <a:stretch/>
          </p:blipFill>
          <p:spPr>
            <a:xfrm>
              <a:off x="5604843" y="109041"/>
              <a:ext cx="979500" cy="81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23"/>
          <p:cNvGrpSpPr/>
          <p:nvPr/>
        </p:nvGrpSpPr>
        <p:grpSpPr>
          <a:xfrm>
            <a:off x="11503192" y="6266643"/>
            <a:ext cx="547839" cy="552553"/>
            <a:chOff x="11077575" y="194161"/>
            <a:chExt cx="488100" cy="492300"/>
          </a:xfrm>
        </p:grpSpPr>
        <p:pic>
          <p:nvPicPr>
            <p:cNvPr id="397" name="Google Shape;397;p23"/>
            <p:cNvPicPr preferRelativeResize="0"/>
            <p:nvPr/>
          </p:nvPicPr>
          <p:blipFill rotWithShape="1">
            <a:blip r:embed="rId7">
              <a:alphaModFix/>
            </a:blip>
            <a:srcRect r="10905" b="10913"/>
            <a:stretch/>
          </p:blipFill>
          <p:spPr>
            <a:xfrm>
              <a:off x="11077575" y="194161"/>
              <a:ext cx="488100" cy="49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23"/>
            <p:cNvPicPr preferRelativeResize="0"/>
            <p:nvPr/>
          </p:nvPicPr>
          <p:blipFill rotWithShape="1">
            <a:blip r:embed="rId8">
              <a:alphaModFix/>
            </a:blip>
            <a:srcRect t="53" r="10905" b="10955"/>
            <a:stretch/>
          </p:blipFill>
          <p:spPr>
            <a:xfrm>
              <a:off x="11209115" y="329943"/>
              <a:ext cx="225000" cy="22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" name="Google Shape;399;p23"/>
          <p:cNvGrpSpPr/>
          <p:nvPr/>
        </p:nvGrpSpPr>
        <p:grpSpPr>
          <a:xfrm>
            <a:off x="4038600" y="6356347"/>
            <a:ext cx="4114800" cy="365100"/>
            <a:chOff x="0" y="0"/>
            <a:chExt cx="4114800" cy="365100"/>
          </a:xfrm>
        </p:grpSpPr>
        <p:sp>
          <p:nvSpPr>
            <p:cNvPr id="400" name="Google Shape;400;p23"/>
            <p:cNvSpPr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23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DUT strictly writes to registers only when both</a:t>
            </a:r>
            <a:endParaRPr sz="26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and data handshakes complete.</a:t>
            </a:r>
            <a:endParaRPr sz="2600" b="1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3" name="Google Shape;403;p23"/>
          <p:cNvGrpSpPr/>
          <p:nvPr/>
        </p:nvGrpSpPr>
        <p:grpSpPr>
          <a:xfrm>
            <a:off x="571500" y="1857375"/>
            <a:ext cx="11049000" cy="4286400"/>
            <a:chOff x="0" y="0"/>
            <a:chExt cx="11049000" cy="4286400"/>
          </a:xfrm>
        </p:grpSpPr>
        <p:sp>
          <p:nvSpPr>
            <p:cNvPr id="404" name="Google Shape;404;p23"/>
            <p:cNvSpPr/>
            <p:nvPr/>
          </p:nvSpPr>
          <p:spPr>
            <a:xfrm>
              <a:off x="0" y="0"/>
              <a:ext cx="11049000" cy="4286400"/>
            </a:xfrm>
            <a:prstGeom prst="roundRect">
              <a:avLst>
                <a:gd name="adj" fmla="val 2666"/>
              </a:avLst>
            </a:prstGeom>
            <a:solidFill>
              <a:srgbClr val="FFFFFF"/>
            </a:solidFill>
            <a:ln w="1905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 txBox="1"/>
            <p:nvPr/>
          </p:nvSpPr>
          <p:spPr>
            <a:xfrm>
              <a:off x="285750" y="190500"/>
              <a:ext cx="10477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Write Handshake Waveform (W before AW)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6" name="Google Shape;406;p23"/>
            <p:cNvCxnSpPr/>
            <p:nvPr/>
          </p:nvCxnSpPr>
          <p:spPr>
            <a:xfrm>
              <a:off x="285750" y="619125"/>
              <a:ext cx="10477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07" name="Google Shape;407;p23"/>
            <p:cNvGrpSpPr/>
            <p:nvPr/>
          </p:nvGrpSpPr>
          <p:grpSpPr>
            <a:xfrm>
              <a:off x="285750" y="809625"/>
              <a:ext cx="6858000" cy="3238500"/>
              <a:chOff x="285750" y="809625"/>
              <a:chExt cx="6858000" cy="3238500"/>
            </a:xfrm>
          </p:grpSpPr>
          <p:sp>
            <p:nvSpPr>
              <p:cNvPr id="408" name="Google Shape;408;p23"/>
              <p:cNvSpPr/>
              <p:nvPr/>
            </p:nvSpPr>
            <p:spPr>
              <a:xfrm>
                <a:off x="285750" y="809625"/>
                <a:ext cx="6858000" cy="3238500"/>
              </a:xfrm>
              <a:prstGeom prst="roundRect">
                <a:avLst>
                  <a:gd name="adj" fmla="val 1764"/>
                </a:avLst>
              </a:prstGeom>
              <a:solidFill>
                <a:srgbClr val="FAFDFB"/>
              </a:solidFill>
              <a:ln w="9525" cap="flat" cmpd="sng">
                <a:solidFill>
                  <a:srgbClr val="E6F4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09" name="Google Shape;409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519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0" name="Google Shape;410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281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1" name="Google Shape;411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3043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2" name="Google Shape;412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3805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3" name="Google Shape;413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567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4" name="Google Shape;414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329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" name="Google Shape;415;p2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091238" y="1095375"/>
                <a:ext cx="96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6" name="Google Shape;416;p23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800475" y="1095375"/>
                <a:ext cx="192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7" name="Google Shape;417;p23"/>
              <p:cNvSpPr txBox="1"/>
              <p:nvPr/>
            </p:nvSpPr>
            <p:spPr>
              <a:xfrm>
                <a:off x="3429000" y="8763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W Handshake</a:t>
                </a:r>
                <a:endParaRPr sz="85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8" name="Google Shape;418;p23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4562475" y="1095375"/>
                <a:ext cx="192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9" name="Google Shape;419;p23"/>
              <p:cNvSpPr txBox="1"/>
              <p:nvPr/>
            </p:nvSpPr>
            <p:spPr>
              <a:xfrm>
                <a:off x="4191000" y="8763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86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 Handshake</a:t>
                </a:r>
                <a:endParaRPr sz="786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0" name="Google Shape;420;p23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5324475" y="1095375"/>
                <a:ext cx="19200" cy="2714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" name="Google Shape;421;p23"/>
              <p:cNvSpPr/>
              <p:nvPr/>
            </p:nvSpPr>
            <p:spPr>
              <a:xfrm>
                <a:off x="4572000" y="2857500"/>
                <a:ext cx="762000" cy="190500"/>
              </a:xfrm>
              <a:prstGeom prst="rect">
                <a:avLst/>
              </a:prstGeom>
              <a:solidFill>
                <a:srgbClr val="E6F4F0">
                  <a:alpha val="7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3"/>
              <p:cNvSpPr txBox="1"/>
              <p:nvPr/>
            </p:nvSpPr>
            <p:spPr>
              <a:xfrm>
                <a:off x="4476750" y="3076575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Register Write</a:t>
                </a:r>
                <a:endParaRPr sz="85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3"/>
              <p:cNvSpPr txBox="1"/>
              <p:nvPr/>
            </p:nvSpPr>
            <p:spPr>
              <a:xfrm>
                <a:off x="1714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T0</a:t>
                </a:r>
                <a:endParaRPr sz="10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3"/>
              <p:cNvSpPr txBox="1"/>
              <p:nvPr/>
            </p:nvSpPr>
            <p:spPr>
              <a:xfrm>
                <a:off x="2476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T1</a:t>
                </a:r>
                <a:endParaRPr sz="10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3"/>
              <p:cNvSpPr txBox="1"/>
              <p:nvPr/>
            </p:nvSpPr>
            <p:spPr>
              <a:xfrm>
                <a:off x="3238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T2</a:t>
                </a:r>
                <a:endParaRPr sz="10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3"/>
              <p:cNvSpPr txBox="1"/>
              <p:nvPr/>
            </p:nvSpPr>
            <p:spPr>
              <a:xfrm>
                <a:off x="4000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T3</a:t>
                </a:r>
                <a:endParaRPr sz="10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3"/>
              <p:cNvSpPr txBox="1"/>
              <p:nvPr/>
            </p:nvSpPr>
            <p:spPr>
              <a:xfrm>
                <a:off x="4762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T4</a:t>
                </a:r>
                <a:endParaRPr sz="10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3"/>
              <p:cNvSpPr txBox="1"/>
              <p:nvPr/>
            </p:nvSpPr>
            <p:spPr>
              <a:xfrm>
                <a:off x="5524500" y="904875"/>
                <a:ext cx="38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T5</a:t>
                </a:r>
                <a:endParaRPr sz="10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9" name="Google Shape;429;p23"/>
              <p:cNvCxnSpPr/>
              <p:nvPr/>
            </p:nvCxnSpPr>
            <p:spPr>
              <a:xfrm>
                <a:off x="1524000" y="1381125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" name="Google Shape;430;p23"/>
              <p:cNvCxnSpPr/>
              <p:nvPr/>
            </p:nvCxnSpPr>
            <p:spPr>
              <a:xfrm>
                <a:off x="1524000" y="1714500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1" name="Google Shape;431;p23"/>
              <p:cNvCxnSpPr/>
              <p:nvPr/>
            </p:nvCxnSpPr>
            <p:spPr>
              <a:xfrm>
                <a:off x="1524000" y="2047875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23"/>
              <p:cNvCxnSpPr/>
              <p:nvPr/>
            </p:nvCxnSpPr>
            <p:spPr>
              <a:xfrm>
                <a:off x="1524000" y="2381250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3" name="Google Shape;433;p23"/>
              <p:cNvCxnSpPr/>
              <p:nvPr/>
            </p:nvCxnSpPr>
            <p:spPr>
              <a:xfrm>
                <a:off x="1524000" y="2714625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4" name="Google Shape;434;p23"/>
              <p:cNvCxnSpPr/>
              <p:nvPr/>
            </p:nvCxnSpPr>
            <p:spPr>
              <a:xfrm>
                <a:off x="1524000" y="3048000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5" name="Google Shape;435;p23"/>
              <p:cNvCxnSpPr/>
              <p:nvPr/>
            </p:nvCxnSpPr>
            <p:spPr>
              <a:xfrm>
                <a:off x="1524000" y="3381375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6" name="Google Shape;436;p23"/>
              <p:cNvCxnSpPr/>
              <p:nvPr/>
            </p:nvCxnSpPr>
            <p:spPr>
              <a:xfrm>
                <a:off x="1524000" y="3714750"/>
                <a:ext cx="4572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0F0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7" name="Google Shape;437;p23"/>
              <p:cNvSpPr txBox="1"/>
              <p:nvPr/>
            </p:nvSpPr>
            <p:spPr>
              <a:xfrm>
                <a:off x="428625" y="119062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CLK</a:t>
                </a:r>
                <a:endParaRPr sz="11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3"/>
              <p:cNvSpPr txBox="1"/>
              <p:nvPr/>
            </p:nvSpPr>
            <p:spPr>
              <a:xfrm>
                <a:off x="428625" y="15240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AWVALID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3"/>
              <p:cNvSpPr txBox="1"/>
              <p:nvPr/>
            </p:nvSpPr>
            <p:spPr>
              <a:xfrm>
                <a:off x="428625" y="185737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AWREADY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3"/>
              <p:cNvSpPr txBox="1"/>
              <p:nvPr/>
            </p:nvSpPr>
            <p:spPr>
              <a:xfrm>
                <a:off x="428625" y="219075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WVALID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3"/>
              <p:cNvSpPr txBox="1"/>
              <p:nvPr/>
            </p:nvSpPr>
            <p:spPr>
              <a:xfrm>
                <a:off x="428625" y="252412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WREADY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3"/>
              <p:cNvSpPr txBox="1"/>
              <p:nvPr/>
            </p:nvSpPr>
            <p:spPr>
              <a:xfrm>
                <a:off x="428625" y="28575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50" b="1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wr_en</a:t>
                </a:r>
                <a:endParaRPr sz="1150" b="1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3"/>
              <p:cNvSpPr txBox="1"/>
              <p:nvPr/>
            </p:nvSpPr>
            <p:spPr>
              <a:xfrm>
                <a:off x="428625" y="319087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BVALID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3"/>
              <p:cNvSpPr txBox="1"/>
              <p:nvPr/>
            </p:nvSpPr>
            <p:spPr>
              <a:xfrm>
                <a:off x="428625" y="352425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BREADY</a:t>
                </a:r>
                <a:endParaRPr sz="11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3"/>
              <p:cNvSpPr/>
              <p:nvPr/>
            </p:nvSpPr>
            <p:spPr>
              <a:xfrm>
                <a:off x="1524000" y="1190625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10000" y="120000"/>
                    </a:lnTo>
                    <a:lnTo>
                      <a:pt x="10000" y="0"/>
                    </a:lnTo>
                    <a:lnTo>
                      <a:pt x="20000" y="0"/>
                    </a:lnTo>
                    <a:lnTo>
                      <a:pt x="20000" y="120000"/>
                    </a:lnTo>
                    <a:lnTo>
                      <a:pt x="30000" y="120000"/>
                    </a:lnTo>
                    <a:lnTo>
                      <a:pt x="30000" y="0"/>
                    </a:lnTo>
                    <a:lnTo>
                      <a:pt x="40000" y="0"/>
                    </a:lnTo>
                    <a:lnTo>
                      <a:pt x="40000" y="120000"/>
                    </a:lnTo>
                    <a:lnTo>
                      <a:pt x="50000" y="120000"/>
                    </a:lnTo>
                    <a:lnTo>
                      <a:pt x="50000" y="0"/>
                    </a:lnTo>
                    <a:lnTo>
                      <a:pt x="60000" y="0"/>
                    </a:lnTo>
                    <a:lnTo>
                      <a:pt x="60000" y="120000"/>
                    </a:lnTo>
                    <a:lnTo>
                      <a:pt x="70000" y="120000"/>
                    </a:lnTo>
                    <a:lnTo>
                      <a:pt x="70000" y="0"/>
                    </a:lnTo>
                    <a:lnTo>
                      <a:pt x="80000" y="0"/>
                    </a:lnTo>
                    <a:lnTo>
                      <a:pt x="80000" y="120000"/>
                    </a:lnTo>
                    <a:lnTo>
                      <a:pt x="90000" y="120000"/>
                    </a:lnTo>
                    <a:lnTo>
                      <a:pt x="90000" y="0"/>
                    </a:lnTo>
                    <a:lnTo>
                      <a:pt x="100000" y="0"/>
                    </a:lnTo>
                    <a:lnTo>
                      <a:pt x="100000" y="120000"/>
                    </a:lnTo>
                    <a:lnTo>
                      <a:pt x="110000" y="120000"/>
                    </a:lnTo>
                    <a:lnTo>
                      <a:pt x="110000" y="0"/>
                    </a:lnTo>
                    <a:lnTo>
                      <a:pt x="120000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888888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3"/>
              <p:cNvSpPr/>
              <p:nvPr/>
            </p:nvSpPr>
            <p:spPr>
              <a:xfrm>
                <a:off x="1524000" y="1524000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120000"/>
                    </a:lnTo>
                    <a:lnTo>
                      <a:pt x="60000" y="0"/>
                    </a:lnTo>
                    <a:lnTo>
                      <a:pt x="80000" y="0"/>
                    </a:lnTo>
                    <a:lnTo>
                      <a:pt x="8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3"/>
              <p:cNvSpPr/>
              <p:nvPr/>
            </p:nvSpPr>
            <p:spPr>
              <a:xfrm>
                <a:off x="1524000" y="1857375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120000"/>
                    </a:lnTo>
                    <a:lnTo>
                      <a:pt x="60000" y="0"/>
                    </a:lnTo>
                    <a:lnTo>
                      <a:pt x="80000" y="0"/>
                    </a:lnTo>
                    <a:lnTo>
                      <a:pt x="8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3"/>
              <p:cNvSpPr/>
              <p:nvPr/>
            </p:nvSpPr>
            <p:spPr>
              <a:xfrm>
                <a:off x="1524000" y="2190750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20000" y="120000"/>
                    </a:lnTo>
                    <a:lnTo>
                      <a:pt x="20000" y="0"/>
                    </a:lnTo>
                    <a:lnTo>
                      <a:pt x="60000" y="0"/>
                    </a:lnTo>
                    <a:lnTo>
                      <a:pt x="6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3"/>
              <p:cNvSpPr/>
              <p:nvPr/>
            </p:nvSpPr>
            <p:spPr>
              <a:xfrm>
                <a:off x="1524000" y="2524125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40000" y="120000"/>
                    </a:lnTo>
                    <a:lnTo>
                      <a:pt x="40000" y="0"/>
                    </a:lnTo>
                    <a:lnTo>
                      <a:pt x="60000" y="0"/>
                    </a:lnTo>
                    <a:lnTo>
                      <a:pt x="6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3"/>
              <p:cNvSpPr/>
              <p:nvPr/>
            </p:nvSpPr>
            <p:spPr>
              <a:xfrm>
                <a:off x="1524000" y="2857500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80000" y="120000"/>
                    </a:lnTo>
                    <a:lnTo>
                      <a:pt x="80000" y="0"/>
                    </a:lnTo>
                    <a:lnTo>
                      <a:pt x="100000" y="0"/>
                    </a:lnTo>
                    <a:lnTo>
                      <a:pt x="10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33350" cap="flat" cmpd="sng">
                <a:solidFill>
                  <a:srgbClr val="43B6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3"/>
              <p:cNvSpPr/>
              <p:nvPr/>
            </p:nvSpPr>
            <p:spPr>
              <a:xfrm>
                <a:off x="1524000" y="3190875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100000" y="120000"/>
                    </a:lnTo>
                    <a:lnTo>
                      <a:pt x="10000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3"/>
              <p:cNvSpPr/>
              <p:nvPr/>
            </p:nvSpPr>
            <p:spPr>
              <a:xfrm>
                <a:off x="1524000" y="3524250"/>
                <a:ext cx="457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20000" y="120000"/>
                    </a:lnTo>
                    <a:lnTo>
                      <a:pt x="2000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flat" cmpd="sng">
                <a:solidFill>
                  <a:srgbClr val="05624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53" name="Google Shape;453;p2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329488" y="809625"/>
              <a:ext cx="9600" cy="314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23"/>
            <p:cNvSpPr txBox="1"/>
            <p:nvPr/>
          </p:nvSpPr>
          <p:spPr>
            <a:xfrm>
              <a:off x="7572375" y="809625"/>
              <a:ext cx="31908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 Protocol Compliance</a:t>
              </a:r>
              <a:endParaRPr sz="18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The waveform highlights critical signals: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AWVALID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AWREADY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WVALID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WREADY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internal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wr_en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BVALID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, and 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BREADY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In this scenario, the write data (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) is presented first, but the internal write enable (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wr_en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) does not assert until the write address (</a:t>
              </a:r>
              <a:r>
                <a:rPr lang="en" sz="13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AW</a:t>
              </a: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) handshake also successfully completes.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This prevents premature write transactions and ensures robust data compliance with AMBA AXI protocols.</a:t>
              </a:r>
              <a:endParaRPr sz="130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4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460" name="Google Shape;460;p24"/>
            <p:cNvPicPr preferRelativeResize="0"/>
            <p:nvPr/>
          </p:nvPicPr>
          <p:blipFill rotWithShape="1">
            <a:blip r:embed="rId4">
              <a:alphaModFix/>
            </a:blip>
            <a:srcRect t="10" b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24"/>
            <p:cNvSpPr/>
            <p:nvPr/>
          </p:nvSpPr>
          <p:spPr>
            <a:xfrm rot="-5400000" flipH="1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2" name="Google Shape;462;p24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463" name="Google Shape;463;p24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4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sz="160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24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466" name="Google Shape;466;p24"/>
              <p:cNvPicPr preferRelativeResize="0"/>
              <p:nvPr/>
            </p:nvPicPr>
            <p:blipFill rotWithShape="1">
              <a:blip r:embed="rId5">
                <a:alphaModFix/>
              </a:blip>
              <a:srcRect r="-12372" b="-12372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7" name="Google Shape;467;p2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name="adj" fmla="val 3959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68" name="Google Shape;468;p24"/>
              <p:cNvPicPr preferRelativeResize="0"/>
              <p:nvPr/>
            </p:nvPicPr>
            <p:blipFill rotWithShape="1">
              <a:blip r:embed="rId6">
                <a:alphaModFix/>
              </a:blip>
              <a:srcRect t="76" r="-26263" b="-26163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69" name="Google Shape;469;p24"/>
          <p:cNvGrpSpPr/>
          <p:nvPr/>
        </p:nvGrpSpPr>
        <p:grpSpPr>
          <a:xfrm>
            <a:off x="428625" y="1000125"/>
            <a:ext cx="11334900" cy="714300"/>
            <a:chOff x="0" y="0"/>
            <a:chExt cx="11334900" cy="714300"/>
          </a:xfrm>
        </p:grpSpPr>
        <p:sp>
          <p:nvSpPr>
            <p:cNvPr id="470" name="Google Shape;470;p24"/>
            <p:cNvSpPr/>
            <p:nvPr/>
          </p:nvSpPr>
          <p:spPr>
            <a:xfrm>
              <a:off x="0" y="0"/>
              <a:ext cx="11334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4"/>
            <p:cNvSpPr txBox="1"/>
            <p:nvPr/>
          </p:nvSpPr>
          <p:spPr>
            <a:xfrm>
              <a:off x="0" y="0"/>
              <a:ext cx="11334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Block-Level Verification Status</a:t>
              </a:r>
              <a:endParaRPr sz="25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3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core blocks executed and passing; top-level integration pending</a:t>
              </a:r>
              <a:endParaRPr sz="15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2" name="Google Shape;472;p24"/>
          <p:cNvGrpSpPr/>
          <p:nvPr/>
        </p:nvGrpSpPr>
        <p:grpSpPr>
          <a:xfrm>
            <a:off x="428625" y="1809750"/>
            <a:ext cx="5429400" cy="4095900"/>
            <a:chOff x="0" y="0"/>
            <a:chExt cx="5429400" cy="4095900"/>
          </a:xfrm>
        </p:grpSpPr>
        <p:sp>
          <p:nvSpPr>
            <p:cNvPr id="473" name="Google Shape;473;p24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254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Block-Level Achievements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75" name="Google Shape;475;p24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6" name="Google Shape;476;p24"/>
            <p:cNvSpPr txBox="1"/>
            <p:nvPr/>
          </p:nvSpPr>
          <p:spPr>
            <a:xfrm>
              <a:off x="285750" y="762000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9525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 primary block-level testbenches successfully executed and passing.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675"/>
                </a:spcBef>
                <a:spcAft>
                  <a:spcPts val="675"/>
                </a:spcAft>
                <a:buSzPts val="1400"/>
                <a:buChar char="●"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 initial functional and structural coverage reached on ALU and AXI slave modules.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" name="Google Shape;477;p24"/>
            <p:cNvGrpSpPr/>
            <p:nvPr/>
          </p:nvGrpSpPr>
          <p:grpSpPr>
            <a:xfrm>
              <a:off x="295275" y="2619375"/>
              <a:ext cx="4848375" cy="1047900"/>
              <a:chOff x="9525" y="-142875"/>
              <a:chExt cx="4848375" cy="1047900"/>
            </a:xfrm>
          </p:grpSpPr>
          <p:grpSp>
            <p:nvGrpSpPr>
              <p:cNvPr id="478" name="Google Shape;478;p24"/>
              <p:cNvGrpSpPr/>
              <p:nvPr/>
            </p:nvGrpSpPr>
            <p:grpSpPr>
              <a:xfrm>
                <a:off x="9525" y="0"/>
                <a:ext cx="1657350" cy="666900"/>
                <a:chOff x="9525" y="0"/>
                <a:chExt cx="1657350" cy="666900"/>
              </a:xfrm>
            </p:grpSpPr>
            <p:sp>
              <p:nvSpPr>
                <p:cNvPr id="479" name="Google Shape;479;p24"/>
                <p:cNvSpPr/>
                <p:nvPr/>
              </p:nvSpPr>
              <p:spPr>
                <a:xfrm>
                  <a:off x="47625" y="47625"/>
                  <a:ext cx="571500" cy="5715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E6F4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480" name="Google Shape;480;p24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9525" y="9525"/>
                  <a:ext cx="6477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1" name="Google Shape;481;p24"/>
                <p:cNvSpPr txBox="1"/>
                <p:nvPr/>
              </p:nvSpPr>
              <p:spPr>
                <a:xfrm>
                  <a:off x="47625" y="47625"/>
                  <a:ext cx="5715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98.5%</a:t>
                  </a:r>
                  <a:endParaRPr sz="12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24"/>
                <p:cNvSpPr txBox="1"/>
                <p:nvPr/>
              </p:nvSpPr>
              <p:spPr>
                <a:xfrm>
                  <a:off x="714375" y="0"/>
                  <a:ext cx="9525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5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Code</a:t>
                  </a:r>
                  <a:endParaRPr sz="15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50" b="0">
                      <a:solidFill>
                        <a:srgbClr val="88888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sz="1050" b="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3" name="Google Shape;483;p24"/>
              <p:cNvGrpSpPr/>
              <p:nvPr/>
            </p:nvGrpSpPr>
            <p:grpSpPr>
              <a:xfrm>
                <a:off x="1724025" y="0"/>
                <a:ext cx="1657350" cy="666900"/>
                <a:chOff x="9525" y="0"/>
                <a:chExt cx="1657350" cy="666900"/>
              </a:xfrm>
            </p:grpSpPr>
            <p:sp>
              <p:nvSpPr>
                <p:cNvPr id="484" name="Google Shape;484;p24"/>
                <p:cNvSpPr/>
                <p:nvPr/>
              </p:nvSpPr>
              <p:spPr>
                <a:xfrm>
                  <a:off x="47625" y="47625"/>
                  <a:ext cx="571500" cy="5715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E6F4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485" name="Google Shape;485;p24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9525" y="9525"/>
                  <a:ext cx="6477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6" name="Google Shape;486;p24"/>
                <p:cNvSpPr txBox="1"/>
                <p:nvPr/>
              </p:nvSpPr>
              <p:spPr>
                <a:xfrm>
                  <a:off x="47625" y="47625"/>
                  <a:ext cx="5715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solidFill>
                        <a:srgbClr val="0562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95.0%</a:t>
                  </a:r>
                  <a:endParaRPr sz="1200" b="1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24"/>
                <p:cNvSpPr txBox="1"/>
                <p:nvPr/>
              </p:nvSpPr>
              <p:spPr>
                <a:xfrm>
                  <a:off x="714375" y="0"/>
                  <a:ext cx="9525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5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Toggle</a:t>
                  </a:r>
                  <a:endParaRPr sz="15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50" b="0">
                      <a:solidFill>
                        <a:srgbClr val="88888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sz="1050" b="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8" name="Google Shape;488;p24"/>
              <p:cNvSpPr txBox="1"/>
              <p:nvPr/>
            </p:nvSpPr>
            <p:spPr>
              <a:xfrm>
                <a:off x="3429000" y="-142875"/>
                <a:ext cx="1428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 b="1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856</a:t>
                </a:r>
                <a:endParaRPr sz="36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5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Passing Tests</a:t>
                </a:r>
                <a:endParaRPr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9" name="Google Shape;489;p24"/>
          <p:cNvGrpSpPr/>
          <p:nvPr/>
        </p:nvGrpSpPr>
        <p:grpSpPr>
          <a:xfrm>
            <a:off x="6334125" y="1809750"/>
            <a:ext cx="5429400" cy="4095900"/>
            <a:chOff x="0" y="0"/>
            <a:chExt cx="5429400" cy="4095900"/>
          </a:xfrm>
        </p:grpSpPr>
        <p:sp>
          <p:nvSpPr>
            <p:cNvPr id="490" name="Google Shape;490;p24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name="adj" fmla="val 2790"/>
              </a:avLst>
            </a:prstGeom>
            <a:solidFill>
              <a:srgbClr val="FFFFFF"/>
            </a:solidFill>
            <a:ln w="254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4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 Integration &amp; Closure Items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92" name="Google Shape;492;p24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93" name="Google Shape;493;p24"/>
            <p:cNvSpPr/>
            <p:nvPr/>
          </p:nvSpPr>
          <p:spPr>
            <a:xfrm>
              <a:off x="371475" y="91440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8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4"/>
            <p:cNvSpPr txBox="1"/>
            <p:nvPr/>
          </p:nvSpPr>
          <p:spPr>
            <a:xfrm>
              <a:off x="619125" y="809625"/>
              <a:ext cx="4524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Formal Assertion Checks</a:t>
              </a:r>
              <a:endParaRPr sz="15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Complete all pending formal assertion checks to mathematically verify core interfaces.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71475" y="167640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8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4"/>
            <p:cNvSpPr txBox="1"/>
            <p:nvPr/>
          </p:nvSpPr>
          <p:spPr>
            <a:xfrm>
              <a:off x="619125" y="1571625"/>
              <a:ext cx="4524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Coverage Closure Reports</a:t>
              </a:r>
              <a:endParaRPr sz="15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Generate and review final structural and functional coverage closure reports.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71475" y="243840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8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619125" y="2333625"/>
              <a:ext cx="4524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Extended Random Stress Testing</a:t>
              </a:r>
              <a:endParaRPr sz="15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Extend simulated testing run times and stress parameters to uncover corner cases.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71475" y="320040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8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4"/>
            <p:cNvSpPr txBox="1"/>
            <p:nvPr/>
          </p:nvSpPr>
          <p:spPr>
            <a:xfrm>
              <a:off x="619125" y="3095625"/>
              <a:ext cx="4524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5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Top-Level Nios II Verification</a:t>
              </a:r>
              <a:endParaRPr sz="155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Integrate all blocks and execute verification via the software compiler runtime.</a:t>
              </a:r>
              <a:endParaRPr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2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02" name="Google Shape;502;p24"/>
            <p:cNvSpPr/>
            <p:nvPr/>
          </p:nvSpPr>
          <p:spPr>
            <a:xfrm>
              <a:off x="0" y="1425"/>
              <a:ext cx="12194400" cy="6863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3" name="Google Shape;503;p24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04" name="Google Shape;504;p24"/>
              <p:cNvPicPr preferRelativeResize="0"/>
              <p:nvPr/>
            </p:nvPicPr>
            <p:blipFill rotWithShape="1">
              <a:blip r:embed="rId9">
                <a:alphaModFix/>
              </a:blip>
              <a:srcRect r="10905" b="10913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5" name="Google Shape;505;p24"/>
              <p:cNvPicPr preferRelativeResize="0"/>
              <p:nvPr/>
            </p:nvPicPr>
            <p:blipFill rotWithShape="1">
              <a:blip r:embed="rId10">
                <a:alphaModFix/>
              </a:blip>
              <a:srcRect t="53" r="10905" b="10955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06" name="Google Shape;506;p24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507" name="Google Shape;507;p24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4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sz="1200" b="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5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pic>
          <p:nvPicPr>
            <p:cNvPr id="514" name="Google Shape;514;p25"/>
            <p:cNvPicPr preferRelativeResize="0"/>
            <p:nvPr/>
          </p:nvPicPr>
          <p:blipFill rotWithShape="1">
            <a:blip r:embed="rId4">
              <a:alphaModFix/>
            </a:blip>
            <a:srcRect l="10" r="10"/>
            <a:stretch/>
          </p:blipFill>
          <p:spPr>
            <a:xfrm>
              <a:off x="0" y="0"/>
              <a:ext cx="121920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25"/>
            <p:cNvSpPr/>
            <p:nvPr/>
          </p:nvSpPr>
          <p:spPr>
            <a:xfrm>
              <a:off x="0" y="628650"/>
              <a:ext cx="12192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25"/>
          <p:cNvGrpSpPr/>
          <p:nvPr/>
        </p:nvGrpSpPr>
        <p:grpSpPr>
          <a:xfrm>
            <a:off x="240281" y="141423"/>
            <a:ext cx="2916000" cy="338700"/>
            <a:chOff x="0" y="0"/>
            <a:chExt cx="2916000" cy="338700"/>
          </a:xfrm>
        </p:grpSpPr>
        <p:sp>
          <p:nvSpPr>
            <p:cNvPr id="517" name="Google Shape;517;p25"/>
            <p:cNvSpPr/>
            <p:nvPr/>
          </p:nvSpPr>
          <p:spPr>
            <a:xfrm>
              <a:off x="0" y="0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5"/>
            <p:cNvSpPr txBox="1"/>
            <p:nvPr/>
          </p:nvSpPr>
          <p:spPr>
            <a:xfrm>
              <a:off x="0" y="0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i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sz="16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25"/>
          <p:cNvGrpSpPr/>
          <p:nvPr/>
        </p:nvGrpSpPr>
        <p:grpSpPr>
          <a:xfrm>
            <a:off x="4477020" y="263617"/>
            <a:ext cx="3238090" cy="721088"/>
            <a:chOff x="4276725" y="109041"/>
            <a:chExt cx="3638700" cy="810300"/>
          </a:xfrm>
        </p:grpSpPr>
        <p:pic>
          <p:nvPicPr>
            <p:cNvPr id="520" name="Google Shape;520;p25"/>
            <p:cNvPicPr preferRelativeResize="0"/>
            <p:nvPr/>
          </p:nvPicPr>
          <p:blipFill rotWithShape="1">
            <a:blip r:embed="rId5">
              <a:alphaModFix/>
            </a:blip>
            <a:srcRect r="-12372" b="-12372"/>
            <a:stretch/>
          </p:blipFill>
          <p:spPr>
            <a:xfrm>
              <a:off x="4276725" y="152400"/>
              <a:ext cx="3638700" cy="72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5"/>
            <p:cNvSpPr/>
            <p:nvPr/>
          </p:nvSpPr>
          <p:spPr>
            <a:xfrm>
              <a:off x="4345591" y="214327"/>
              <a:ext cx="3500700" cy="600600"/>
            </a:xfrm>
            <a:prstGeom prst="roundRect">
              <a:avLst>
                <a:gd name="adj" fmla="val 3959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2" name="Google Shape;522;p25"/>
            <p:cNvPicPr preferRelativeResize="0"/>
            <p:nvPr/>
          </p:nvPicPr>
          <p:blipFill rotWithShape="1">
            <a:blip r:embed="rId6">
              <a:alphaModFix/>
            </a:blip>
            <a:srcRect t="76" r="-26263" b="-26163"/>
            <a:stretch/>
          </p:blipFill>
          <p:spPr>
            <a:xfrm>
              <a:off x="5604843" y="109041"/>
              <a:ext cx="979500" cy="81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" name="Google Shape;523;p25"/>
          <p:cNvGrpSpPr/>
          <p:nvPr/>
        </p:nvGrpSpPr>
        <p:grpSpPr>
          <a:xfrm>
            <a:off x="571500" y="904875"/>
            <a:ext cx="11049000" cy="1095300"/>
            <a:chOff x="0" y="0"/>
            <a:chExt cx="11049000" cy="1095300"/>
          </a:xfrm>
        </p:grpSpPr>
        <p:sp>
          <p:nvSpPr>
            <p:cNvPr id="524" name="Google Shape;524;p25"/>
            <p:cNvSpPr/>
            <p:nvPr/>
          </p:nvSpPr>
          <p:spPr>
            <a:xfrm>
              <a:off x="0" y="0"/>
              <a:ext cx="110490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5"/>
            <p:cNvSpPr txBox="1"/>
            <p:nvPr/>
          </p:nvSpPr>
          <p:spPr>
            <a:xfrm>
              <a:off x="0" y="0"/>
              <a:ext cx="11049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Mastering Protocol Specifications for</a:t>
              </a:r>
              <a:endParaRPr sz="3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Hardware Verification</a:t>
              </a:r>
              <a:endParaRPr sz="3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6" name="Google Shape;526;p25"/>
          <p:cNvGrpSpPr/>
          <p:nvPr/>
        </p:nvGrpSpPr>
        <p:grpSpPr>
          <a:xfrm>
            <a:off x="571500" y="2190750"/>
            <a:ext cx="5334000" cy="1666800"/>
            <a:chOff x="0" y="0"/>
            <a:chExt cx="5334000" cy="1666800"/>
          </a:xfrm>
        </p:grpSpPr>
        <p:sp>
          <p:nvSpPr>
            <p:cNvPr id="527" name="Google Shape;527;p25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5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5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60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5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Spec Mastery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Interpreting standard specifications and defining block-level verification partitions to establish secure IP interface boundaries.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25"/>
          <p:cNvGrpSpPr/>
          <p:nvPr/>
        </p:nvGrpSpPr>
        <p:grpSpPr>
          <a:xfrm>
            <a:off x="571500" y="4048125"/>
            <a:ext cx="5334000" cy="1666800"/>
            <a:chOff x="0" y="0"/>
            <a:chExt cx="5334000" cy="1666800"/>
          </a:xfrm>
        </p:grpSpPr>
        <p:sp>
          <p:nvSpPr>
            <p:cNvPr id="533" name="Google Shape;533;p25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5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60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5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 Flow Mapping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Mapping software control flows directly to hardware execution behavior, particularly around critical handshake and stall corner cases.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6286500" y="2190750"/>
            <a:ext cx="5334000" cy="1666800"/>
            <a:chOff x="0" y="0"/>
            <a:chExt cx="5334000" cy="1666800"/>
          </a:xfrm>
        </p:grpSpPr>
        <p:sp>
          <p:nvSpPr>
            <p:cNvPr id="539" name="Google Shape;539;p25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5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60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5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SVA &amp; Coverage Closure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Deploying comprehensive SVA protocol checkers to target dynamic failures and successfully closing remaining functional coverage gaps.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25"/>
          <p:cNvGrpSpPr/>
          <p:nvPr/>
        </p:nvGrpSpPr>
        <p:grpSpPr>
          <a:xfrm>
            <a:off x="6286500" y="4048125"/>
            <a:ext cx="5334000" cy="1666800"/>
            <a:chOff x="0" y="0"/>
            <a:chExt cx="5334000" cy="1666800"/>
          </a:xfrm>
        </p:grpSpPr>
        <p:sp>
          <p:nvSpPr>
            <p:cNvPr id="545" name="Google Shape;545;p25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0" y="0"/>
              <a:ext cx="152400" cy="1666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8229"/>
                  </a:moveTo>
                  <a:cubicBezTo>
                    <a:pt x="0" y="6048"/>
                    <a:pt x="9488" y="3952"/>
                    <a:pt x="26358" y="2410"/>
                  </a:cubicBezTo>
                  <a:cubicBezTo>
                    <a:pt x="43228" y="868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33"/>
                    <a:pt x="26358" y="117590"/>
                  </a:cubicBezTo>
                  <a:cubicBezTo>
                    <a:pt x="9488" y="116047"/>
                    <a:pt x="0" y="113954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w="14300" cap="flat" cmpd="sng">
              <a:solidFill>
                <a:srgbClr val="43B6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5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600" b="1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5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End-to-End System Flow</a:t>
              </a:r>
              <a:endParaRPr sz="2000" b="1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Scaling up constrained random stress testing to robustly verify and validate the end-to-end Avalon-to-AXI system interconnect flow.</a:t>
              </a:r>
              <a:endParaRPr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0" name="Google Shape;550;p25"/>
          <p:cNvGrpSpPr/>
          <p:nvPr/>
        </p:nvGrpSpPr>
        <p:grpSpPr>
          <a:xfrm>
            <a:off x="11503192" y="6266643"/>
            <a:ext cx="547839" cy="552553"/>
            <a:chOff x="11077575" y="194161"/>
            <a:chExt cx="488100" cy="492300"/>
          </a:xfrm>
        </p:grpSpPr>
        <p:pic>
          <p:nvPicPr>
            <p:cNvPr id="551" name="Google Shape;551;p25"/>
            <p:cNvPicPr preferRelativeResize="0"/>
            <p:nvPr/>
          </p:nvPicPr>
          <p:blipFill rotWithShape="1">
            <a:blip r:embed="rId7">
              <a:alphaModFix/>
            </a:blip>
            <a:srcRect r="10905" b="10913"/>
            <a:stretch/>
          </p:blipFill>
          <p:spPr>
            <a:xfrm>
              <a:off x="11077575" y="194161"/>
              <a:ext cx="488100" cy="49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25"/>
            <p:cNvPicPr preferRelativeResize="0"/>
            <p:nvPr/>
          </p:nvPicPr>
          <p:blipFill rotWithShape="1">
            <a:blip r:embed="rId8">
              <a:alphaModFix/>
            </a:blip>
            <a:srcRect t="53" r="10905" b="10955"/>
            <a:stretch/>
          </p:blipFill>
          <p:spPr>
            <a:xfrm>
              <a:off x="11209115" y="329943"/>
              <a:ext cx="225000" cy="22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3" name="Google Shape;553;p25"/>
          <p:cNvGrpSpPr/>
          <p:nvPr/>
        </p:nvGrpSpPr>
        <p:grpSpPr>
          <a:xfrm>
            <a:off x="4038600" y="6356347"/>
            <a:ext cx="4114800" cy="365100"/>
            <a:chOff x="0" y="0"/>
            <a:chExt cx="4114800" cy="365100"/>
          </a:xfrm>
        </p:grpSpPr>
        <p:sp>
          <p:nvSpPr>
            <p:cNvPr id="554" name="Google Shape;554;p25"/>
            <p:cNvSpPr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5"/>
            <p:cNvSpPr txBox="1"/>
            <p:nvPr/>
          </p:nvSpPr>
          <p:spPr>
            <a:xfrm>
              <a:off x="0" y="0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sz="12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17E99E-B839-43A9-898D-C5A34288DB2D}">
  <we:reference id="WA200005566" version="3.0.0.2" store="Ome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1374</Words>
  <Application>Microsoft Office PowerPoint</Application>
  <PresentationFormat>Widescreen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Đinh Khánh Đăng</cp:lastModifiedBy>
  <cp:revision>1</cp:revision>
  <dcterms:modified xsi:type="dcterms:W3CDTF">2026-07-17T15:32:09Z</dcterms:modified>
</cp:coreProperties>
</file>